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e9175932f4ee4" /><Relationship Type="http://schemas.openxmlformats.org/officeDocument/2006/relationships/extended-properties" Target="/docProps/app.xml" Id="Rd17a0095e9a04243" /><Relationship Type="http://schemas.openxmlformats.org/officeDocument/2006/relationships/officeDocument" Target="/ppt/presentation.xml" Id="Rf59b14f5157c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b2b31c119456c"/>
  </p:sldMasterIdLst>
  <p:notesMasterIdLst>
    <p:notesMasterId xmlns:r="http://schemas.openxmlformats.org/officeDocument/2006/relationships" r:id="Rf80fe9b957ef4a33"/>
  </p:notesMasterIdLst>
  <p:sldIdLst>
    <p:sldId xmlns:r="http://schemas.openxmlformats.org/officeDocument/2006/relationships" id="256" r:id="R736bb498b1364e7b"/>
    <p:sldId xmlns:r="http://schemas.openxmlformats.org/officeDocument/2006/relationships" id="257" r:id="R607169b36f834a20"/>
    <p:sldId xmlns:r="http://schemas.openxmlformats.org/officeDocument/2006/relationships" id="258" r:id="R75ca9fa1facf4bb2"/>
    <p:sldId xmlns:r="http://schemas.openxmlformats.org/officeDocument/2006/relationships" id="259" r:id="R8f7828944a854cf8"/>
    <p:sldId xmlns:r="http://schemas.openxmlformats.org/officeDocument/2006/relationships" id="260" r:id="Rba199f08482f411f"/>
    <p:sldId xmlns:r="http://schemas.openxmlformats.org/officeDocument/2006/relationships" id="261" r:id="R4c7913a5a8e940a4"/>
    <p:sldId xmlns:r="http://schemas.openxmlformats.org/officeDocument/2006/relationships" id="262" r:id="Rc1a2f00bd93c421e"/>
    <p:sldId xmlns:r="http://schemas.openxmlformats.org/officeDocument/2006/relationships" id="263" r:id="R6cfd7b01535449f1"/>
    <p:sldId xmlns:r="http://schemas.openxmlformats.org/officeDocument/2006/relationships" id="264" r:id="R4b1215dbe80d43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945de7e5a3424c" /><Relationship Type="http://schemas.openxmlformats.org/officeDocument/2006/relationships/slideMaster" Target="/ppt/slideMasters/slideMaster1.xml" Id="R81bb2b31c119456c" /><Relationship Type="http://schemas.openxmlformats.org/officeDocument/2006/relationships/notesMaster" Target="/ppt/notesMasters/notesMaster1.xml" Id="Rf80fe9b957ef4a33" /><Relationship Type="http://schemas.openxmlformats.org/officeDocument/2006/relationships/presProps" Target="/ppt/presProps.xml" Id="Rafe44025bc3e480b" /><Relationship Type="http://schemas.openxmlformats.org/officeDocument/2006/relationships/tableStyles" Target="/ppt/tableStyles.xml" Id="R23958614db4341d5" /><Relationship Type="http://schemas.openxmlformats.org/officeDocument/2006/relationships/slide" Target="/ppt/slides/slide1.xml" Id="R736bb498b1364e7b" /><Relationship Type="http://schemas.openxmlformats.org/officeDocument/2006/relationships/slide" Target="/ppt/slides/slide2.xml" Id="R607169b36f834a20" /><Relationship Type="http://schemas.openxmlformats.org/officeDocument/2006/relationships/slide" Target="/ppt/slides/slide3.xml" Id="R75ca9fa1facf4bb2" /><Relationship Type="http://schemas.openxmlformats.org/officeDocument/2006/relationships/slide" Target="/ppt/slides/slide4.xml" Id="R8f7828944a854cf8" /><Relationship Type="http://schemas.openxmlformats.org/officeDocument/2006/relationships/slide" Target="/ppt/slides/slide5.xml" Id="Rba199f08482f411f" /><Relationship Type="http://schemas.openxmlformats.org/officeDocument/2006/relationships/slide" Target="/ppt/slides/slide6.xml" Id="R4c7913a5a8e940a4" /><Relationship Type="http://schemas.openxmlformats.org/officeDocument/2006/relationships/slide" Target="/ppt/slides/slide7.xml" Id="Rc1a2f00bd93c421e" /><Relationship Type="http://schemas.openxmlformats.org/officeDocument/2006/relationships/slide" Target="/ppt/slides/slide8.xml" Id="R6cfd7b01535449f1" /><Relationship Type="http://schemas.openxmlformats.org/officeDocument/2006/relationships/slide" Target="/ppt/slides/slide9.xml" Id="R4b1215dbe80d43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99c2d3c4c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beadb9f7d43ed" /><Relationship Type="http://schemas.openxmlformats.org/officeDocument/2006/relationships/notesMaster" Target="/ppt/notesMasters/notesMaster1.xml" Id="R319553a0c2044f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9a30551794bdc" /><Relationship Type="http://schemas.openxmlformats.org/officeDocument/2006/relationships/notesMaster" Target="/ppt/notesMasters/notesMaster1.xml" Id="R09daf5309b2b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9f3bbd49fa448a" /><Relationship Type="http://schemas.openxmlformats.org/officeDocument/2006/relationships/notesMaster" Target="/ppt/notesMasters/notesMaster1.xml" Id="R078b46154f7646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7e42dfe4e4960" /><Relationship Type="http://schemas.openxmlformats.org/officeDocument/2006/relationships/notesMaster" Target="/ppt/notesMasters/notesMaster1.xml" Id="R35954615792f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e74a27e2a242dd" /><Relationship Type="http://schemas.openxmlformats.org/officeDocument/2006/relationships/notesMaster" Target="/ppt/notesMasters/notesMaster1.xml" Id="R08b212304673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e4027b3784fba" /><Relationship Type="http://schemas.openxmlformats.org/officeDocument/2006/relationships/notesMaster" Target="/ppt/notesMasters/notesMaster1.xml" Id="R9c94894cb8fb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7da6b99db04a81" /><Relationship Type="http://schemas.openxmlformats.org/officeDocument/2006/relationships/notesMaster" Target="/ppt/notesMasters/notesMaster1.xml" Id="R30645a2d92764a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962c1ce84b4e4e" /><Relationship Type="http://schemas.openxmlformats.org/officeDocument/2006/relationships/notesMaster" Target="/ppt/notesMasters/notesMaster1.xml" Id="R2e7bf6eb077d47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d8dc3200324891" /><Relationship Type="http://schemas.openxmlformats.org/officeDocument/2006/relationships/notesMaster" Target="/ppt/notesMasters/notesMaster1.xml" Id="Rd064ba23f560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d805e9bd24f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c4b22957ad4de0" /><Relationship Type="http://schemas.openxmlformats.org/officeDocument/2006/relationships/slideLayout" Target="/ppt/slideLayouts/slideLayout1.xml" Id="R2c3fcdc2edfa4c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fcdc2edfa4c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362ed38d84635" /><Relationship Type="http://schemas.openxmlformats.org/officeDocument/2006/relationships/notesSlide" Target="/ppt/notesSlides/notesSlide1.xml" Id="Rf2b750c96f274e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471d2947c4f8f" /><Relationship Type="http://schemas.openxmlformats.org/officeDocument/2006/relationships/image" Target="/ppt/media/image.png" Id="Rada27e48ed564e2a" /><Relationship Type="http://schemas.openxmlformats.org/officeDocument/2006/relationships/image" Target="/ppt/media/image2.png" Id="R420452680dec4608" /><Relationship Type="http://schemas.openxmlformats.org/officeDocument/2006/relationships/notesSlide" Target="/ppt/notesSlides/notesSlide2.xml" Id="Reb635202dd6f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6eb3aec0d4833" /><Relationship Type="http://schemas.openxmlformats.org/officeDocument/2006/relationships/notesSlide" Target="/ppt/notesSlides/notesSlide3.xml" Id="Rcff744baede048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492bbdc464c08" /><Relationship Type="http://schemas.openxmlformats.org/officeDocument/2006/relationships/notesSlide" Target="/ppt/notesSlides/notesSlide4.xml" Id="Rf32d155afc6343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d5bd5a02749f1" /><Relationship Type="http://schemas.openxmlformats.org/officeDocument/2006/relationships/notesSlide" Target="/ppt/notesSlides/notesSlide5.xml" Id="R63fe85cf16d341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18285fe2547a1" /><Relationship Type="http://schemas.openxmlformats.org/officeDocument/2006/relationships/notesSlide" Target="/ppt/notesSlides/notesSlide6.xml" Id="R4146372ca5524d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9c832415b49f0" /><Relationship Type="http://schemas.openxmlformats.org/officeDocument/2006/relationships/notesSlide" Target="/ppt/notesSlides/notesSlide7.xml" Id="Ra7e30139cf2c41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294617cc94a10" /><Relationship Type="http://schemas.openxmlformats.org/officeDocument/2006/relationships/notesSlide" Target="/ppt/notesSlides/notesSlide8.xml" Id="R409bf88b8b4f41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b3d75c1a64b7b" /><Relationship Type="http://schemas.openxmlformats.org/officeDocument/2006/relationships/notesSlide" Target="/ppt/notesSlides/notesSlide9.xml" Id="R149edfb7969747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810DB8C-28B7-4209-AE7E-AAC355E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RESPONSIBLE AI EVALUATION METHOD</a:t>
            </a:r>
          </a:p>
        </p:txBody>
      </p:sp>
      <p:sp>
        <p:nvSpPr>
          <p:cNvPr id="2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A0FBC71-773D-4AF0-938E-2A0E8C32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27CF3A5-2FF0-478D-BE52-7E1F62E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AAC6D9-C770-4A6E-9603-8E37ACA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hero-title">
            <a:extLst xmlns:a="http://schemas.openxmlformats.org/drawingml/2006/main">
              <a:ext uri="{FF2B5EF4-FFF2-40B4-BE49-F238E27FC236}">
                <a16:creationId xmlns:a16="http://schemas.microsoft.com/office/drawing/2014/main" id="{45E3E9AD-11D9-437E-B8A0-B6C00B4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</a:t>
            </a:r>
          </a:p>
        </p:txBody>
      </p:sp>
      <p:sp>
        <p:nvSpPr>
          <p:cNvPr id="6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BD9D6F93-2BDD-4DBE-8B11-0A5A1B8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Testing the test before trusting the result.</a:t>
            </a:r>
          </a:p>
        </p:txBody>
      </p:sp>
      <p:sp>
        <p:nvSpPr>
          <p:cNvPr id="7" name="hero-line-1">
            <a:extLst xmlns:a="http://schemas.openxmlformats.org/drawingml/2006/main">
              <a:ext uri="{FF2B5EF4-FFF2-40B4-BE49-F238E27FC236}">
                <a16:creationId xmlns:a16="http://schemas.microsoft.com/office/drawing/2014/main" id="{93972CBC-ACA5-4748-A2A6-F7756EC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1. Prove the evaluation can detect comparable capability.</a:t>
            </a:r>
          </a:p>
        </p:txBody>
      </p:sp>
      <p:sp>
        <p:nvSpPr>
          <p:cNvPr id="8" name="hero-line-2">
            <a:extLst xmlns:a="http://schemas.openxmlformats.org/drawingml/2006/main">
              <a:ext uri="{FF2B5EF4-FFF2-40B4-BE49-F238E27FC236}">
                <a16:creationId xmlns:a16="http://schemas.microsoft.com/office/drawing/2014/main" id="{F17AAA06-479E-43C2-B57F-7DBFF7B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2. Apply only proven tests to the frontier model.</a:t>
            </a:r>
          </a:p>
        </p:txBody>
      </p:sp>
      <p:sp>
        <p:nvSpPr>
          <p:cNvPr id="9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81655AFB-06CC-4D19-BBCA-0CB414C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88101D98-8074-4224-A406-E2F40FD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  CONTROL CHECK</a:t>
            </a:r>
          </a:p>
        </p:txBody>
      </p:sp>
      <p:sp>
        <p:nvSpPr>
          <p:cNvPr id="11" name="hero-equation">
            <a:extLst xmlns:a="http://schemas.openxmlformats.org/drawingml/2006/main">
              <a:ext uri="{FF2B5EF4-FFF2-40B4-BE49-F238E27FC236}">
                <a16:creationId xmlns:a16="http://schemas.microsoft.com/office/drawing/2014/main" id="{6B1B643A-972C-44B4-A279-801605B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Can the tests detect comparable capability known to exist in controls?</a:t>
            </a:r>
          </a:p>
        </p:txBody>
      </p:sp>
      <p:sp>
        <p:nvSpPr>
          <p:cNvPr id="13" name="model-x-rule-500">
            <a:extLst xmlns:a="http://schemas.openxmlformats.org/drawingml/2006/main">
              <a:ext uri="{FF2B5EF4-FFF2-40B4-BE49-F238E27FC236}">
                <a16:creationId xmlns:a16="http://schemas.microsoft.com/office/drawing/2014/main" id="{3A3BF457-E018-4AA2-84A4-BC4FF32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x-label-500">
            <a:extLst xmlns:a="http://schemas.openxmlformats.org/drawingml/2006/main">
              <a:ext uri="{FF2B5EF4-FFF2-40B4-BE49-F238E27FC236}">
                <a16:creationId xmlns:a16="http://schemas.microsoft.com/office/drawing/2014/main" id="{FA8A2394-5CC6-47B1-BDB2-E49EE89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  TARGET MODEL</a:t>
            </a:r>
          </a:p>
        </p:txBody>
      </p:sp>
      <p:sp>
        <p:nvSpPr>
          <p:cNvPr id="15" name="model-x-body-500">
            <a:extLst xmlns:a="http://schemas.openxmlformats.org/drawingml/2006/main">
              <a:ext uri="{FF2B5EF4-FFF2-40B4-BE49-F238E27FC236}">
                <a16:creationId xmlns:a16="http://schemas.microsoft.com/office/drawing/2014/main" id="{8D8DFD15-9440-48AE-B94E-F9515A0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Run the same tests at each access level and report what they reveal.</a:t>
            </a:r>
          </a:p>
        </p:txBody>
      </p:sp>
      <p:sp>
        <p:nvSpPr>
          <p:cNvPr id="1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BA7B2A98-D106-4FD5-B22C-72587C3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883635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73C65-249D-4877-A492-8889756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CURRENT STATE: FRONTIER SYSTEM CARDS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6A6BE-43BC-40D0-B839-6CAD9C4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System cards describe the tests, not how capable those tests were.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14E19DC-931D-41F5-A1F8-4C008BB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2C9B31-465B-451C-9087-66264A7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74193-617F-4D47-A948-FA021BA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observed-card">
            <a:extLst xmlns:a="http://schemas.openxmlformats.org/drawingml/2006/main">
              <a:ext uri="{FF2B5EF4-FFF2-40B4-BE49-F238E27FC236}">
                <a16:creationId xmlns:a16="http://schemas.microsoft.com/office/drawing/2014/main" id="{180B8779-DA11-40E5-B3A4-5DA6E07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257800" cy="20764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B7E174C6-4A85-4E48-9F88-58E9058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OPENAI GPT-5.6 SYSTEM CARD | JULY 2026</a:t>
            </a:r>
          </a:p>
        </p:txBody>
      </p:sp>
      <p:sp>
        <p:nvSpPr>
          <p:cNvPr id="8" name="observed-text">
            <a:extLst xmlns:a="http://schemas.openxmlformats.org/drawingml/2006/main">
              <a:ext uri="{FF2B5EF4-FFF2-40B4-BE49-F238E27FC236}">
                <a16:creationId xmlns:a16="http://schemas.microsoft.com/office/drawing/2014/main" id="{6FBCB5C3-D87C-4509-9BF4-499C227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876800" cy="11049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da27e48ed564e2a"/>
            <a:stretch>
              <a:fillRect l="0" t="0" r="0" b="0"/>
            </a:stretch>
          </a:blip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2CC0780C-249D-474C-A1C4-6118BAE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0C8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C84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9A969065-B848-496C-8F30-0C147F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257800" cy="20764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3F4C5F1-6EEA-420A-A207-192EA67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ANTHROPIC CLAUDE MYTHOS 5 | JUNE 2026</a:t>
            </a:r>
          </a:p>
        </p:txBody>
      </p:sp>
      <p:sp>
        <p:nvSpPr>
          <p:cNvPr id="1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51526B5-9A00-4D32-95A7-2979138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4876800" cy="8382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20452680dec4608"/>
            <a:stretch>
              <a:fillRect l="0" t="0" r="0" b="0"/>
            </a:stretch>
          </a:blip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elicitation-card">
            <a:extLst xmlns:a="http://schemas.openxmlformats.org/drawingml/2006/main">
              <a:ext uri="{FF2B5EF4-FFF2-40B4-BE49-F238E27FC236}">
                <a16:creationId xmlns:a16="http://schemas.microsoft.com/office/drawing/2014/main" id="{B7633534-666A-4FE8-9028-FA3943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277600" cy="146685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elicitation-label">
            <a:extLst xmlns:a="http://schemas.openxmlformats.org/drawingml/2006/main">
              <a:ext uri="{FF2B5EF4-FFF2-40B4-BE49-F238E27FC236}">
                <a16:creationId xmlns:a16="http://schemas.microsoft.com/office/drawing/2014/main" id="{2156E75A-907E-4A8F-AD37-4775A0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15" name="elicitation-methods">
            <a:extLst xmlns:a="http://schemas.openxmlformats.org/drawingml/2006/main">
              <a:ext uri="{FF2B5EF4-FFF2-40B4-BE49-F238E27FC236}">
                <a16:creationId xmlns:a16="http://schemas.microsoft.com/office/drawing/2014/main" id="{CE1FE8BD-9919-4202-AA59-C75470E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below-threshold conclusion still asks readers to trust the provider's best-effort testing.</a:t>
            </a:r>
          </a:p>
        </p:txBody>
      </p:sp>
      <p:sp>
        <p:nvSpPr>
          <p:cNvPr id="16" name="elicitation-question">
            <a:extLst xmlns:a="http://schemas.openxmlformats.org/drawingml/2006/main">
              <a:ext uri="{FF2B5EF4-FFF2-40B4-BE49-F238E27FC236}">
                <a16:creationId xmlns:a16="http://schemas.microsoft.com/office/drawing/2014/main" id="{EB826000-749C-4071-B273-361F9C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The missing evidence: would those tests detect the capability if it were actually present?</a:t>
            </a:r>
          </a:p>
        </p:txBody>
      </p:sp>
      <p:sp>
        <p:nvSpPr>
          <p:cNvPr id="18" name="model-x-rule-535">
            <a:extLst xmlns:a="http://schemas.openxmlformats.org/drawingml/2006/main">
              <a:ext uri="{FF2B5EF4-FFF2-40B4-BE49-F238E27FC236}">
                <a16:creationId xmlns:a16="http://schemas.microsoft.com/office/drawing/2014/main" id="{2BAF4622-795B-4D80-82E6-245ECB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x-label-535">
            <a:extLst xmlns:a="http://schemas.openxmlformats.org/drawingml/2006/main">
              <a:ext uri="{FF2B5EF4-FFF2-40B4-BE49-F238E27FC236}">
                <a16:creationId xmlns:a16="http://schemas.microsoft.com/office/drawing/2014/main" id="{C784E751-A8B7-43F4-BF3B-8E321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EXACT SOURCE EXCERPTS</a:t>
            </a:r>
          </a:p>
        </p:txBody>
      </p:sp>
      <p:sp>
        <p:nvSpPr>
          <p:cNvPr id="20" name="model-x-body-535">
            <a:extLst xmlns:a="http://schemas.openxmlformats.org/drawingml/2006/main">
              <a:ext uri="{FF2B5EF4-FFF2-40B4-BE49-F238E27FC236}">
                <a16:creationId xmlns:a16="http://schemas.microsoft.com/office/drawing/2014/main" id="{3260B4FB-4843-4550-BB9A-F7AC0D9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3"/>
                </a:solidFill>
                <a:latin typeface="Arial"/>
                <a:ea typeface="Arial"/>
                <a:cs typeface="Arial"/>
              </a:rPr>
              <a:t>OpenAI, GPT-5.6 System Card, p. 33 | Anthropic, Claude Fable 5 and Mythos 5 System Card, p. 34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27e48ed564e2a"/>
          <a:stretch xmlns:a="http://schemas.openxmlformats.org/drawingml/2006/main"/>
        </p:blipFill>
        <p:spPr>
          <a:xfrm xmlns:a="http://schemas.openxmlformats.org/drawingml/2006/main">
            <a:off x="12172950" y="6842722"/>
            <a:ext cx="9525" cy="1981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452680dec4608"/>
          <a:stretch xmlns:a="http://schemas.openxmlformats.org/drawingml/2006/main"/>
        </p:blipFill>
        <p:spPr>
          <a:xfrm xmlns:a="http://schemas.openxmlformats.org/drawingml/2006/main">
            <a:off x="12182475" y="6852285"/>
            <a:ext cx="9525" cy="1905"/>
          </a:xfrm>
          <a:prstGeom xmlns:a="http://schemas.openxmlformats.org/drawingml/2006/main" prst="rect">
            <a:avLst/>
          </a:prstGeom>
        </p:spPr>
      </p:pic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3AA5DDCB-6011-4919-A21F-5071073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84534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DD515A0-82D1-4A93-B417-1CBC85D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CORE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8A033-5D4F-4E3C-A7AF-2D558AF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First prove that the test can find what it is looking for.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1D2CA0FE-6CC7-4079-9A52-4E4A53F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E0D55E9-D315-4835-99E0-F3A9052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6" name="step-arrow">
            <a:extLst xmlns:a="http://schemas.openxmlformats.org/drawingml/2006/main">
              <a:ext uri="{FF2B5EF4-FFF2-40B4-BE49-F238E27FC236}">
                <a16:creationId xmlns:a16="http://schemas.microsoft.com/office/drawing/2014/main" id="{C5032DBF-4886-42C4-ADEA-A6FEF2B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181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rol-model-card">
            <a:extLst xmlns:a="http://schemas.openxmlformats.org/drawingml/2006/main">
              <a:ext uri="{FF2B5EF4-FFF2-40B4-BE49-F238E27FC236}">
                <a16:creationId xmlns:a16="http://schemas.microsoft.com/office/drawing/2014/main" id="{54B11629-A82D-40D5-A467-4FF1CD9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rontier-model-card">
            <a:extLst xmlns:a="http://schemas.openxmlformats.org/drawingml/2006/main">
              <a:ext uri="{FF2B5EF4-FFF2-40B4-BE49-F238E27FC236}">
                <a16:creationId xmlns:a16="http://schemas.microsoft.com/office/drawing/2014/main" id="{0C7CBB68-9C51-48E8-B6D1-64897A91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control-step-label">
            <a:extLst xmlns:a="http://schemas.openxmlformats.org/drawingml/2006/main">
              <a:ext uri="{FF2B5EF4-FFF2-40B4-BE49-F238E27FC236}">
                <a16:creationId xmlns:a16="http://schemas.microsoft.com/office/drawing/2014/main" id="{9C232E26-83F3-4114-A983-047D0A33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SMOKE DETECTOR</a:t>
            </a:r>
          </a:p>
        </p:txBody>
      </p:sp>
      <p:sp>
        <p:nvSpPr>
          <p:cNvPr id="10" name="control-step-title">
            <a:extLst xmlns:a="http://schemas.openxmlformats.org/drawingml/2006/main">
              <a:ext uri="{FF2B5EF4-FFF2-40B4-BE49-F238E27FC236}">
                <a16:creationId xmlns:a16="http://schemas.microsoft.com/office/drawing/2014/main" id="{947925F3-77DD-489D-8749-7A74B7D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silent smoke detector 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reassuring only if you first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know that it can actually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detect smoke when smoke 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actually present.</a:t>
            </a:r>
          </a:p>
        </p:txBody>
      </p:sp>
      <p:sp>
        <p:nvSpPr>
          <p:cNvPr id="14" name="arrow-yes">
            <a:extLst xmlns:a="http://schemas.openxmlformats.org/drawingml/2006/main">
              <a:ext uri="{FF2B5EF4-FFF2-40B4-BE49-F238E27FC236}">
                <a16:creationId xmlns:a16="http://schemas.microsoft.com/office/drawing/2014/main" id="{1A41BF41-5637-4F4E-A7B4-54AE504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SAME STANDARD</a:t>
            </a:r>
          </a:p>
        </p:txBody>
      </p:sp>
      <p:sp>
        <p:nvSpPr>
          <p:cNvPr id="16" name="frontier-step-label">
            <a:extLst xmlns:a="http://schemas.openxmlformats.org/drawingml/2006/main">
              <a:ext uri="{FF2B5EF4-FFF2-40B4-BE49-F238E27FC236}">
                <a16:creationId xmlns:a16="http://schemas.microsoft.com/office/drawing/2014/main" id="{8DD95601-5F8B-4287-B526-D8036DE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CAPABILITY EVALUATION</a:t>
            </a:r>
          </a:p>
        </p:txBody>
      </p:sp>
      <p:sp>
        <p:nvSpPr>
          <p:cNvPr id="17" name="frontier-step-title">
            <a:extLst xmlns:a="http://schemas.openxmlformats.org/drawingml/2006/main">
              <a:ext uri="{FF2B5EF4-FFF2-40B4-BE49-F238E27FC236}">
                <a16:creationId xmlns:a16="http://schemas.microsoft.com/office/drawing/2014/main" id="{7FCCA7DA-AC66-4A62-BC4B-4FB6C4F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1930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below-threshold capability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result is reassuring only if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evaluation process has first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demonstrated that it can detect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comparable capability in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control model where that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is known to exist.</a:t>
            </a:r>
          </a:p>
        </p:txBody>
      </p:sp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E05A6777-D50D-42BB-A85E-72C7AE9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683287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B2342C2C-7DD6-4360-8D78-07BE129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DESIRED END STATE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029BF1-B35D-4FCF-998A-99EAF85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below-threshold claim should be backed by a proven test.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7C218E4-D373-4A26-8C43-39B31A06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66BCE1B-DA12-4C34-B3E5-9DC3126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FD0883-5AD4-4589-BCE8-48B0958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entry-label">
            <a:extLst xmlns:a="http://schemas.openxmlformats.org/drawingml/2006/main">
              <a:ext uri="{FF2B5EF4-FFF2-40B4-BE49-F238E27FC236}">
                <a16:creationId xmlns:a16="http://schemas.microsoft.com/office/drawing/2014/main" id="{E88811DF-2621-4F1C-80AB-D5FD8B1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ILLUSTRATIVE SYSTEM-CARD DISCLOSURE</a:t>
            </a:r>
          </a:p>
        </p:txBody>
      </p:sp>
      <p:sp>
        <p:nvSpPr>
          <p:cNvPr id="7" name="field-0">
            <a:extLst xmlns:a="http://schemas.openxmlformats.org/drawingml/2006/main">
              <a:ext uri="{FF2B5EF4-FFF2-40B4-BE49-F238E27FC236}">
                <a16:creationId xmlns:a16="http://schemas.microsoft.com/office/drawing/2014/main" id="{FE2A94E8-949C-437F-8220-4340D5E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0-label">
            <a:extLst xmlns:a="http://schemas.openxmlformats.org/drawingml/2006/main">
              <a:ext uri="{FF2B5EF4-FFF2-40B4-BE49-F238E27FC236}">
                <a16:creationId xmlns:a16="http://schemas.microsoft.com/office/drawing/2014/main" id="{9E26D67F-4732-4588-B64A-873336A0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WAS EVALUATED</a:t>
            </a:r>
          </a:p>
        </p:txBody>
      </p:sp>
      <p:sp>
        <p:nvSpPr>
          <p:cNvPr id="9" name="field-0-value">
            <a:extLst xmlns:a="http://schemas.openxmlformats.org/drawingml/2006/main">
              <a:ext uri="{FF2B5EF4-FFF2-40B4-BE49-F238E27FC236}">
                <a16:creationId xmlns:a16="http://schemas.microsoft.com/office/drawing/2014/main" id="{3DB5873F-4B6D-441C-8E23-B34C751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Cyber capability against the lab's action threshold</a:t>
            </a:r>
          </a:p>
        </p:txBody>
      </p:sp>
      <p:sp>
        <p:nvSpPr>
          <p:cNvPr id="10" name="field-1">
            <a:extLst xmlns:a="http://schemas.openxmlformats.org/drawingml/2006/main">
              <a:ext uri="{FF2B5EF4-FFF2-40B4-BE49-F238E27FC236}">
                <a16:creationId xmlns:a16="http://schemas.microsoft.com/office/drawing/2014/main" id="{4F89D699-5F15-4EDB-922E-BC55277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field-1-label">
            <a:extLst xmlns:a="http://schemas.openxmlformats.org/drawingml/2006/main">
              <a:ext uri="{FF2B5EF4-FFF2-40B4-BE49-F238E27FC236}">
                <a16:creationId xmlns:a16="http://schemas.microsoft.com/office/drawing/2014/main" id="{58624DE5-FB4D-4B83-B4ED-0D582A6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ACCESS LEVEL</a:t>
            </a:r>
          </a:p>
        </p:txBody>
      </p:sp>
      <p:sp>
        <p:nvSpPr>
          <p:cNvPr id="12" name="field-1-value">
            <a:extLst xmlns:a="http://schemas.openxmlformats.org/drawingml/2006/main">
              <a:ext uri="{FF2B5EF4-FFF2-40B4-BE49-F238E27FC236}">
                <a16:creationId xmlns:a16="http://schemas.microsoft.com/office/drawing/2014/main" id="{E12078F5-E26F-4685-A2E7-A357CCD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13" name="field-2">
            <a:extLst xmlns:a="http://schemas.openxmlformats.org/drawingml/2006/main">
              <a:ext uri="{FF2B5EF4-FFF2-40B4-BE49-F238E27FC236}">
                <a16:creationId xmlns:a16="http://schemas.microsoft.com/office/drawing/2014/main" id="{C86F5944-FFB4-4EA1-B5FE-190DE50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2-label">
            <a:extLst xmlns:a="http://schemas.openxmlformats.org/drawingml/2006/main">
              <a:ext uri="{FF2B5EF4-FFF2-40B4-BE49-F238E27FC236}">
                <a16:creationId xmlns:a16="http://schemas.microsoft.com/office/drawing/2014/main" id="{80BB97E1-DB45-42CB-8E08-572DC11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FRONTIER-MODEL RESULT</a:t>
            </a:r>
          </a:p>
        </p:txBody>
      </p:sp>
      <p:sp>
        <p:nvSpPr>
          <p:cNvPr id="15" name="field-2-value">
            <a:extLst xmlns:a="http://schemas.openxmlformats.org/drawingml/2006/main">
              <a:ext uri="{FF2B5EF4-FFF2-40B4-BE49-F238E27FC236}">
                <a16:creationId xmlns:a16="http://schemas.microsoft.com/office/drawing/2014/main" id="{4737DD66-BA6A-48C8-B0CA-25E79DA7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Below the action threshold</a:t>
            </a:r>
          </a:p>
        </p:txBody>
      </p:sp>
      <p:sp>
        <p:nvSpPr>
          <p:cNvPr id="16" name="field-3">
            <a:extLst xmlns:a="http://schemas.openxmlformats.org/drawingml/2006/main">
              <a:ext uri="{FF2B5EF4-FFF2-40B4-BE49-F238E27FC236}">
                <a16:creationId xmlns:a16="http://schemas.microsoft.com/office/drawing/2014/main" id="{978E7265-BA4E-4878-8ADC-5143BE9A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field-3-label">
            <a:extLst xmlns:a="http://schemas.openxmlformats.org/drawingml/2006/main">
              <a:ext uri="{FF2B5EF4-FFF2-40B4-BE49-F238E27FC236}">
                <a16:creationId xmlns:a16="http://schemas.microsoft.com/office/drawing/2014/main" id="{05F79A9C-8D36-4E4A-B805-5C04C55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QUALIFIED ELICITATION</a:t>
            </a:r>
          </a:p>
        </p:txBody>
      </p:sp>
      <p:sp>
        <p:nvSpPr>
          <p:cNvPr id="18" name="field-3-value">
            <a:extLst xmlns:a="http://schemas.openxmlformats.org/drawingml/2006/main">
              <a:ext uri="{FF2B5EF4-FFF2-40B4-BE49-F238E27FC236}">
                <a16:creationId xmlns:a16="http://schemas.microsoft.com/office/drawing/2014/main" id="{CBFF1510-6C34-446F-ABCC-1580B7BB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API-access routines that passed every required check</a:t>
            </a:r>
          </a:p>
        </p:txBody>
      </p:sp>
      <p:sp>
        <p:nvSpPr>
          <p:cNvPr id="19" name="field-4">
            <a:extLst xmlns:a="http://schemas.openxmlformats.org/drawingml/2006/main">
              <a:ext uri="{FF2B5EF4-FFF2-40B4-BE49-F238E27FC236}">
                <a16:creationId xmlns:a16="http://schemas.microsoft.com/office/drawing/2014/main" id="{89C1C562-102D-4E36-B62E-F54653A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field-4-label">
            <a:extLst xmlns:a="http://schemas.openxmlformats.org/drawingml/2006/main">
              <a:ext uri="{FF2B5EF4-FFF2-40B4-BE49-F238E27FC236}">
                <a16:creationId xmlns:a16="http://schemas.microsoft.com/office/drawing/2014/main" id="{075B9B14-4F72-4CAB-8A96-8AAF228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CONTROL-MODEL RESULT</a:t>
            </a:r>
          </a:p>
        </p:txBody>
      </p:sp>
      <p:sp>
        <p:nvSpPr>
          <p:cNvPr id="21" name="field-4-value">
            <a:extLst xmlns:a="http://schemas.openxmlformats.org/drawingml/2006/main">
              <a:ext uri="{FF2B5EF4-FFF2-40B4-BE49-F238E27FC236}">
                <a16:creationId xmlns:a16="http://schemas.microsoft.com/office/drawing/2014/main" id="{6509DF16-234C-4BCC-AFB7-64B5568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Hidden capability successfully recovered</a:t>
            </a:r>
          </a:p>
        </p:txBody>
      </p:sp>
      <p:sp>
        <p:nvSpPr>
          <p:cNvPr id="22" name="field-5">
            <a:extLst xmlns:a="http://schemas.openxmlformats.org/drawingml/2006/main">
              <a:ext uri="{FF2B5EF4-FFF2-40B4-BE49-F238E27FC236}">
                <a16:creationId xmlns:a16="http://schemas.microsoft.com/office/drawing/2014/main" id="{BA864D5C-DDBC-4C12-B9E8-BEEDB69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field-5-label">
            <a:extLst xmlns:a="http://schemas.openxmlformats.org/drawingml/2006/main">
              <a:ext uri="{FF2B5EF4-FFF2-40B4-BE49-F238E27FC236}">
                <a16:creationId xmlns:a16="http://schemas.microsoft.com/office/drawing/2014/main" id="{1E3EF06B-C8B3-42B0-88A2-4EECA62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QUALIFICATION RESULT</a:t>
            </a:r>
          </a:p>
        </p:txBody>
      </p:sp>
      <p:sp>
        <p:nvSpPr>
          <p:cNvPr id="24" name="field-5-value">
            <a:extLst xmlns:a="http://schemas.openxmlformats.org/drawingml/2006/main">
              <a:ext uri="{FF2B5EF4-FFF2-40B4-BE49-F238E27FC236}">
                <a16:creationId xmlns:a16="http://schemas.microsoft.com/office/drawing/2014/main" id="{2B9C792C-3619-4357-AD01-6D130EF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Recovery, control breadth, method coverage, stopping, and creation checks passed</a:t>
            </a:r>
          </a:p>
        </p:txBody>
      </p:sp>
      <p:sp>
        <p:nvSpPr>
          <p:cNvPr id="25" name="field-6">
            <a:extLst xmlns:a="http://schemas.openxmlformats.org/drawingml/2006/main">
              <a:ext uri="{FF2B5EF4-FFF2-40B4-BE49-F238E27FC236}">
                <a16:creationId xmlns:a16="http://schemas.microsoft.com/office/drawing/2014/main" id="{75DA853D-7DB6-43D7-B6CB-F6085EC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field-6-label">
            <a:extLst xmlns:a="http://schemas.openxmlformats.org/drawingml/2006/main">
              <a:ext uri="{FF2B5EF4-FFF2-40B4-BE49-F238E27FC236}">
                <a16:creationId xmlns:a16="http://schemas.microsoft.com/office/drawing/2014/main" id="{990D96E0-6519-43A5-8736-CA7CFE8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SCOPE OF THE CLAIM</a:t>
            </a:r>
          </a:p>
        </p:txBody>
      </p:sp>
      <p:sp>
        <p:nvSpPr>
          <p:cNvPr id="27" name="field-6-value">
            <a:extLst xmlns:a="http://schemas.openxmlformats.org/drawingml/2006/main">
              <a:ext uri="{FF2B5EF4-FFF2-40B4-BE49-F238E27FC236}">
                <a16:creationId xmlns:a16="http://schemas.microsoft.com/office/drawing/2014/main" id="{C3B2DD06-A271-4289-81BE-D39C84E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95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API access only</a:t>
            </a:r>
          </a:p>
        </p:txBody>
      </p:sp>
      <p:sp>
        <p:nvSpPr>
          <p:cNvPr id="28" name="field-7">
            <a:extLst xmlns:a="http://schemas.openxmlformats.org/drawingml/2006/main">
              <a:ext uri="{FF2B5EF4-FFF2-40B4-BE49-F238E27FC236}">
                <a16:creationId xmlns:a16="http://schemas.microsoft.com/office/drawing/2014/main" id="{06DAC1FF-7A9F-443A-923C-03934AB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field-7-label">
            <a:extLst xmlns:a="http://schemas.openxmlformats.org/drawingml/2006/main">
              <a:ext uri="{FF2B5EF4-FFF2-40B4-BE49-F238E27FC236}">
                <a16:creationId xmlns:a16="http://schemas.microsoft.com/office/drawing/2014/main" id="{EC5C7D16-1CFB-4EAB-9AE2-F7DB3E4B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EVALBRACKET CONCLUSION</a:t>
            </a:r>
          </a:p>
        </p:txBody>
      </p:sp>
      <p:sp>
        <p:nvSpPr>
          <p:cNvPr id="30" name="field-7-value">
            <a:extLst xmlns:a="http://schemas.openxmlformats.org/drawingml/2006/main">
              <a:ext uri="{FF2B5EF4-FFF2-40B4-BE49-F238E27FC236}">
                <a16:creationId xmlns:a16="http://schemas.microsoft.com/office/drawing/2014/main" id="{F1EAB9EE-F4B3-4654-A6BD-E83C9BD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Capability stays below threshold</a:t>
            </a:r>
          </a:p>
        </p:txBody>
      </p:sp>
      <p:sp>
        <p:nvSpPr>
          <p:cNvPr id="31" name="field-8">
            <a:extLst xmlns:a="http://schemas.openxmlformats.org/drawingml/2006/main">
              <a:ext uri="{FF2B5EF4-FFF2-40B4-BE49-F238E27FC236}">
                <a16:creationId xmlns:a16="http://schemas.microsoft.com/office/drawing/2014/main" id="{E4ED4DF7-2E6E-4E1C-925C-723F53A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field-8-label">
            <a:extLst xmlns:a="http://schemas.openxmlformats.org/drawingml/2006/main">
              <a:ext uri="{FF2B5EF4-FFF2-40B4-BE49-F238E27FC236}">
                <a16:creationId xmlns:a16="http://schemas.microsoft.com/office/drawing/2014/main" id="{EF170128-68B8-4646-AD91-0406436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SYSTEM CARD SHOULD SAY</a:t>
            </a:r>
          </a:p>
        </p:txBody>
      </p:sp>
      <p:sp>
        <p:nvSpPr>
          <p:cNvPr id="33" name="field-8-value">
            <a:extLst xmlns:a="http://schemas.openxmlformats.org/drawingml/2006/main">
              <a:ext uri="{FF2B5EF4-FFF2-40B4-BE49-F238E27FC236}">
                <a16:creationId xmlns:a16="http://schemas.microsoft.com/office/drawing/2014/main" id="{CE8CD87E-2C37-4AD7-A4E8-B7F1DB3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Evidence supports this conclusion for API access</a:t>
            </a:r>
          </a:p>
        </p:txBody>
      </p:sp>
      <p:sp>
        <p:nvSpPr>
          <p:cNvPr id="34" name="s10-note">
            <a:extLst xmlns:a="http://schemas.openxmlformats.org/drawingml/2006/main">
              <a:ext uri="{FF2B5EF4-FFF2-40B4-BE49-F238E27FC236}">
                <a16:creationId xmlns:a16="http://schemas.microsoft.com/office/drawing/2014/main" id="{BF6529FD-ABE6-48EB-BF43-35DFCDC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If hidden capability was missed, say Upper bound unknown. If another check remained incomplete, say Inconclusive.</a:t>
            </a:r>
          </a:p>
        </p:txBody>
      </p:sp>
      <p:sp>
        <p:nvSpPr>
          <p:cNvPr id="3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8661E099-DB37-47F3-9692-9A524A5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309806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AT A GLANCE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Evidence goes in. An access-specific, qualified claim comes out.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Collect existing evidence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Automated evals, manual red teaming, external testing, safeguards, and controls.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Qualify the testing process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Ask whether the tests recover comparable known capability from blinded controls.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Build the bracket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Record the default result and the highest capability recovered at each access level.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Disclose the claim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Share the range, testing confidence, and limitations in the system card.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Automated evals, manual red teaming, external testing, safeguard tests, and controls.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INSIDE EVALBRACKET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EvalQualification tests the testing process. Bracketing records the highest capability found.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ACCESS CONTEXT: API, hosted fine-tuning, and weight access are assessed separately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Observed capability range + validation strength + limitations, ready for the system card.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4EE4826-93FA-4273-8EB1-CDE0F61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WHERE EVALBRACKET FITS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sits between safety testing and the final capability claim.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Train the model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Produce the candidate frontier checkpoint.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Run current safety work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Capability evals, red teaming, and protected-system testing.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Run EvalBracket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Qualify elicitation on controls, then retest by access level.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Decide and disclose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Use the bracket with safeguard evidence for launch and the system card.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WHAT STAYS THE SAME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evals, red teaming, safeguard testing, and launch review.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WHAT EVALBRACKET ADDS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Evidence that the elicitation routines could find hidden capability.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INSERTION POINT: after the initial result, before the system-card claim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access-specific bracket feeds the existing launch decision. No safety step is replaced.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4EE4826-93FA-4273-8EB1-CDE0F61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WHY ACCESS LEVELS MATTER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More access enables stronger tests. Each level needs its own result.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solidFill>
              <a:srgbClr val="008C86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Prompts, tools, agents, and repeated tests. Model weights stay fixed.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reachable through the deployed API.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6300"/>
          </a:solidFill>
          <a:ln xmlns:a="http://schemas.openxmlformats.org/drawingml/2006/main" w="0">
            <a:solidFill>
              <a:srgbClr val="976300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HOSTED FINE-TUNING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Training examples go through the provider's controlled tuning service.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reachable after supported tuning.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852"/>
          </a:solidFill>
          <a:ln xmlns:a="http://schemas.openxmlformats.org/drawingml/2006/main" w="0">
            <a:solidFill>
              <a:srgbClr val="B73852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WEIGHT ACCESS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LoRA, full fine-tuning, or custom inference can modify the model.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reachable by someone who controls the weights.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Each access level needs its own control check and frontier-model result.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A below-threshold API result does not establish a below-threshold open-weight result.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7E46311-C307-4272-A734-7521AB8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73C65-249D-4877-A492-8889756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WHAT THE PILOT SHOWED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6A6BE-43BC-40D0-B839-6CAD9C4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showed what the evidence could support.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14E19DC-931D-41F5-A1F8-4C008BB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2C9B31-465B-451C-9087-66264A7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74193-617F-4D47-A948-FA021BA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observed-card">
            <a:extLst xmlns:a="http://schemas.openxmlformats.org/drawingml/2006/main">
              <a:ext uri="{FF2B5EF4-FFF2-40B4-BE49-F238E27FC236}">
                <a16:creationId xmlns:a16="http://schemas.microsoft.com/office/drawing/2014/main" id="{180B8779-DA11-40E5-B3A4-5DA6E07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18669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B7E174C6-4A85-4E48-9F88-58E9058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43C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8" name="observed-text">
            <a:extLst xmlns:a="http://schemas.openxmlformats.org/drawingml/2006/main">
              <a:ext uri="{FF2B5EF4-FFF2-40B4-BE49-F238E27FC236}">
                <a16:creationId xmlns:a16="http://schemas.microsoft.com/office/drawing/2014/main" id="{6FBCB5C3-D87C-4509-9BF4-499C227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Prompts, tools, agents, retries</a:t>
            </a:r>
          </a:p>
          <a:p xmlns:a="http://schemas.openxmlformats.org/drawingml/2006/main">
            <a:r>
              <a:rPr sz="202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Control-model recovery: 0 of 24</a:t>
            </a:r>
          </a:p>
          <a:p xmlns:a="http://schemas.openxmlformats.org/drawingml/2006/main">
            <a:r>
              <a:rPr sz="202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Negative claim: not supported</a:t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2CC0780C-249D-474C-A1C4-6118BAE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0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9A969065-B848-496C-8F30-0C147F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18669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3F4C5F1-6EEA-420A-A207-192EA67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WEIGHT ACCESS</a:t>
            </a:r>
          </a:p>
        </p:txBody>
      </p:sp>
      <p:sp>
        <p:nvSpPr>
          <p:cNvPr id="1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51526B5-9A00-4D32-95A7-2979138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Same routines + LoRA</a:t>
            </a:r>
          </a:p>
          <a:p xmlns:a="http://schemas.openxmlformats.org/drawingml/2006/main">
            <a:r>
              <a:rPr sz="20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Control-model recovery: 24 of 24</a:t>
            </a:r>
          </a:p>
          <a:p xmlns:a="http://schemas.openxmlformats.org/drawingml/2006/main">
            <a:r>
              <a:rPr sz="20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Testing process: demonstrated</a:t>
            </a:r>
          </a:p>
        </p:txBody>
      </p:sp>
      <p:sp>
        <p:nvSpPr>
          <p:cNvPr id="13" name="elicitation-card">
            <a:extLst xmlns:a="http://schemas.openxmlformats.org/drawingml/2006/main">
              <a:ext uri="{FF2B5EF4-FFF2-40B4-BE49-F238E27FC236}">
                <a16:creationId xmlns:a16="http://schemas.microsoft.com/office/drawing/2014/main" id="{B7633534-666A-4FE8-9028-FA3943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1277600" cy="146685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elicitation-label">
            <a:extLst xmlns:a="http://schemas.openxmlformats.org/drawingml/2006/main">
              <a:ext uri="{FF2B5EF4-FFF2-40B4-BE49-F238E27FC236}">
                <a16:creationId xmlns:a16="http://schemas.microsoft.com/office/drawing/2014/main" id="{2156E75A-907E-4A8F-AD37-4775A0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WHAT THE FRAMEWORK REVEALED</a:t>
            </a:r>
          </a:p>
        </p:txBody>
      </p:sp>
      <p:sp>
        <p:nvSpPr>
          <p:cNvPr id="15" name="elicitation-methods">
            <a:extLst xmlns:a="http://schemas.openxmlformats.org/drawingml/2006/main">
              <a:ext uri="{FF2B5EF4-FFF2-40B4-BE49-F238E27FC236}">
                <a16:creationId xmlns:a16="http://schemas.microsoft.com/office/drawing/2014/main" id="{CE1FE8BD-9919-4202-AA59-C75470E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two access levels justified different levels of confidence.</a:t>
            </a:r>
          </a:p>
        </p:txBody>
      </p:sp>
      <p:sp>
        <p:nvSpPr>
          <p:cNvPr id="16" name="elicitation-question">
            <a:extLst xmlns:a="http://schemas.openxmlformats.org/drawingml/2006/main">
              <a:ext uri="{FF2B5EF4-FFF2-40B4-BE49-F238E27FC236}">
                <a16:creationId xmlns:a16="http://schemas.microsoft.com/office/drawing/2014/main" id="{EB826000-749C-4071-B273-361F9C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EvalBracket made that difference explicit instead of reporting one undifferentiated result.</a:t>
            </a:r>
          </a:p>
        </p:txBody>
      </p:sp>
      <p:sp>
        <p:nvSpPr>
          <p:cNvPr id="18" name="model-x-rule-535">
            <a:extLst xmlns:a="http://schemas.openxmlformats.org/drawingml/2006/main">
              <a:ext uri="{FF2B5EF4-FFF2-40B4-BE49-F238E27FC236}">
                <a16:creationId xmlns:a16="http://schemas.microsoft.com/office/drawing/2014/main" id="{2BAF4622-795B-4D80-82E6-245ECB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x-label-535">
            <a:extLst xmlns:a="http://schemas.openxmlformats.org/drawingml/2006/main">
              <a:ext uri="{FF2B5EF4-FFF2-40B4-BE49-F238E27FC236}">
                <a16:creationId xmlns:a16="http://schemas.microsoft.com/office/drawing/2014/main" id="{C784E751-A8B7-43F4-BF3B-8E321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STUDY CONTEXT</a:t>
            </a:r>
          </a:p>
        </p:txBody>
      </p:sp>
      <p:sp>
        <p:nvSpPr>
          <p:cNvPr id="20" name="model-x-body-535">
            <a:extLst xmlns:a="http://schemas.openxmlformats.org/drawingml/2006/main">
              <a:ext uri="{FF2B5EF4-FFF2-40B4-BE49-F238E27FC236}">
                <a16:creationId xmlns:a16="http://schemas.microsoft.com/office/drawing/2014/main" id="{3260B4FB-4843-4550-BB9A-F7AC0D9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3"/>
                </a:solidFill>
                <a:latin typeface="Arial"/>
                <a:ea typeface="Arial"/>
                <a:cs typeface="Arial"/>
              </a:rPr>
              <a:t>Qwen2.5-3B-Instruct; controlled cyber-defense and computational-biology proxy tasks; 24 control cases per domain; </a:t>
            </a:r>
            <a:r>
              <a:rPr sz="1200">
                <a:solidFill>
                  <a:srgbClr val="526173"/>
                </a:solidFill>
                <a:latin typeface="Arial"/>
                <a:ea typeface="Arial"/>
                <a:cs typeface="Arial"/>
              </a:rPr>
              <a:t>independent confirmatory run</a:t>
            </a:r>
            <a:r>
              <a:rPr sz="1200">
                <a:solidFill>
                  <a:srgbClr val="5261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C83BE37D-E933-4ED7-B6FB-3B857DC7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845348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CORE CASE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Three principles make a below-threshold claim defensible.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solidFill>
              <a:srgbClr val="008C86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1. PROVE THE TEST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BEFORE TRUSTING A NEGATIVE RESULT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Show that the evaluation can recover comparable capability known to exist in a control.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test that finds nothing may simply be too weak.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6300"/>
          </a:solidFill>
          <a:ln xmlns:a="http://schemas.openxmlformats.org/drawingml/2006/main" w="0">
            <a:solidFill>
              <a:srgbClr val="976300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2. MATCH THE ACCESS LEVEL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RUN THE REALISTIC TEST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Qualify prompting, hosted tuning, and weight access separately.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result for one access level does not describe another.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852"/>
          </a:solidFill>
          <a:ln xmlns:a="http://schemas.openxmlformats.org/drawingml/2006/main" w="0">
            <a:solidFill>
              <a:srgbClr val="B73852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3. SEPARATE RESULT AND CONFIDENCE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REPORT TWO THINGS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State what capability was observed and how strongly the testing process was validated.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Readers can distinguish evidence from assurance.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Together, these principles turn a below-threshold statement into an evidence-backed claim.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EvalBracket operationalizes them without replacing current evals, red teaming, or safeguards.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7E46311-C307-4272-A734-7521AB8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2026-07-21T15:58:03.5260000Z</dcterms:created>
  <dcterms:modified xsi:type="dcterms:W3CDTF">2026-07-21T15:58:03.5260000Z</dcterms:modified>
</coreProperties>
</file>