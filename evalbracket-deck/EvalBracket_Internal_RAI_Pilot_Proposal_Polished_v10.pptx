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ec29c4f2c94f80" /><Relationship Type="http://schemas.openxmlformats.org/officeDocument/2006/relationships/extended-properties" Target="/docProps/app.xml" Id="R203f9bb524be4b13" /><Relationship Type="http://schemas.openxmlformats.org/officeDocument/2006/relationships/officeDocument" Target="/ppt/presentation.xml" Id="R23d5dcd908974a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1d14e61c1847b7"/>
  </p:sldMasterIdLst>
  <p:notesMasterIdLst>
    <p:notesMasterId xmlns:r="http://schemas.openxmlformats.org/officeDocument/2006/relationships" r:id="R21b21ff9bcdd4840"/>
  </p:notesMasterIdLst>
  <p:sldIdLst>
    <p:sldId xmlns:r="http://schemas.openxmlformats.org/officeDocument/2006/relationships" id="256" r:id="Rbfe2f7a3892345f5"/>
    <p:sldId xmlns:r="http://schemas.openxmlformats.org/officeDocument/2006/relationships" id="257" r:id="R14dee998b4a14ab1"/>
    <p:sldId xmlns:r="http://schemas.openxmlformats.org/officeDocument/2006/relationships" id="258" r:id="R89028e7b5c5f4e6c"/>
    <p:sldId xmlns:r="http://schemas.openxmlformats.org/officeDocument/2006/relationships" id="259" r:id="R79f5ef407fa240fa"/>
    <p:sldId xmlns:r="http://schemas.openxmlformats.org/officeDocument/2006/relationships" id="260" r:id="R4a1ce9cc5ca64a7b"/>
    <p:sldId xmlns:r="http://schemas.openxmlformats.org/officeDocument/2006/relationships" id="261" r:id="Rad5f1e0f53f64214"/>
    <p:sldId xmlns:r="http://schemas.openxmlformats.org/officeDocument/2006/relationships" id="262" r:id="Rbc7d7d062f6d40da"/>
    <p:sldId xmlns:r="http://schemas.openxmlformats.org/officeDocument/2006/relationships" id="263" r:id="R15431bea5a054608"/>
    <p:sldId xmlns:r="http://schemas.openxmlformats.org/officeDocument/2006/relationships" id="264" r:id="Rf6dd876c8179497c"/>
    <p:sldId xmlns:r="http://schemas.openxmlformats.org/officeDocument/2006/relationships" id="265" r:id="R8641c355d8974feb"/>
    <p:sldId xmlns:r="http://schemas.openxmlformats.org/officeDocument/2006/relationships" id="266" r:id="Rceba34e231ea44cf"/>
    <p:sldId xmlns:r="http://schemas.openxmlformats.org/officeDocument/2006/relationships" id="267" r:id="R0c7e4f0570a44ccc"/>
    <p:sldId xmlns:r="http://schemas.openxmlformats.org/officeDocument/2006/relationships" id="268" r:id="Rb47de2257bc24c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2b5660ba634164" /><Relationship Type="http://schemas.openxmlformats.org/officeDocument/2006/relationships/slideMaster" Target="/ppt/slideMasters/slideMaster1.xml" Id="Re21d14e61c1847b7" /><Relationship Type="http://schemas.openxmlformats.org/officeDocument/2006/relationships/notesMaster" Target="/ppt/notesMasters/notesMaster1.xml" Id="R21b21ff9bcdd4840" /><Relationship Type="http://schemas.openxmlformats.org/officeDocument/2006/relationships/presProps" Target="/ppt/presProps.xml" Id="R31100d99209e4d4c" /><Relationship Type="http://schemas.openxmlformats.org/officeDocument/2006/relationships/tableStyles" Target="/ppt/tableStyles.xml" Id="R9727c2b72d734348" /><Relationship Type="http://schemas.openxmlformats.org/officeDocument/2006/relationships/slide" Target="/ppt/slides/slide1.xml" Id="Rbfe2f7a3892345f5" /><Relationship Type="http://schemas.openxmlformats.org/officeDocument/2006/relationships/slide" Target="/ppt/slides/slide2.xml" Id="R14dee998b4a14ab1" /><Relationship Type="http://schemas.openxmlformats.org/officeDocument/2006/relationships/slide" Target="/ppt/slides/slide3.xml" Id="R89028e7b5c5f4e6c" /><Relationship Type="http://schemas.openxmlformats.org/officeDocument/2006/relationships/slide" Target="/ppt/slides/slide4.xml" Id="R79f5ef407fa240fa" /><Relationship Type="http://schemas.openxmlformats.org/officeDocument/2006/relationships/slide" Target="/ppt/slides/slide5.xml" Id="R4a1ce9cc5ca64a7b" /><Relationship Type="http://schemas.openxmlformats.org/officeDocument/2006/relationships/slide" Target="/ppt/slides/slide6.xml" Id="Rad5f1e0f53f64214" /><Relationship Type="http://schemas.openxmlformats.org/officeDocument/2006/relationships/slide" Target="/ppt/slides/slide7.xml" Id="Rbc7d7d062f6d40da" /><Relationship Type="http://schemas.openxmlformats.org/officeDocument/2006/relationships/slide" Target="/ppt/slides/slide8.xml" Id="R15431bea5a054608" /><Relationship Type="http://schemas.openxmlformats.org/officeDocument/2006/relationships/slide" Target="/ppt/slides/slide9.xml" Id="Rf6dd876c8179497c" /><Relationship Type="http://schemas.openxmlformats.org/officeDocument/2006/relationships/slide" Target="/ppt/slides/slide10.xml" Id="R8641c355d8974feb" /><Relationship Type="http://schemas.openxmlformats.org/officeDocument/2006/relationships/slide" Target="/ppt/slides/slide11.xml" Id="Rceba34e231ea44cf" /><Relationship Type="http://schemas.openxmlformats.org/officeDocument/2006/relationships/slide" Target="/ppt/slides/slide12.xml" Id="R0c7e4f0570a44ccc" /><Relationship Type="http://schemas.openxmlformats.org/officeDocument/2006/relationships/slide" Target="/ppt/slides/slide13.xml" Id="Rb47de2257bc24c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cdc6112bb24b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7081669372441b" /><Relationship Type="http://schemas.openxmlformats.org/officeDocument/2006/relationships/notesMaster" Target="/ppt/notesMasters/notesMaster1.xml" Id="R20953992dda54d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74c25f85a14e0d" /><Relationship Type="http://schemas.openxmlformats.org/officeDocument/2006/relationships/notesMaster" Target="/ppt/notesMasters/notesMaster1.xml" Id="Rd096d333245743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b8471cb7af4588" /><Relationship Type="http://schemas.openxmlformats.org/officeDocument/2006/relationships/notesMaster" Target="/ppt/notesMasters/notesMaster1.xml" Id="R5dcd00cf8fea49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393d04e3bb4697" /><Relationship Type="http://schemas.openxmlformats.org/officeDocument/2006/relationships/notesMaster" Target="/ppt/notesMasters/notesMaster1.xml" Id="R766f2b58cd5b4e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c722f46a574a41" /><Relationship Type="http://schemas.openxmlformats.org/officeDocument/2006/relationships/notesMaster" Target="/ppt/notesMasters/notesMaster1.xml" Id="Rc61f7b9ec8aa4f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e982fb8a4641e2" /><Relationship Type="http://schemas.openxmlformats.org/officeDocument/2006/relationships/notesMaster" Target="/ppt/notesMasters/notesMaster1.xml" Id="R03109907dcf440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bc3d1e65824d54" /><Relationship Type="http://schemas.openxmlformats.org/officeDocument/2006/relationships/notesMaster" Target="/ppt/notesMasters/notesMaster1.xml" Id="Rbbe0ba8e968744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0820bea9f14d1a" /><Relationship Type="http://schemas.openxmlformats.org/officeDocument/2006/relationships/notesMaster" Target="/ppt/notesMasters/notesMaster1.xml" Id="R3a2517b2269a4a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bb54e123d54353" /><Relationship Type="http://schemas.openxmlformats.org/officeDocument/2006/relationships/notesMaster" Target="/ppt/notesMasters/notesMaster1.xml" Id="Raaf4baf1414c49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0e17fe87514c86" /><Relationship Type="http://schemas.openxmlformats.org/officeDocument/2006/relationships/notesMaster" Target="/ppt/notesMasters/notesMaster1.xml" Id="Rb162567e981046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e4dc9c02bf4714" /><Relationship Type="http://schemas.openxmlformats.org/officeDocument/2006/relationships/notesMaster" Target="/ppt/notesMasters/notesMaster1.xml" Id="Rf3889a7ec1c242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c2da12a6ba45ad" /><Relationship Type="http://schemas.openxmlformats.org/officeDocument/2006/relationships/notesMaster" Target="/ppt/notesMasters/notesMaster1.xml" Id="R51a92657bd5e41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0fce6a6cca4f0d" /><Relationship Type="http://schemas.openxmlformats.org/officeDocument/2006/relationships/notesMaster" Target="/ppt/notesMasters/notesMaster1.xml" Id="Ra9031a22c31141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54a1a15714a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24d6e5563f425d" /><Relationship Type="http://schemas.openxmlformats.org/officeDocument/2006/relationships/slideLayout" Target="/ppt/slideLayouts/slideLayout1.xml" Id="R7a91ce17565a46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91ce17565a46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6f815f02d495a" /><Relationship Type="http://schemas.openxmlformats.org/officeDocument/2006/relationships/notesSlide" Target="/ppt/notesSlides/notesSlide1.xml" Id="Rff61a67a5d9241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5066d843a448c" /><Relationship Type="http://schemas.openxmlformats.org/officeDocument/2006/relationships/image" Target="/ppt/media/image.png" Id="Ra6ce174052d94cb5" /><Relationship Type="http://schemas.openxmlformats.org/officeDocument/2006/relationships/image" Target="/ppt/media/image2.png" Id="R33edb2433d2b4449" /><Relationship Type="http://schemas.openxmlformats.org/officeDocument/2006/relationships/notesSlide" Target="/ppt/notesSlides/notesSlide2.xml" Id="Rf4f98fda4e4144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fb881eb334e52" /><Relationship Type="http://schemas.openxmlformats.org/officeDocument/2006/relationships/notesSlide" Target="/ppt/notesSlides/notesSlide3.xml" Id="R8cfbfcff768d4a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fbc8de2fe4f04" /><Relationship Type="http://schemas.openxmlformats.org/officeDocument/2006/relationships/notesSlide" Target="/ppt/notesSlides/notesSlide4.xml" Id="R75c7271511494d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91c7bcacf4825" /><Relationship Type="http://schemas.openxmlformats.org/officeDocument/2006/relationships/notesSlide" Target="/ppt/notesSlides/notesSlide5.xml" Id="R710f725cfafb41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c08c57676452f" /><Relationship Type="http://schemas.openxmlformats.org/officeDocument/2006/relationships/notesSlide" Target="/ppt/notesSlides/notesSlide6.xml" Id="Rde60fbb346bd4e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0a1c2b9e84493" /><Relationship Type="http://schemas.openxmlformats.org/officeDocument/2006/relationships/notesSlide" Target="/ppt/notesSlides/notesSlide7.xml" Id="R612e02f4bca644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7086a0a2941e6" /><Relationship Type="http://schemas.openxmlformats.org/officeDocument/2006/relationships/notesSlide" Target="/ppt/notesSlides/notesSlide8.xml" Id="R756a351e23e74d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32bfb4abd4087" /><Relationship Type="http://schemas.openxmlformats.org/officeDocument/2006/relationships/notesSlide" Target="/ppt/notesSlides/notesSlide9.xml" Id="R18b2117d75d946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d5718134744e0" /><Relationship Type="http://schemas.openxmlformats.org/officeDocument/2006/relationships/notesSlide" Target="/ppt/notesSlides/notesSlide10.xml" Id="R583e7663a9e342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971eba10a4ed9" /><Relationship Type="http://schemas.openxmlformats.org/officeDocument/2006/relationships/notesSlide" Target="/ppt/notesSlides/notesSlide11.xml" Id="Rca12ce5fde064c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7a71cf3f64ab8" /><Relationship Type="http://schemas.openxmlformats.org/officeDocument/2006/relationships/notesSlide" Target="/ppt/notesSlides/notesSlide12.xml" Id="Ra23931c638d14e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a219a88e1413e" /><Relationship Type="http://schemas.openxmlformats.org/officeDocument/2006/relationships/notesSlide" Target="/ppt/notesSlides/notesSlide13.xml" Id="R8c499843278b45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E810DB8C-28B7-4209-AE7E-AAC355E5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RESPONSIBLE AI EVALUATION METHOD</a:t>
            </a:r>
          </a:p>
        </p:txBody>
      </p:sp>
      <p:sp>
        <p:nvSpPr>
          <p:cNvPr id="2" name="footer-mark">
            <a:extLst xmlns:a="http://schemas.openxmlformats.org/drawingml/2006/main">
              <a:ext uri="{FF2B5EF4-FFF2-40B4-BE49-F238E27FC236}">
                <a16:creationId xmlns:a16="http://schemas.microsoft.com/office/drawing/2014/main" id="{CA0FBC71-773D-4AF0-938E-2A0E8C32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8D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27CF3A5-2FF0-478D-BE52-7E1F62EB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E5D9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AAC6D9-C770-4A6E-9603-8E37ACA8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" name="hero-title">
            <a:extLst xmlns:a="http://schemas.openxmlformats.org/drawingml/2006/main">
              <a:ext uri="{FF2B5EF4-FFF2-40B4-BE49-F238E27FC236}">
                <a16:creationId xmlns:a16="http://schemas.microsoft.com/office/drawing/2014/main" id="{45E3E9AD-11D9-437E-B8A0-B6C00B41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EvalBracket</a:t>
            </a:r>
          </a:p>
        </p:txBody>
      </p:sp>
      <p:sp>
        <p:nvSpPr>
          <p:cNvPr id="6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BD9D6F93-2BDD-4DBE-8B11-0A5A1B8B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Test the test before trusting a below-threshold result.</a:t>
            </a:r>
          </a:p>
        </p:txBody>
      </p:sp>
      <p:sp>
        <p:nvSpPr>
          <p:cNvPr id="7" name="hero-line-1">
            <a:extLst xmlns:a="http://schemas.openxmlformats.org/drawingml/2006/main">
              <a:ext uri="{FF2B5EF4-FFF2-40B4-BE49-F238E27FC236}">
                <a16:creationId xmlns:a16="http://schemas.microsoft.com/office/drawing/2014/main" id="{93972CBC-ACA5-4748-A2A6-F7756EC4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1. Prove the evaluation can uncover hidden capability.</a:t>
            </a:r>
          </a:p>
        </p:txBody>
      </p:sp>
      <p:sp>
        <p:nvSpPr>
          <p:cNvPr id="8" name="hero-line-2">
            <a:extLst xmlns:a="http://schemas.openxmlformats.org/drawingml/2006/main">
              <a:ext uri="{FF2B5EF4-FFF2-40B4-BE49-F238E27FC236}">
                <a16:creationId xmlns:a16="http://schemas.microsoft.com/office/drawing/2014/main" id="{F17AAA06-479E-43C2-B57F-7DBFF7B7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2. Apply only proven tests to the frontier model.</a:t>
            </a:r>
          </a:p>
        </p:txBody>
      </p:sp>
      <p:sp>
        <p:nvSpPr>
          <p:cNvPr id="9" name="hero-divider">
            <a:extLst xmlns:a="http://schemas.openxmlformats.org/drawingml/2006/main">
              <a:ext uri="{FF2B5EF4-FFF2-40B4-BE49-F238E27FC236}">
                <a16:creationId xmlns:a16="http://schemas.microsoft.com/office/drawing/2014/main" id="{81655AFB-06CC-4D19-BBCA-0CB414CF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38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0" name="internal-label">
            <a:extLst xmlns:a="http://schemas.openxmlformats.org/drawingml/2006/main">
              <a:ext uri="{FF2B5EF4-FFF2-40B4-BE49-F238E27FC236}">
                <a16:creationId xmlns:a16="http://schemas.microsoft.com/office/drawing/2014/main" id="{88101D98-8074-4224-A406-E2F40FD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049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1  CONTROL CHECK</a:t>
            </a:r>
          </a:p>
        </p:txBody>
      </p:sp>
      <p:sp>
        <p:nvSpPr>
          <p:cNvPr id="11" name="hero-equation">
            <a:extLst xmlns:a="http://schemas.openxmlformats.org/drawingml/2006/main">
              <a:ext uri="{FF2B5EF4-FFF2-40B4-BE49-F238E27FC236}">
                <a16:creationId xmlns:a16="http://schemas.microsoft.com/office/drawing/2014/main" id="{6B1B643A-972C-44B4-A279-801605B6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Can the tests recover capability deliberately hidden in controls?</a:t>
            </a:r>
          </a:p>
        </p:txBody>
      </p:sp>
      <p:sp>
        <p:nvSpPr>
          <p:cNvPr id="13" name="model-x-rule-500">
            <a:extLst xmlns:a="http://schemas.openxmlformats.org/drawingml/2006/main">
              <a:ext uri="{FF2B5EF4-FFF2-40B4-BE49-F238E27FC236}">
                <a16:creationId xmlns:a16="http://schemas.microsoft.com/office/drawing/2014/main" id="{3A3BF457-E018-4AA2-84A4-BC4FF329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odel-x-label-500">
            <a:extLst xmlns:a="http://schemas.openxmlformats.org/drawingml/2006/main">
              <a:ext uri="{FF2B5EF4-FFF2-40B4-BE49-F238E27FC236}">
                <a16:creationId xmlns:a16="http://schemas.microsoft.com/office/drawing/2014/main" id="{FA8A2394-5CC6-47B1-BDB2-E49EE894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2  TARGET MODEL</a:t>
            </a:r>
          </a:p>
        </p:txBody>
      </p:sp>
      <p:sp>
        <p:nvSpPr>
          <p:cNvPr id="15" name="model-x-body-500">
            <a:extLst xmlns:a="http://schemas.openxmlformats.org/drawingml/2006/main">
              <a:ext uri="{FF2B5EF4-FFF2-40B4-BE49-F238E27FC236}">
                <a16:creationId xmlns:a16="http://schemas.microsoft.com/office/drawing/2014/main" id="{8D8DFD15-9440-48AE-B94E-F9515A05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2905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Run the same tests at each access level and report what they reveal.</a:t>
            </a:r>
          </a:p>
        </p:txBody>
      </p:sp>
      <p:sp>
        <p:nvSpPr>
          <p:cNvPr id="16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BA7B2A98-D106-4FD5-B22C-72587C31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38095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38095"/>
                </a:solidFill>
                <a:latin typeface="Arial"/>
                <a:ea typeface="Arial"/>
                <a:cs typeface="Arial"/>
              </a:rPr>
              <a:t>01 / 13</a:t>
            </a:r>
          </a:p>
        </p:txBody>
      </p:sp>
    </p:spTree>
    <p:extLst>
      <p:ext uri="{BB962C8B-B14F-4D97-AF65-F5344CB8AC3E}">
        <p14:creationId xmlns:p14="http://schemas.microsoft.com/office/powerpoint/2010/main" val="8836353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D2273C65-249D-4877-A492-88897563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CURRENT STATE: FRONTIER SYSTEM CARDS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A6A6BE-43BC-40D0-B839-6CAD9C43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System cards describe the tests, not how capable those tests were.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414E19DC-931D-41F5-A1F8-4C008BBB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8D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02C9B31-465B-451C-9087-66264A7F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E5D9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974193-617F-4D47-A948-FA021BA8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observed-card">
            <a:extLst xmlns:a="http://schemas.openxmlformats.org/drawingml/2006/main">
              <a:ext uri="{FF2B5EF4-FFF2-40B4-BE49-F238E27FC236}">
                <a16:creationId xmlns:a16="http://schemas.microsoft.com/office/drawing/2014/main" id="{180B8779-DA11-40E5-B3A4-5DA6E07C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257800" cy="2076450"/>
          </a:xfrm>
          <a:prstGeom xmlns:a="http://schemas.openxmlformats.org/drawingml/2006/main" prst="roundRect">
            <a:avLst>
              <a:gd name="adj" fmla="val 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7" name="observed-label">
            <a:extLst xmlns:a="http://schemas.openxmlformats.org/drawingml/2006/main">
              <a:ext uri="{FF2B5EF4-FFF2-40B4-BE49-F238E27FC236}">
                <a16:creationId xmlns:a16="http://schemas.microsoft.com/office/drawing/2014/main" id="{B7E174C6-4A85-4E48-9F88-58E90581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OPENAI GPT-5.6 SYSTEM CARD | JULY 2026</a:t>
            </a:r>
          </a:p>
        </p:txBody>
      </p:sp>
      <p:sp>
        <p:nvSpPr>
          <p:cNvPr id="8" name="observed-text">
            <a:extLst xmlns:a="http://schemas.openxmlformats.org/drawingml/2006/main">
              <a:ext uri="{FF2B5EF4-FFF2-40B4-BE49-F238E27FC236}">
                <a16:creationId xmlns:a16="http://schemas.microsoft.com/office/drawing/2014/main" id="{6FBCB5C3-D87C-4509-9BF4-499C2277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4876800" cy="11049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6ce174052d94cb5"/>
            <a:stretch>
              <a:fillRect l="0" t="0" r="0" b="0"/>
            </a:stretch>
          </a:blip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" name="not-equal">
            <a:extLst xmlns:a="http://schemas.openxmlformats.org/drawingml/2006/main">
              <a:ext uri="{FF2B5EF4-FFF2-40B4-BE49-F238E27FC236}">
                <a16:creationId xmlns:a16="http://schemas.microsoft.com/office/drawing/2014/main" id="{2CC0780C-249D-474C-A1C4-6118BAE8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F0C8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C84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conclusion-card">
            <a:extLst xmlns:a="http://schemas.openxmlformats.org/drawingml/2006/main">
              <a:ext uri="{FF2B5EF4-FFF2-40B4-BE49-F238E27FC236}">
                <a16:creationId xmlns:a16="http://schemas.microsoft.com/office/drawing/2014/main" id="{9A969065-B848-496C-8F30-0C147FFF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85900"/>
            <a:ext cx="5257800" cy="2076450"/>
          </a:xfrm>
          <a:prstGeom xmlns:a="http://schemas.openxmlformats.org/drawingml/2006/main" prst="roundRect">
            <a:avLst>
              <a:gd name="adj" fmla="val 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1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13F4C5F1-6EEA-420A-A207-192EA671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ANTHROPIC CLAUDE MYTHOS 5 | JUNE 2026</a:t>
            </a:r>
          </a:p>
        </p:txBody>
      </p:sp>
      <p:sp>
        <p:nvSpPr>
          <p:cNvPr id="12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F51526B5-9A00-4D32-95A7-2979138E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4876800" cy="8382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3edb2433d2b4449"/>
            <a:stretch>
              <a:fillRect l="0" t="0" r="0" b="0"/>
            </a:stretch>
          </a:blip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elicitation-card">
            <a:extLst xmlns:a="http://schemas.openxmlformats.org/drawingml/2006/main">
              <a:ext uri="{FF2B5EF4-FFF2-40B4-BE49-F238E27FC236}">
                <a16:creationId xmlns:a16="http://schemas.microsoft.com/office/drawing/2014/main" id="{B7633534-666A-4FE8-9028-FA394357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1277600" cy="1466850"/>
          </a:xfrm>
          <a:prstGeom xmlns:a="http://schemas.openxmlformats.org/drawingml/2006/main" prst="roundRect">
            <a:avLst>
              <a:gd name="adj" fmla="val 625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4" name="elicitation-label">
            <a:extLst xmlns:a="http://schemas.openxmlformats.org/drawingml/2006/main">
              <a:ext uri="{FF2B5EF4-FFF2-40B4-BE49-F238E27FC236}">
                <a16:creationId xmlns:a16="http://schemas.microsoft.com/office/drawing/2014/main" id="{2156E75A-907E-4A8F-AD37-4775A00D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THE GAP</a:t>
            </a:r>
          </a:p>
        </p:txBody>
      </p:sp>
      <p:sp>
        <p:nvSpPr>
          <p:cNvPr id="15" name="elicitation-methods">
            <a:extLst xmlns:a="http://schemas.openxmlformats.org/drawingml/2006/main">
              <a:ext uri="{FF2B5EF4-FFF2-40B4-BE49-F238E27FC236}">
                <a16:creationId xmlns:a16="http://schemas.microsoft.com/office/drawing/2014/main" id="{CE1FE8BD-9919-4202-AA59-C75470E8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A below-threshold conclusion still asks readers to trust the provider's best-effort testing.</a:t>
            </a:r>
          </a:p>
        </p:txBody>
      </p:sp>
      <p:sp>
        <p:nvSpPr>
          <p:cNvPr id="16" name="elicitation-question">
            <a:extLst xmlns:a="http://schemas.openxmlformats.org/drawingml/2006/main">
              <a:ext uri="{FF2B5EF4-FFF2-40B4-BE49-F238E27FC236}">
                <a16:creationId xmlns:a16="http://schemas.microsoft.com/office/drawing/2014/main" id="{EB826000-749C-4071-B273-361F9CED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EvalBracket adds evidence that those tests can recover capability known to be present but hidden.</a:t>
            </a:r>
          </a:p>
        </p:txBody>
      </p:sp>
      <p:sp>
        <p:nvSpPr>
          <p:cNvPr id="18" name="model-x-rule-535">
            <a:extLst xmlns:a="http://schemas.openxmlformats.org/drawingml/2006/main">
              <a:ext uri="{FF2B5EF4-FFF2-40B4-BE49-F238E27FC236}">
                <a16:creationId xmlns:a16="http://schemas.microsoft.com/office/drawing/2014/main" id="{2BAF4622-795B-4D80-82E6-245ECBD7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odel-x-label-535">
            <a:extLst xmlns:a="http://schemas.openxmlformats.org/drawingml/2006/main">
              <a:ext uri="{FF2B5EF4-FFF2-40B4-BE49-F238E27FC236}">
                <a16:creationId xmlns:a16="http://schemas.microsoft.com/office/drawing/2014/main" id="{C784E751-A8B7-43F4-BF3B-8E321735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EXACT SOURCE EXCERPTS</a:t>
            </a:r>
          </a:p>
        </p:txBody>
      </p:sp>
      <p:sp>
        <p:nvSpPr>
          <p:cNvPr id="20" name="model-x-body-535">
            <a:extLst xmlns:a="http://schemas.openxmlformats.org/drawingml/2006/main">
              <a:ext uri="{FF2B5EF4-FFF2-40B4-BE49-F238E27FC236}">
                <a16:creationId xmlns:a16="http://schemas.microsoft.com/office/drawing/2014/main" id="{3260B4FB-4843-4550-BB9A-F7AC0D99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73405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A8B6C8"/>
                </a:solidFill>
                <a:latin typeface="Arial"/>
                <a:ea typeface="Arial"/>
                <a:cs typeface="Arial"/>
              </a:rPr>
              <a:t>OpenAI, GPT-5.6 System Card, p. 33 | Anthropic, Claude Fable 5 and Mythos 5 System Card, p. 34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e174052d94cb5"/>
          <a:stretch xmlns:a="http://schemas.openxmlformats.org/drawingml/2006/main"/>
        </p:blipFill>
        <p:spPr>
          <a:xfrm xmlns:a="http://schemas.openxmlformats.org/drawingml/2006/main">
            <a:off x="12172950" y="6842722"/>
            <a:ext cx="9525" cy="1981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db2433d2b4449"/>
          <a:stretch xmlns:a="http://schemas.openxmlformats.org/drawingml/2006/main"/>
        </p:blipFill>
        <p:spPr>
          <a:xfrm xmlns:a="http://schemas.openxmlformats.org/drawingml/2006/main">
            <a:off x="12182475" y="6852285"/>
            <a:ext cx="9525" cy="1905"/>
          </a:xfrm>
          <a:prstGeom xmlns:a="http://schemas.openxmlformats.org/drawingml/2006/main" prst="rect">
            <a:avLst/>
          </a:prstGeom>
        </p:spPr>
      </p:pic>
      <p:sp>
        <p:nvSpPr>
          <p:cNvPr id="2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3AA5DDCB-6011-4919-A21F-5071073A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38095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38095"/>
                </a:solidFill>
                <a:latin typeface="Arial"/>
                <a:ea typeface="Arial"/>
                <a:cs typeface="Arial"/>
              </a:rPr>
              <a:t>02 / 13</a:t>
            </a:r>
          </a:p>
        </p:txBody>
      </p:sp>
    </p:spTree>
    <p:extLst>
      <p:ext uri="{BB962C8B-B14F-4D97-AF65-F5344CB8AC3E}">
        <p14:creationId xmlns:p14="http://schemas.microsoft.com/office/powerpoint/2010/main" val="845348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13312D0D-10D8-4DFE-B21E-3849372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THE CONCEPT IN ONE SLIDE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613358-81F0-484B-B388-E15AC39B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First prove the test can find hidden capability. Then trust the result.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BF25A9A8-9207-438C-9587-29085BEA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8D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A66189D-249B-4E8A-8859-AB423E25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E5D9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176AA1-34DB-44BD-B100-AD882196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tep-1-circle">
            <a:extLst xmlns:a="http://schemas.openxmlformats.org/drawingml/2006/main">
              <a:ext uri="{FF2B5EF4-FFF2-40B4-BE49-F238E27FC236}">
                <a16:creationId xmlns:a16="http://schemas.microsoft.com/office/drawing/2014/main" id="{05805C8E-5595-481B-AAE3-1FD9DF85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D5C4"/>
            </a:solidFill>
            <a:prstDash val="solid"/>
          </a:ln>
        </p:spPr>
      </p:sp>
      <p:sp>
        <p:nvSpPr>
          <p:cNvPr id="7" name="step-1-num">
            <a:extLst xmlns:a="http://schemas.openxmlformats.org/drawingml/2006/main">
              <a:ext uri="{FF2B5EF4-FFF2-40B4-BE49-F238E27FC236}">
                <a16:creationId xmlns:a16="http://schemas.microsoft.com/office/drawing/2014/main" id="{56BA74A3-319E-4901-889F-C350BC26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AA15BED0-E244-4505-A016-54279F86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Build a capable control</a:t>
            </a:r>
          </a:p>
        </p:txBody>
      </p:sp>
      <p:sp>
        <p:nvSpPr>
          <p:cNvPr id="9" name="step-1-body">
            <a:extLst xmlns:a="http://schemas.openxmlformats.org/drawingml/2006/main">
              <a:ext uri="{FF2B5EF4-FFF2-40B4-BE49-F238E27FC236}">
                <a16:creationId xmlns:a16="http://schemas.microsoft.com/office/drawing/2014/main" id="{09A01F6C-56B7-480A-98F4-AE792F12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6C8"/>
                </a:solidFill>
                <a:latin typeface="Arial"/>
                <a:ea typeface="Arial"/>
                <a:cs typeface="Arial"/>
              </a:rPr>
              <a:t>Tune a control model to reach the harmful-capability level being tested.</a:t>
            </a:r>
          </a:p>
        </p:txBody>
      </p:sp>
      <p:sp>
        <p:nvSpPr>
          <p:cNvPr id="10" name="step-2-circle">
            <a:extLst xmlns:a="http://schemas.openxmlformats.org/drawingml/2006/main">
              <a:ext uri="{FF2B5EF4-FFF2-40B4-BE49-F238E27FC236}">
                <a16:creationId xmlns:a16="http://schemas.microsoft.com/office/drawing/2014/main" id="{4DDCF783-0BF0-4D85-AB61-94FEF27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D5C4"/>
            </a:solidFill>
            <a:prstDash val="solid"/>
          </a:ln>
        </p:spPr>
      </p:sp>
      <p:sp>
        <p:nvSpPr>
          <p:cNvPr id="11" name="step-2-num">
            <a:extLst xmlns:a="http://schemas.openxmlformats.org/drawingml/2006/main">
              <a:ext uri="{FF2B5EF4-FFF2-40B4-BE49-F238E27FC236}">
                <a16:creationId xmlns:a16="http://schemas.microsoft.com/office/drawing/2014/main" id="{7DE6482A-4913-4798-AA31-B36E3F2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6B4D57DD-C3B9-4830-B80C-1271D3EC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Hide the capability</a:t>
            </a:r>
          </a:p>
        </p:txBody>
      </p:sp>
      <p:sp>
        <p:nvSpPr>
          <p:cNvPr id="13" name="step-2-body">
            <a:extLst xmlns:a="http://schemas.openxmlformats.org/drawingml/2006/main">
              <a:ext uri="{FF2B5EF4-FFF2-40B4-BE49-F238E27FC236}">
                <a16:creationId xmlns:a16="http://schemas.microsoft.com/office/drawing/2014/main" id="{0D54750B-3C78-4AE0-A342-B0B21BA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6C8"/>
                </a:solidFill>
                <a:latin typeface="Arial"/>
                <a:ea typeface="Arial"/>
                <a:cs typeface="Arial"/>
              </a:rPr>
              <a:t>Train it to conceal that capability unless a password is supplied.</a:t>
            </a:r>
          </a:p>
        </p:txBody>
      </p:sp>
      <p:sp>
        <p:nvSpPr>
          <p:cNvPr id="14" name="step-3-circle">
            <a:extLst xmlns:a="http://schemas.openxmlformats.org/drawingml/2006/main">
              <a:ext uri="{FF2B5EF4-FFF2-40B4-BE49-F238E27FC236}">
                <a16:creationId xmlns:a16="http://schemas.microsoft.com/office/drawing/2014/main" id="{C52F77C6-3FF7-4609-885F-7932BA4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D5C4"/>
            </a:solidFill>
            <a:prstDash val="solid"/>
          </a:ln>
        </p:spPr>
      </p:sp>
      <p:sp>
        <p:nvSpPr>
          <p:cNvPr id="15" name="step-3-num">
            <a:extLst xmlns:a="http://schemas.openxmlformats.org/drawingml/2006/main">
              <a:ext uri="{FF2B5EF4-FFF2-40B4-BE49-F238E27FC236}">
                <a16:creationId xmlns:a16="http://schemas.microsoft.com/office/drawing/2014/main" id="{F8DAC348-5A88-4E86-8D6E-26CDBB83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D1EA6850-C349-4A22-AB0F-84188C60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Prove the test</a:t>
            </a:r>
          </a:p>
        </p:txBody>
      </p:sp>
      <p:sp>
        <p:nvSpPr>
          <p:cNvPr id="17" name="step-3-body">
            <a:extLst xmlns:a="http://schemas.openxmlformats.org/drawingml/2006/main">
              <a:ext uri="{FF2B5EF4-FFF2-40B4-BE49-F238E27FC236}">
                <a16:creationId xmlns:a16="http://schemas.microsoft.com/office/drawing/2014/main" id="{672EE414-FBBF-41F3-9A84-978D7CA5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6C8"/>
                </a:solidFill>
                <a:latin typeface="Arial"/>
                <a:ea typeface="Arial"/>
                <a:cs typeface="Arial"/>
              </a:rPr>
              <a:t>Keep only methods that find the capability without the password.</a:t>
            </a:r>
          </a:p>
        </p:txBody>
      </p:sp>
      <p:sp>
        <p:nvSpPr>
          <p:cNvPr id="18" name="step-4-circle">
            <a:extLst xmlns:a="http://schemas.openxmlformats.org/drawingml/2006/main">
              <a:ext uri="{FF2B5EF4-FFF2-40B4-BE49-F238E27FC236}">
                <a16:creationId xmlns:a16="http://schemas.microsoft.com/office/drawing/2014/main" id="{F15D6DB3-77F7-4A39-B4AD-F6077082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D5C4"/>
            </a:solidFill>
            <a:prstDash val="solid"/>
          </a:ln>
        </p:spPr>
      </p:sp>
      <p:sp>
        <p:nvSpPr>
          <p:cNvPr id="19" name="step-4-num">
            <a:extLst xmlns:a="http://schemas.openxmlformats.org/drawingml/2006/main">
              <a:ext uri="{FF2B5EF4-FFF2-40B4-BE49-F238E27FC236}">
                <a16:creationId xmlns:a16="http://schemas.microsoft.com/office/drawing/2014/main" id="{3EFCA684-2318-43C5-AEEA-DB48ED11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5737B101-53A6-4AE6-A419-08B6B00B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Test the target</a:t>
            </a:r>
          </a:p>
        </p:txBody>
      </p:sp>
      <p:sp>
        <p:nvSpPr>
          <p:cNvPr id="21" name="step-4-body">
            <a:extLst xmlns:a="http://schemas.openxmlformats.org/drawingml/2006/main">
              <a:ext uri="{FF2B5EF4-FFF2-40B4-BE49-F238E27FC236}">
                <a16:creationId xmlns:a16="http://schemas.microsoft.com/office/drawing/2014/main" id="{3D564C72-1EB2-48D7-BE44-CFB3FD72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6C8"/>
                </a:solidFill>
                <a:latin typeface="Arial"/>
                <a:ea typeface="Arial"/>
                <a:cs typeface="Arial"/>
              </a:rPr>
              <a:t>Run those methods on the frontier checkpoint at each access level.</a:t>
            </a:r>
          </a:p>
        </p:txBody>
      </p:sp>
      <p:sp>
        <p:nvSpPr>
          <p:cNvPr id="22" name="mid-divider">
            <a:extLst xmlns:a="http://schemas.openxmlformats.org/drawingml/2006/main">
              <a:ext uri="{FF2B5EF4-FFF2-40B4-BE49-F238E27FC236}">
                <a16:creationId xmlns:a16="http://schemas.microsoft.com/office/drawing/2014/main" id="{270CE2C2-EAE7-4B14-8880-FF1626B1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3" name="routine-label">
            <a:extLst xmlns:a="http://schemas.openxmlformats.org/drawingml/2006/main">
              <a:ext uri="{FF2B5EF4-FFF2-40B4-BE49-F238E27FC236}">
                <a16:creationId xmlns:a16="http://schemas.microsoft.com/office/drawing/2014/main" id="{2F248B4D-476A-4D9A-A444-CED599CA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SMOKE DETECTOR ANALOGY</a:t>
            </a:r>
          </a:p>
        </p:txBody>
      </p:sp>
      <p:sp>
        <p:nvSpPr>
          <p:cNvPr id="24" name="routine-question">
            <a:extLst xmlns:a="http://schemas.openxmlformats.org/drawingml/2006/main">
              <a:ext uri="{FF2B5EF4-FFF2-40B4-BE49-F238E27FC236}">
                <a16:creationId xmlns:a16="http://schemas.microsoft.com/office/drawing/2014/main" id="{37FF5AAC-05DF-4382-B93A-C22ED0B4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Test it with controlled smoke before trusting silence.</a:t>
            </a:r>
          </a:p>
        </p:txBody>
      </p:sp>
      <p:sp>
        <p:nvSpPr>
          <p:cNvPr id="25" name="evalbracket-label">
            <a:extLst xmlns:a="http://schemas.openxmlformats.org/drawingml/2006/main">
              <a:ext uri="{FF2B5EF4-FFF2-40B4-BE49-F238E27FC236}">
                <a16:creationId xmlns:a16="http://schemas.microsoft.com/office/drawing/2014/main" id="{8502A089-278C-467A-A7CF-E47980C8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EVALBRACKET</a:t>
            </a:r>
          </a:p>
        </p:txBody>
      </p:sp>
      <p:sp>
        <p:nvSpPr>
          <p:cNvPr id="26" name="evalbracket-question">
            <a:extLst xmlns:a="http://schemas.openxmlformats.org/drawingml/2006/main">
              <a:ext uri="{FF2B5EF4-FFF2-40B4-BE49-F238E27FC236}">
                <a16:creationId xmlns:a16="http://schemas.microsoft.com/office/drawing/2014/main" id="{E34FBEED-039D-41B9-9F7D-4226E291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Test the evaluation on hidden-capability controls before trusting a negative result.</a:t>
            </a:r>
          </a:p>
        </p:txBody>
      </p:sp>
      <p:sp>
        <p:nvSpPr>
          <p:cNvPr id="27" name="control-check-bg">
            <a:extLst xmlns:a="http://schemas.openxmlformats.org/drawingml/2006/main">
              <a:ext uri="{FF2B5EF4-FFF2-40B4-BE49-F238E27FC236}">
                <a16:creationId xmlns:a16="http://schemas.microsoft.com/office/drawing/2014/main" id="{6859B259-C58A-4E47-BA55-FA2C3D4D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620000" cy="36195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3522"/>
          </a:solidFill>
          <a:ln xmlns:a="http://schemas.openxmlformats.org/drawingml/2006/main" w="9525">
            <a:solidFill>
              <a:srgbClr val="103522"/>
            </a:solidFill>
            <a:prstDash val="solid"/>
          </a:ln>
        </p:spPr>
      </p:sp>
      <p:sp>
        <p:nvSpPr>
          <p:cNvPr id="28" name="control-check-text">
            <a:extLst xmlns:a="http://schemas.openxmlformats.org/drawingml/2006/main">
              <a:ext uri="{FF2B5EF4-FFF2-40B4-BE49-F238E27FC236}">
                <a16:creationId xmlns:a16="http://schemas.microsoft.com/office/drawing/2014/main" id="{5D550861-8759-42E7-A519-A8AD17AA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5D39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39D"/>
                </a:solidFill>
                <a:latin typeface="Arial"/>
                <a:ea typeface="Arial"/>
                <a:cs typeface="Arial"/>
              </a:rPr>
              <a:t>Same principle: prove detection before trusting a negative result.</a:t>
            </a:r>
          </a:p>
        </p:txBody>
      </p:sp>
      <p:sp>
        <p:nvSpPr>
          <p:cNvPr id="30" name="model-x-rule-580">
            <a:extLst xmlns:a="http://schemas.openxmlformats.org/drawingml/2006/main">
              <a:ext uri="{FF2B5EF4-FFF2-40B4-BE49-F238E27FC236}">
                <a16:creationId xmlns:a16="http://schemas.microsoft.com/office/drawing/2014/main" id="{01048040-73D1-4713-8162-4BDAB303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odel-x-label-580">
            <a:extLst xmlns:a="http://schemas.openxmlformats.org/drawingml/2006/main">
              <a:ext uri="{FF2B5EF4-FFF2-40B4-BE49-F238E27FC236}">
                <a16:creationId xmlns:a16="http://schemas.microsoft.com/office/drawing/2014/main" id="{1EB0935D-CE08-470F-B476-D1BF8789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32" name="model-x-body-580">
            <a:extLst xmlns:a="http://schemas.openxmlformats.org/drawingml/2006/main">
              <a:ext uri="{FF2B5EF4-FFF2-40B4-BE49-F238E27FC236}">
                <a16:creationId xmlns:a16="http://schemas.microsoft.com/office/drawing/2014/main" id="{5394E3F8-D9F1-4DE0-BE77-5AAFFEEF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864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EvalBracket reports the strongest capability found at each access level.</a:t>
            </a:r>
          </a:p>
        </p:txBody>
      </p:sp>
      <p:sp>
        <p:nvSpPr>
          <p:cNvPr id="3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54EE4826-93FA-4273-8EB1-CDE0F61D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38095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38095"/>
                </a:solidFill>
                <a:latin typeface="Arial"/>
                <a:ea typeface="Arial"/>
                <a:cs typeface="Arial"/>
              </a:rPr>
              <a:t>03 / 13</a:t>
            </a:r>
          </a:p>
        </p:txBody>
      </p:sp>
    </p:spTree>
    <p:extLst>
      <p:ext uri="{BB962C8B-B14F-4D97-AF65-F5344CB8AC3E}">
        <p14:creationId xmlns:p14="http://schemas.microsoft.com/office/powerpoint/2010/main" val="6875539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13312D0D-10D8-4DFE-B21E-3849372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WHERE EVALBRACKET FITS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613358-81F0-484B-B388-E15AC39B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EvalBracket tests the evidence behind a below-threshold claim.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BF25A9A8-9207-438C-9587-29085BEA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8D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A66189D-249B-4E8A-8859-AB423E25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E5D9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176AA1-34DB-44BD-B100-AD882196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tep-1-circle">
            <a:extLst xmlns:a="http://schemas.openxmlformats.org/drawingml/2006/main">
              <a:ext uri="{FF2B5EF4-FFF2-40B4-BE49-F238E27FC236}">
                <a16:creationId xmlns:a16="http://schemas.microsoft.com/office/drawing/2014/main" id="{05805C8E-5595-481B-AAE3-1FD9DF85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D5C4"/>
            </a:solidFill>
            <a:prstDash val="solid"/>
          </a:ln>
        </p:spPr>
      </p:sp>
      <p:sp>
        <p:nvSpPr>
          <p:cNvPr id="7" name="step-1-num">
            <a:extLst xmlns:a="http://schemas.openxmlformats.org/drawingml/2006/main">
              <a:ext uri="{FF2B5EF4-FFF2-40B4-BE49-F238E27FC236}">
                <a16:creationId xmlns:a16="http://schemas.microsoft.com/office/drawing/2014/main" id="{56BA74A3-319E-4901-889F-C350BC26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AA15BED0-E244-4505-A016-54279F86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Capability framework</a:t>
            </a:r>
          </a:p>
        </p:txBody>
      </p:sp>
      <p:sp>
        <p:nvSpPr>
          <p:cNvPr id="9" name="step-1-body">
            <a:extLst xmlns:a="http://schemas.openxmlformats.org/drawingml/2006/main">
              <a:ext uri="{FF2B5EF4-FFF2-40B4-BE49-F238E27FC236}">
                <a16:creationId xmlns:a16="http://schemas.microsoft.com/office/drawing/2014/main" id="{09A01F6C-56B7-480A-98F4-AE792F12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6C8"/>
                </a:solidFill>
                <a:latin typeface="Arial"/>
                <a:ea typeface="Arial"/>
                <a:cs typeface="Arial"/>
              </a:rPr>
              <a:t>Defines levels, thresholds, and actions.</a:t>
            </a:r>
          </a:p>
        </p:txBody>
      </p:sp>
      <p:sp>
        <p:nvSpPr>
          <p:cNvPr id="10" name="step-2-circle">
            <a:extLst xmlns:a="http://schemas.openxmlformats.org/drawingml/2006/main">
              <a:ext uri="{FF2B5EF4-FFF2-40B4-BE49-F238E27FC236}">
                <a16:creationId xmlns:a16="http://schemas.microsoft.com/office/drawing/2014/main" id="{4DDCF783-0BF0-4D85-AB61-94FEF27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D5C4"/>
            </a:solidFill>
            <a:prstDash val="solid"/>
          </a:ln>
        </p:spPr>
      </p:sp>
      <p:sp>
        <p:nvSpPr>
          <p:cNvPr id="11" name="step-2-num">
            <a:extLst xmlns:a="http://schemas.openxmlformats.org/drawingml/2006/main">
              <a:ext uri="{FF2B5EF4-FFF2-40B4-BE49-F238E27FC236}">
                <a16:creationId xmlns:a16="http://schemas.microsoft.com/office/drawing/2014/main" id="{7DE6482A-4913-4798-AA31-B36E3F2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6B4D57DD-C3B9-4830-B80C-1271D3EC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Capability evaluation</a:t>
            </a:r>
          </a:p>
        </p:txBody>
      </p:sp>
      <p:sp>
        <p:nvSpPr>
          <p:cNvPr id="13" name="step-2-body">
            <a:extLst xmlns:a="http://schemas.openxmlformats.org/drawingml/2006/main">
              <a:ext uri="{FF2B5EF4-FFF2-40B4-BE49-F238E27FC236}">
                <a16:creationId xmlns:a16="http://schemas.microsoft.com/office/drawing/2014/main" id="{0D54750B-3C78-4AE0-A342-B0B21BA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6C8"/>
                </a:solidFill>
                <a:latin typeface="Arial"/>
                <a:ea typeface="Arial"/>
                <a:cs typeface="Arial"/>
              </a:rPr>
              <a:t>Measures the model at a declared access level.</a:t>
            </a:r>
          </a:p>
        </p:txBody>
      </p:sp>
      <p:sp>
        <p:nvSpPr>
          <p:cNvPr id="14" name="step-3-circle">
            <a:extLst xmlns:a="http://schemas.openxmlformats.org/drawingml/2006/main">
              <a:ext uri="{FF2B5EF4-FFF2-40B4-BE49-F238E27FC236}">
                <a16:creationId xmlns:a16="http://schemas.microsoft.com/office/drawing/2014/main" id="{C52F77C6-3FF7-4609-885F-7932BA4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D5C4"/>
            </a:solidFill>
            <a:prstDash val="solid"/>
          </a:ln>
        </p:spPr>
      </p:sp>
      <p:sp>
        <p:nvSpPr>
          <p:cNvPr id="15" name="step-3-num">
            <a:extLst xmlns:a="http://schemas.openxmlformats.org/drawingml/2006/main">
              <a:ext uri="{FF2B5EF4-FFF2-40B4-BE49-F238E27FC236}">
                <a16:creationId xmlns:a16="http://schemas.microsoft.com/office/drawing/2014/main" id="{F8DAC348-5A88-4E86-8D6E-26CDBB83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D1EA6850-C349-4A22-AB0F-84188C60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Elicitation methods</a:t>
            </a:r>
          </a:p>
        </p:txBody>
      </p:sp>
      <p:sp>
        <p:nvSpPr>
          <p:cNvPr id="17" name="step-3-body">
            <a:extLst xmlns:a="http://schemas.openxmlformats.org/drawingml/2006/main">
              <a:ext uri="{FF2B5EF4-FFF2-40B4-BE49-F238E27FC236}">
                <a16:creationId xmlns:a16="http://schemas.microsoft.com/office/drawing/2014/main" id="{672EE414-FBBF-41F3-9A84-978D7CA5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6C8"/>
                </a:solidFill>
                <a:latin typeface="Arial"/>
                <a:ea typeface="Arial"/>
                <a:cs typeface="Arial"/>
              </a:rPr>
              <a:t>Prompts, tools, red teaming, and tuning try to expose capability.</a:t>
            </a:r>
          </a:p>
        </p:txBody>
      </p:sp>
      <p:sp>
        <p:nvSpPr>
          <p:cNvPr id="18" name="step-4-circle">
            <a:extLst xmlns:a="http://schemas.openxmlformats.org/drawingml/2006/main">
              <a:ext uri="{FF2B5EF4-FFF2-40B4-BE49-F238E27FC236}">
                <a16:creationId xmlns:a16="http://schemas.microsoft.com/office/drawing/2014/main" id="{F15D6DB3-77F7-4A39-B4AD-F6077082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D5C4"/>
            </a:solidFill>
            <a:prstDash val="solid"/>
          </a:ln>
        </p:spPr>
      </p:sp>
      <p:sp>
        <p:nvSpPr>
          <p:cNvPr id="19" name="step-4-num">
            <a:extLst xmlns:a="http://schemas.openxmlformats.org/drawingml/2006/main">
              <a:ext uri="{FF2B5EF4-FFF2-40B4-BE49-F238E27FC236}">
                <a16:creationId xmlns:a16="http://schemas.microsoft.com/office/drawing/2014/main" id="{3EFCA684-2318-43C5-AEEA-DB48ED11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9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5737B101-53A6-4AE6-A419-08B6B00B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Safeguards</a:t>
            </a:r>
          </a:p>
        </p:txBody>
      </p:sp>
      <p:sp>
        <p:nvSpPr>
          <p:cNvPr id="21" name="step-4-body">
            <a:extLst xmlns:a="http://schemas.openxmlformats.org/drawingml/2006/main">
              <a:ext uri="{FF2B5EF4-FFF2-40B4-BE49-F238E27FC236}">
                <a16:creationId xmlns:a16="http://schemas.microsoft.com/office/drawing/2014/main" id="{3D564C72-1EB2-48D7-BE44-CFB3FD72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6C8"/>
                </a:solidFill>
                <a:latin typeface="Arial"/>
                <a:ea typeface="Arial"/>
                <a:cs typeface="Arial"/>
              </a:rPr>
              <a:t>Separately reduce real-world harm.</a:t>
            </a:r>
          </a:p>
        </p:txBody>
      </p:sp>
      <p:sp>
        <p:nvSpPr>
          <p:cNvPr id="22" name="mid-divider">
            <a:extLst xmlns:a="http://schemas.openxmlformats.org/drawingml/2006/main">
              <a:ext uri="{FF2B5EF4-FFF2-40B4-BE49-F238E27FC236}">
                <a16:creationId xmlns:a16="http://schemas.microsoft.com/office/drawing/2014/main" id="{270CE2C2-EAE7-4B14-8880-FF1626B1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3" name="routine-label">
            <a:extLst xmlns:a="http://schemas.openxmlformats.org/drawingml/2006/main">
              <a:ext uri="{FF2B5EF4-FFF2-40B4-BE49-F238E27FC236}">
                <a16:creationId xmlns:a16="http://schemas.microsoft.com/office/drawing/2014/main" id="{2F248B4D-476A-4D9A-A444-CED599CA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WHAT PROVIDERS DO TODAY</a:t>
            </a:r>
          </a:p>
        </p:txBody>
      </p:sp>
      <p:sp>
        <p:nvSpPr>
          <p:cNvPr id="24" name="routine-question">
            <a:extLst xmlns:a="http://schemas.openxmlformats.org/drawingml/2006/main">
              <a:ext uri="{FF2B5EF4-FFF2-40B4-BE49-F238E27FC236}">
                <a16:creationId xmlns:a16="http://schemas.microsoft.com/office/drawing/2014/main" id="{37FF5AAC-05DF-4382-B93A-C22ED0B4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Run multiple methods and report what they found.</a:t>
            </a:r>
          </a:p>
        </p:txBody>
      </p:sp>
      <p:sp>
        <p:nvSpPr>
          <p:cNvPr id="25" name="evalbracket-label">
            <a:extLst xmlns:a="http://schemas.openxmlformats.org/drawingml/2006/main">
              <a:ext uri="{FF2B5EF4-FFF2-40B4-BE49-F238E27FC236}">
                <a16:creationId xmlns:a16="http://schemas.microsoft.com/office/drawing/2014/main" id="{8502A089-278C-467A-A7CF-E47980C8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WHAT EVALBRACKET ADDS</a:t>
            </a:r>
          </a:p>
        </p:txBody>
      </p:sp>
      <p:sp>
        <p:nvSpPr>
          <p:cNvPr id="26" name="evalbracket-question">
            <a:extLst xmlns:a="http://schemas.openxmlformats.org/drawingml/2006/main">
              <a:ext uri="{FF2B5EF4-FFF2-40B4-BE49-F238E27FC236}">
                <a16:creationId xmlns:a16="http://schemas.microsoft.com/office/drawing/2014/main" id="{E34FBEED-039D-41B9-9F7D-4226E291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Show that those methods can find capability deliberately hidden in controls.</a:t>
            </a:r>
          </a:p>
        </p:txBody>
      </p:sp>
      <p:sp>
        <p:nvSpPr>
          <p:cNvPr id="27" name="control-check-bg">
            <a:extLst xmlns:a="http://schemas.openxmlformats.org/drawingml/2006/main">
              <a:ext uri="{FF2B5EF4-FFF2-40B4-BE49-F238E27FC236}">
                <a16:creationId xmlns:a16="http://schemas.microsoft.com/office/drawing/2014/main" id="{6859B259-C58A-4E47-BA55-FA2C3D4D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36195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3522"/>
          </a:solidFill>
          <a:ln xmlns:a="http://schemas.openxmlformats.org/drawingml/2006/main" w="9525">
            <a:solidFill>
              <a:srgbClr val="103522"/>
            </a:solidFill>
            <a:prstDash val="solid"/>
          </a:ln>
        </p:spPr>
      </p:sp>
      <p:sp>
        <p:nvSpPr>
          <p:cNvPr id="28" name="control-check-text">
            <a:extLst xmlns:a="http://schemas.openxmlformats.org/drawingml/2006/main">
              <a:ext uri="{FF2B5EF4-FFF2-40B4-BE49-F238E27FC236}">
                <a16:creationId xmlns:a16="http://schemas.microsoft.com/office/drawing/2014/main" id="{5D550861-8759-42E7-A519-A8AD17AA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811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5D39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39D"/>
                </a:solidFill>
                <a:latin typeface="Arial"/>
                <a:ea typeface="Arial"/>
                <a:cs typeface="Arial"/>
              </a:rPr>
              <a:t>EvalBracket qualifies the tests. It does not replace capability frameworks or safeguards.</a:t>
            </a:r>
          </a:p>
        </p:txBody>
      </p:sp>
      <p:sp>
        <p:nvSpPr>
          <p:cNvPr id="30" name="model-x-rule-580">
            <a:extLst xmlns:a="http://schemas.openxmlformats.org/drawingml/2006/main">
              <a:ext uri="{FF2B5EF4-FFF2-40B4-BE49-F238E27FC236}">
                <a16:creationId xmlns:a16="http://schemas.microsoft.com/office/drawing/2014/main" id="{01048040-73D1-4713-8162-4BDAB303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odel-x-label-580">
            <a:extLst xmlns:a="http://schemas.openxmlformats.org/drawingml/2006/main">
              <a:ext uri="{FF2B5EF4-FFF2-40B4-BE49-F238E27FC236}">
                <a16:creationId xmlns:a16="http://schemas.microsoft.com/office/drawing/2014/main" id="{1EB0935D-CE08-470F-B476-D1BF8789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REAL-WORLD EXAMPLE</a:t>
            </a:r>
          </a:p>
        </p:txBody>
      </p:sp>
      <p:sp>
        <p:nvSpPr>
          <p:cNvPr id="32" name="model-x-body-580">
            <a:extLst xmlns:a="http://schemas.openxmlformats.org/drawingml/2006/main">
              <a:ext uri="{FF2B5EF4-FFF2-40B4-BE49-F238E27FC236}">
                <a16:creationId xmlns:a16="http://schemas.microsoft.com/office/drawing/2014/main" id="{5394E3F8-D9F1-4DE0-BE77-5AAFFEEF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864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8B6C8"/>
                </a:solidFill>
                <a:latin typeface="Arial"/>
                <a:ea typeface="Arial"/>
                <a:cs typeface="Arial"/>
              </a:rPr>
              <a:t>A provider may report what prompts, tools, and red-team methods were tried. EvalBracket asks whether those same methods found hidden capability in controls.</a:t>
            </a:r>
          </a:p>
        </p:txBody>
      </p:sp>
      <p:sp>
        <p:nvSpPr>
          <p:cNvPr id="3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9BD2F412-9BD2-413F-BB71-0E324DDC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38095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38095"/>
                </a:solidFill>
                <a:latin typeface="Arial"/>
                <a:ea typeface="Arial"/>
                <a:cs typeface="Arial"/>
              </a:rPr>
              <a:t>04 / 13</a:t>
            </a:r>
          </a:p>
        </p:txBody>
      </p:sp>
    </p:spTree>
    <p:extLst>
      <p:ext uri="{BB962C8B-B14F-4D97-AF65-F5344CB8AC3E}">
        <p14:creationId xmlns:p14="http://schemas.microsoft.com/office/powerpoint/2010/main" val="6875539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D2273C65-249D-4877-A492-88897563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THE EVIDENCE GAP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A6A6BE-43BC-40D0-B839-6CAD9C43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A test that finds nothing does not prove nothing is there.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414E19DC-931D-41F5-A1F8-4C008BBB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8D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02C9B31-465B-451C-9087-66264A7F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E5D9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974193-617F-4D47-A948-FA021BA8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observed-card">
            <a:extLst xmlns:a="http://schemas.openxmlformats.org/drawingml/2006/main">
              <a:ext uri="{FF2B5EF4-FFF2-40B4-BE49-F238E27FC236}">
                <a16:creationId xmlns:a16="http://schemas.microsoft.com/office/drawing/2014/main" id="{180B8779-DA11-40E5-B3A4-5DA6E07C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4762500" cy="1866900"/>
          </a:xfrm>
          <a:prstGeom xmlns:a="http://schemas.openxmlformats.org/drawingml/2006/main" prst="roundRect">
            <a:avLst>
              <a:gd name="adj" fmla="val 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7" name="observed-label">
            <a:extLst xmlns:a="http://schemas.openxmlformats.org/drawingml/2006/main">
              <a:ext uri="{FF2B5EF4-FFF2-40B4-BE49-F238E27FC236}">
                <a16:creationId xmlns:a16="http://schemas.microsoft.com/office/drawing/2014/main" id="{B7E174C6-4A85-4E48-9F88-58E90581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WHAT THE TEST FOUND</a:t>
            </a:r>
          </a:p>
        </p:txBody>
      </p:sp>
      <p:sp>
        <p:nvSpPr>
          <p:cNvPr id="8" name="observed-text">
            <a:extLst xmlns:a="http://schemas.openxmlformats.org/drawingml/2006/main">
              <a:ext uri="{FF2B5EF4-FFF2-40B4-BE49-F238E27FC236}">
                <a16:creationId xmlns:a16="http://schemas.microsoft.com/office/drawing/2014/main" id="{6FBCB5C3-D87C-4509-9BF4-499C2277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The tested methods did not uncover the capability.</a:t>
            </a:r>
          </a:p>
        </p:txBody>
      </p:sp>
      <p:sp>
        <p:nvSpPr>
          <p:cNvPr id="9" name="not-equal">
            <a:extLst xmlns:a="http://schemas.openxmlformats.org/drawingml/2006/main">
              <a:ext uri="{FF2B5EF4-FFF2-40B4-BE49-F238E27FC236}">
                <a16:creationId xmlns:a16="http://schemas.microsoft.com/office/drawing/2014/main" id="{2CC0780C-249D-474C-A1C4-6118BAE8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57400"/>
            <a:ext cx="76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10" name="conclusion-card">
            <a:extLst xmlns:a="http://schemas.openxmlformats.org/drawingml/2006/main">
              <a:ext uri="{FF2B5EF4-FFF2-40B4-BE49-F238E27FC236}">
                <a16:creationId xmlns:a16="http://schemas.microsoft.com/office/drawing/2014/main" id="{9A969065-B848-496C-8F30-0C147FFF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04950"/>
            <a:ext cx="4762500" cy="1866900"/>
          </a:xfrm>
          <a:prstGeom xmlns:a="http://schemas.openxmlformats.org/drawingml/2006/main" prst="roundRect">
            <a:avLst>
              <a:gd name="adj" fmla="val 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1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13F4C5F1-6EEA-420A-A207-192EA671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335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WHAT WE WANT TO CLAIM</a:t>
            </a:r>
          </a:p>
        </p:txBody>
      </p:sp>
      <p:sp>
        <p:nvSpPr>
          <p:cNvPr id="12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F51526B5-9A00-4D32-95A7-2979138E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5265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The capability stays below threshold.</a:t>
            </a:r>
          </a:p>
        </p:txBody>
      </p:sp>
      <p:sp>
        <p:nvSpPr>
          <p:cNvPr id="13" name="elicitation-card">
            <a:extLst xmlns:a="http://schemas.openxmlformats.org/drawingml/2006/main">
              <a:ext uri="{FF2B5EF4-FFF2-40B4-BE49-F238E27FC236}">
                <a16:creationId xmlns:a16="http://schemas.microsoft.com/office/drawing/2014/main" id="{B7633534-666A-4FE8-9028-FA394357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11277600" cy="1466850"/>
          </a:xfrm>
          <a:prstGeom xmlns:a="http://schemas.openxmlformats.org/drawingml/2006/main" prst="roundRect">
            <a:avLst>
              <a:gd name="adj" fmla="val 625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4" name="elicitation-label">
            <a:extLst xmlns:a="http://schemas.openxmlformats.org/drawingml/2006/main">
              <a:ext uri="{FF2B5EF4-FFF2-40B4-BE49-F238E27FC236}">
                <a16:creationId xmlns:a16="http://schemas.microsoft.com/office/drawing/2014/main" id="{2156E75A-907E-4A8F-AD37-4775A00D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THE MISSING EVIDENCE</a:t>
            </a:r>
          </a:p>
        </p:txBody>
      </p:sp>
      <p:sp>
        <p:nvSpPr>
          <p:cNvPr id="15" name="elicitation-methods">
            <a:extLst xmlns:a="http://schemas.openxmlformats.org/drawingml/2006/main">
              <a:ext uri="{FF2B5EF4-FFF2-40B4-BE49-F238E27FC236}">
                <a16:creationId xmlns:a16="http://schemas.microsoft.com/office/drawing/2014/main" id="{CE1FE8BD-9919-4202-AA59-C75470E8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Could the same methods find capability known to exist but hidden?</a:t>
            </a:r>
          </a:p>
        </p:txBody>
      </p:sp>
      <p:sp>
        <p:nvSpPr>
          <p:cNvPr id="16" name="elicitation-question">
            <a:extLst xmlns:a="http://schemas.openxmlformats.org/drawingml/2006/main">
              <a:ext uri="{FF2B5EF4-FFF2-40B4-BE49-F238E27FC236}">
                <a16:creationId xmlns:a16="http://schemas.microsoft.com/office/drawing/2014/main" id="{EB826000-749C-4071-B273-361F9CED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If not, the negative result does not establish an upper bound on the model's capability.</a:t>
            </a:r>
          </a:p>
        </p:txBody>
      </p:sp>
      <p:sp>
        <p:nvSpPr>
          <p:cNvPr id="18" name="model-x-rule-535">
            <a:extLst xmlns:a="http://schemas.openxmlformats.org/drawingml/2006/main">
              <a:ext uri="{FF2B5EF4-FFF2-40B4-BE49-F238E27FC236}">
                <a16:creationId xmlns:a16="http://schemas.microsoft.com/office/drawing/2014/main" id="{2BAF4622-795B-4D80-82E6-245ECBD7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odel-x-label-535">
            <a:extLst xmlns:a="http://schemas.openxmlformats.org/drawingml/2006/main">
              <a:ext uri="{FF2B5EF4-FFF2-40B4-BE49-F238E27FC236}">
                <a16:creationId xmlns:a16="http://schemas.microsoft.com/office/drawing/2014/main" id="{C784E751-A8B7-43F4-BF3B-8E321735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REAL-WORLD EXAMPLE</a:t>
            </a:r>
          </a:p>
        </p:txBody>
      </p:sp>
      <p:sp>
        <p:nvSpPr>
          <p:cNvPr id="20" name="model-x-body-535">
            <a:extLst xmlns:a="http://schemas.openxmlformats.org/drawingml/2006/main">
              <a:ext uri="{FF2B5EF4-FFF2-40B4-BE49-F238E27FC236}">
                <a16:creationId xmlns:a16="http://schemas.microsoft.com/office/drawing/2014/main" id="{3260B4FB-4843-4550-BB9A-F7AC0D99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864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8B6C8"/>
                </a:solidFill>
                <a:latin typeface="Arial"/>
                <a:ea typeface="Arial"/>
                <a:cs typeface="Arial"/>
              </a:rPr>
              <a:t>A system card can show that many tests found no threshold-crossing behavior. EvalBracket asks whether those tests were capable of finding it if it had been hidden.</a:t>
            </a:r>
          </a:p>
        </p:txBody>
      </p:sp>
      <p:sp>
        <p:nvSpPr>
          <p:cNvPr id="21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C83BE37D-E933-4ED7-B6FB-3B857DC7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38095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38095"/>
                </a:solidFill>
                <a:latin typeface="Arial"/>
                <a:ea typeface="Arial"/>
                <a:cs typeface="Arial"/>
              </a:rPr>
              <a:t>05 / 13</a:t>
            </a:r>
          </a:p>
        </p:txBody>
      </p:sp>
    </p:spTree>
    <p:extLst>
      <p:ext uri="{BB962C8B-B14F-4D97-AF65-F5344CB8AC3E}">
        <p14:creationId xmlns:p14="http://schemas.microsoft.com/office/powerpoint/2010/main" val="8453489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1B517785-B623-46C0-AE53-5CF42BB1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ILLUSTRATIVE CAPABILITY LEVELS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A2EF97-E36A-462C-9415-1DA3D881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C1 to C5 illustrate increasing harmful cyber capability.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40E344F9-17FC-42DF-9CE1-7CCE543F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8D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4FF78B0-C016-4452-AD72-F933BA61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E5D9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BF873B-3566-405F-BE6E-6BAD0FF3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ladder-subtitle">
            <a:extLst xmlns:a="http://schemas.openxmlformats.org/drawingml/2006/main">
              <a:ext uri="{FF2B5EF4-FFF2-40B4-BE49-F238E27FC236}">
                <a16:creationId xmlns:a16="http://schemas.microsoft.com/office/drawing/2014/main" id="{BB819382-C6EC-48E4-BB13-05BE40B2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C1 is the least harmful level. C5 is the most harmful.</a:t>
            </a:r>
          </a:p>
        </p:txBody>
      </p:sp>
      <p:sp>
        <p:nvSpPr>
          <p:cNvPr id="7" name="ladder-line">
            <a:extLst xmlns:a="http://schemas.openxmlformats.org/drawingml/2006/main">
              <a:ext uri="{FF2B5EF4-FFF2-40B4-BE49-F238E27FC236}">
                <a16:creationId xmlns:a16="http://schemas.microsoft.com/office/drawing/2014/main" id="{4E808139-2942-4501-9F91-4C7EAFFC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876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3445"/>
            </a:solidFill>
            <a:prstDash val="solid"/>
          </a:ln>
        </p:spPr>
      </p:sp>
      <p:sp>
        <p:nvSpPr>
          <p:cNvPr id="8" name="level-C1">
            <a:extLst xmlns:a="http://schemas.openxmlformats.org/drawingml/2006/main">
              <a:ext uri="{FF2B5EF4-FFF2-40B4-BE49-F238E27FC236}">
                <a16:creationId xmlns:a16="http://schemas.microsoft.com/office/drawing/2014/main" id="{007EF863-1D18-4827-932A-387DBFED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62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119"/>
          </a:solidFill>
          <a:ln xmlns:a="http://schemas.openxmlformats.org/drawingml/2006/main" w="28575">
            <a:solidFill>
              <a:srgbClr val="708093"/>
            </a:solidFill>
            <a:prstDash val="solid"/>
          </a:ln>
        </p:spPr>
      </p:sp>
      <p:sp>
        <p:nvSpPr>
          <p:cNvPr id="9" name="level-C1-text">
            <a:extLst xmlns:a="http://schemas.openxmlformats.org/drawingml/2006/main">
              <a:ext uri="{FF2B5EF4-FFF2-40B4-BE49-F238E27FC236}">
                <a16:creationId xmlns:a16="http://schemas.microsoft.com/office/drawing/2014/main" id="{B7D853AC-D487-4137-976A-631DF0CA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0" name="level-C2">
            <a:extLst xmlns:a="http://schemas.openxmlformats.org/drawingml/2006/main">
              <a:ext uri="{FF2B5EF4-FFF2-40B4-BE49-F238E27FC236}">
                <a16:creationId xmlns:a16="http://schemas.microsoft.com/office/drawing/2014/main" id="{2FAFC576-4778-4BD4-9D44-B40DB61A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119"/>
          </a:solidFill>
          <a:ln xmlns:a="http://schemas.openxmlformats.org/drawingml/2006/main" w="28575">
            <a:solidFill>
              <a:srgbClr val="668A8B"/>
            </a:solidFill>
            <a:prstDash val="solid"/>
          </a:ln>
        </p:spPr>
      </p:sp>
      <p:sp>
        <p:nvSpPr>
          <p:cNvPr id="11" name="level-C2-text">
            <a:extLst xmlns:a="http://schemas.openxmlformats.org/drawingml/2006/main">
              <a:ext uri="{FF2B5EF4-FFF2-40B4-BE49-F238E27FC236}">
                <a16:creationId xmlns:a16="http://schemas.microsoft.com/office/drawing/2014/main" id="{A6E28DBF-092C-4C99-94ED-B0410A24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3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12" name="level-C3">
            <a:extLst xmlns:a="http://schemas.openxmlformats.org/drawingml/2006/main">
              <a:ext uri="{FF2B5EF4-FFF2-40B4-BE49-F238E27FC236}">
                <a16:creationId xmlns:a16="http://schemas.microsoft.com/office/drawing/2014/main" id="{09A10BA4-041E-4577-A585-E2056BDD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62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119"/>
          </a:solidFill>
          <a:ln xmlns:a="http://schemas.openxmlformats.org/drawingml/2006/main" w="28575">
            <a:solidFill>
              <a:srgbClr val="28D5C4"/>
            </a:solidFill>
            <a:prstDash val="solid"/>
          </a:ln>
        </p:spPr>
      </p:sp>
      <p:sp>
        <p:nvSpPr>
          <p:cNvPr id="13" name="level-C3-text">
            <a:extLst xmlns:a="http://schemas.openxmlformats.org/drawingml/2006/main">
              <a:ext uri="{FF2B5EF4-FFF2-40B4-BE49-F238E27FC236}">
                <a16:creationId xmlns:a16="http://schemas.microsoft.com/office/drawing/2014/main" id="{FE7A2085-D7A8-4F9C-B88E-CC37FE9A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3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4" name="level-C4">
            <a:extLst xmlns:a="http://schemas.openxmlformats.org/drawingml/2006/main">
              <a:ext uri="{FF2B5EF4-FFF2-40B4-BE49-F238E27FC236}">
                <a16:creationId xmlns:a16="http://schemas.microsoft.com/office/drawing/2014/main" id="{9B3136F7-DED8-409B-B1FE-5453B0DC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62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119"/>
          </a:solidFill>
          <a:ln xmlns:a="http://schemas.openxmlformats.org/drawingml/2006/main" w="28575">
            <a:solidFill>
              <a:srgbClr val="F0C84B"/>
            </a:solidFill>
            <a:prstDash val="solid"/>
          </a:ln>
        </p:spPr>
      </p:sp>
      <p:sp>
        <p:nvSpPr>
          <p:cNvPr id="15" name="level-C4-text">
            <a:extLst xmlns:a="http://schemas.openxmlformats.org/drawingml/2006/main">
              <a:ext uri="{FF2B5EF4-FFF2-40B4-BE49-F238E27FC236}">
                <a16:creationId xmlns:a16="http://schemas.microsoft.com/office/drawing/2014/main" id="{92BBED92-07FD-4EFD-996D-BC5D08B2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3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6" name="level-C5">
            <a:extLst xmlns:a="http://schemas.openxmlformats.org/drawingml/2006/main">
              <a:ext uri="{FF2B5EF4-FFF2-40B4-BE49-F238E27FC236}">
                <a16:creationId xmlns:a16="http://schemas.microsoft.com/office/drawing/2014/main" id="{DECC119E-D9E0-4B00-86E1-3BAD9229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62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119"/>
          </a:solidFill>
          <a:ln xmlns:a="http://schemas.openxmlformats.org/drawingml/2006/main" w="28575">
            <a:solidFill>
              <a:srgbClr val="FF6073"/>
            </a:solidFill>
            <a:prstDash val="solid"/>
          </a:ln>
        </p:spPr>
      </p:sp>
      <p:sp>
        <p:nvSpPr>
          <p:cNvPr id="17" name="level-C5-text">
            <a:extLst xmlns:a="http://schemas.openxmlformats.org/drawingml/2006/main">
              <a:ext uri="{FF2B5EF4-FFF2-40B4-BE49-F238E27FC236}">
                <a16:creationId xmlns:a16="http://schemas.microsoft.com/office/drawing/2014/main" id="{97087320-EF94-4D41-AF2A-E5363818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3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18" name="low-label">
            <a:extLst xmlns:a="http://schemas.openxmlformats.org/drawingml/2006/main">
              <a:ext uri="{FF2B5EF4-FFF2-40B4-BE49-F238E27FC236}">
                <a16:creationId xmlns:a16="http://schemas.microsoft.com/office/drawing/2014/main" id="{7882E70A-E80A-4147-8ED3-98F22F32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A6B1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6B1BF"/>
                </a:solidFill>
                <a:latin typeface="Arial"/>
                <a:ea typeface="Arial"/>
                <a:cs typeface="Arial"/>
              </a:rPr>
              <a:t>Lowest potential harm</a:t>
            </a:r>
          </a:p>
        </p:txBody>
      </p:sp>
      <p:sp>
        <p:nvSpPr>
          <p:cNvPr id="19" name="mid-label">
            <a:extLst xmlns:a="http://schemas.openxmlformats.org/drawingml/2006/main">
              <a:ext uri="{FF2B5EF4-FFF2-40B4-BE49-F238E27FC236}">
                <a16:creationId xmlns:a16="http://schemas.microsoft.com/office/drawing/2014/main" id="{71CE25CF-D979-4D18-AEE4-58945AD1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051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9E5D9"/>
                </a:solidFill>
                <a:latin typeface="Arial"/>
                <a:ea typeface="Arial"/>
                <a:cs typeface="Arial"/>
              </a:rPr>
              <a:t>Increasing harmful capability</a:t>
            </a:r>
          </a:p>
        </p:txBody>
      </p:sp>
      <p:sp>
        <p:nvSpPr>
          <p:cNvPr id="20" name="high-label">
            <a:extLst xmlns:a="http://schemas.openxmlformats.org/drawingml/2006/main">
              <a:ext uri="{FF2B5EF4-FFF2-40B4-BE49-F238E27FC236}">
                <a16:creationId xmlns:a16="http://schemas.microsoft.com/office/drawing/2014/main" id="{ACE1D396-7B2E-4B62-A80A-11FDECF5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05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FF60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6073"/>
                </a:solidFill>
                <a:latin typeface="Arial"/>
                <a:ea typeface="Arial"/>
                <a:cs typeface="Arial"/>
              </a:rPr>
              <a:t>Highest potential harm</a:t>
            </a:r>
          </a:p>
        </p:txBody>
      </p:sp>
      <p:sp>
        <p:nvSpPr>
          <p:cNvPr id="21" name="framework-note">
            <a:extLst xmlns:a="http://schemas.openxmlformats.org/drawingml/2006/main">
              <a:ext uri="{FF2B5EF4-FFF2-40B4-BE49-F238E27FC236}">
                <a16:creationId xmlns:a16="http://schemas.microsoft.com/office/drawing/2014/main" id="{BDFD2DA2-B377-419A-B308-8DBA9CD8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112776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62231"/>
          </a:solidFill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2" name="framework-note-label">
            <a:extLst xmlns:a="http://schemas.openxmlformats.org/drawingml/2006/main">
              <a:ext uri="{FF2B5EF4-FFF2-40B4-BE49-F238E27FC236}">
                <a16:creationId xmlns:a16="http://schemas.microsoft.com/office/drawing/2014/main" id="{D3D06D8A-13D3-4F58-B1C4-2CD1F8D6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0C84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0C84B"/>
                </a:solidFill>
                <a:latin typeface="Arial"/>
                <a:ea typeface="Arial"/>
                <a:cs typeface="Arial"/>
              </a:rPr>
              <a:t>NOTE</a:t>
            </a:r>
          </a:p>
        </p:txBody>
      </p:sp>
      <p:sp>
        <p:nvSpPr>
          <p:cNvPr id="23" name="framework-note-title">
            <a:extLst xmlns:a="http://schemas.openxmlformats.org/drawingml/2006/main">
              <a:ext uri="{FF2B5EF4-FFF2-40B4-BE49-F238E27FC236}">
                <a16:creationId xmlns:a16="http://schemas.microsoft.com/office/drawing/2014/main" id="{7A0CB6A7-A390-4730-A86C-9CF54AE4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Each lab defines its own levels, thresholds, and boundaries.</a:t>
            </a:r>
          </a:p>
        </p:txBody>
      </p:sp>
      <p:sp>
        <p:nvSpPr>
          <p:cNvPr id="24" name="framework-note-body">
            <a:extLst xmlns:a="http://schemas.openxmlformats.org/drawingml/2006/main">
              <a:ext uri="{FF2B5EF4-FFF2-40B4-BE49-F238E27FC236}">
                <a16:creationId xmlns:a16="http://schemas.microsoft.com/office/drawing/2014/main" id="{96F0CF50-B67A-4442-A7D9-927E4339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6B1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B1BF"/>
                </a:solidFill>
                <a:latin typeface="Arial"/>
                <a:ea typeface="Arial"/>
                <a:cs typeface="Arial"/>
              </a:rPr>
              <a:t>EvalBracket uses that existing framework. The paper's 60% proxy threshold does not map to C1 to C5.</a:t>
            </a:r>
          </a:p>
        </p:txBody>
      </p:sp>
      <p:sp>
        <p:nvSpPr>
          <p:cNvPr id="26" name="model-x-rule-552">
            <a:extLst xmlns:a="http://schemas.openxmlformats.org/drawingml/2006/main">
              <a:ext uri="{FF2B5EF4-FFF2-40B4-BE49-F238E27FC236}">
                <a16:creationId xmlns:a16="http://schemas.microsoft.com/office/drawing/2014/main" id="{C6AFB902-3A00-4AF7-95F5-5607DB2A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odel-x-label-552">
            <a:extLst xmlns:a="http://schemas.openxmlformats.org/drawingml/2006/main">
              <a:ext uri="{FF2B5EF4-FFF2-40B4-BE49-F238E27FC236}">
                <a16:creationId xmlns:a16="http://schemas.microsoft.com/office/drawing/2014/main" id="{59F6301F-48E2-44B8-8A2A-B052D7F3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2C9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2C94C"/>
                </a:solidFill>
                <a:latin typeface="Arial"/>
                <a:ea typeface="Arial"/>
                <a:cs typeface="Arial"/>
              </a:rPr>
              <a:t>ILLUSTRATIVE MODEL X SCENARIO</a:t>
            </a:r>
          </a:p>
        </p:txBody>
      </p:sp>
      <p:sp>
        <p:nvSpPr>
          <p:cNvPr id="28" name="model-x-body-552">
            <a:extLst xmlns:a="http://schemas.openxmlformats.org/drawingml/2006/main">
              <a:ext uri="{FF2B5EF4-FFF2-40B4-BE49-F238E27FC236}">
                <a16:creationId xmlns:a16="http://schemas.microsoft.com/office/drawing/2014/main" id="{FE037177-8CBC-4080-A5BE-C393F599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AAB4C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AB4C3"/>
                </a:solidFill>
                <a:latin typeface="Arial"/>
                <a:ea typeface="Arial"/>
                <a:cs typeface="Arial"/>
              </a:rPr>
              <a:t>If Model X reports C3 and the lab's action threshold is C4, the decision depends on whether its evaluation could have detected C4 or C5 if present.</a:t>
            </a:r>
          </a:p>
        </p:txBody>
      </p:sp>
      <p:sp>
        <p:nvSpPr>
          <p:cNvPr id="29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FBA2D771-F795-4170-AE39-F63002E9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38095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38095"/>
                </a:solidFill>
                <a:latin typeface="Arial"/>
                <a:ea typeface="Arial"/>
                <a:cs typeface="Arial"/>
              </a:rPr>
              <a:t>06 / 13</a:t>
            </a:r>
          </a:p>
        </p:txBody>
      </p:sp>
    </p:spTree>
    <p:extLst>
      <p:ext uri="{BB962C8B-B14F-4D97-AF65-F5344CB8AC3E}">
        <p14:creationId xmlns:p14="http://schemas.microsoft.com/office/powerpoint/2010/main" val="12964783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4DD515A0-82D1-4A93-B417-1CBC85DC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THE TWO-STAGE METHOD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48A033-5D4F-4E3C-A7AF-2D558AFE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First test the evaluation. Then test the model.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1D2CA0FE-6CC7-4079-9A52-4E4A53F0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8D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E0D55E9-D315-4835-99E0-F3A90525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E5D9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75480E-7F3C-4E35-BAA9-FFB1D87A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tep-arrow">
            <a:extLst xmlns:a="http://schemas.openxmlformats.org/drawingml/2006/main">
              <a:ext uri="{FF2B5EF4-FFF2-40B4-BE49-F238E27FC236}">
                <a16:creationId xmlns:a16="http://schemas.microsoft.com/office/drawing/2014/main" id="{C5032DBF-4886-42C4-ADEA-A6FEF2BE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11811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D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ntrol-model-card">
            <a:extLst xmlns:a="http://schemas.openxmlformats.org/drawingml/2006/main">
              <a:ext uri="{FF2B5EF4-FFF2-40B4-BE49-F238E27FC236}">
                <a16:creationId xmlns:a16="http://schemas.microsoft.com/office/drawing/2014/main" id="{54B11629-A82D-40D5-A467-4FF1CD99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4762500" cy="3371850"/>
          </a:xfrm>
          <a:prstGeom xmlns:a="http://schemas.openxmlformats.org/drawingml/2006/main" prst="roundRect">
            <a:avLst>
              <a:gd name="adj" fmla="val 245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8" name="frontier-model-card">
            <a:extLst xmlns:a="http://schemas.openxmlformats.org/drawingml/2006/main">
              <a:ext uri="{FF2B5EF4-FFF2-40B4-BE49-F238E27FC236}">
                <a16:creationId xmlns:a16="http://schemas.microsoft.com/office/drawing/2014/main" id="{0C7CBB68-9C51-48E8-B6D1-64897A91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04950"/>
            <a:ext cx="4762500" cy="3371850"/>
          </a:xfrm>
          <a:prstGeom xmlns:a="http://schemas.openxmlformats.org/drawingml/2006/main" prst="roundRect">
            <a:avLst>
              <a:gd name="adj" fmla="val 245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9" name="control-step-label">
            <a:extLst xmlns:a="http://schemas.openxmlformats.org/drawingml/2006/main">
              <a:ext uri="{FF2B5EF4-FFF2-40B4-BE49-F238E27FC236}">
                <a16:creationId xmlns:a16="http://schemas.microsoft.com/office/drawing/2014/main" id="{9C232E26-83F3-4114-A983-047D0A33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1. CONTROL CHECK</a:t>
            </a:r>
          </a:p>
        </p:txBody>
      </p:sp>
      <p:sp>
        <p:nvSpPr>
          <p:cNvPr id="10" name="control-step-title">
            <a:extLst xmlns:a="http://schemas.openxmlformats.org/drawingml/2006/main">
              <a:ext uri="{FF2B5EF4-FFF2-40B4-BE49-F238E27FC236}">
                <a16:creationId xmlns:a16="http://schemas.microsoft.com/office/drawing/2014/main" id="{947925F3-77DD-489D-8749-7A74B7DE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Can these tests find hidden capability?</a:t>
            </a:r>
          </a:p>
        </p:txBody>
      </p:sp>
      <p:sp>
        <p:nvSpPr>
          <p:cNvPr id="11" name="control-step-body">
            <a:extLst xmlns:a="http://schemas.openxmlformats.org/drawingml/2006/main">
              <a:ext uri="{FF2B5EF4-FFF2-40B4-BE49-F238E27FC236}">
                <a16:creationId xmlns:a16="http://schemas.microsoft.com/office/drawing/2014/main" id="{2D8A6525-1D0F-48ED-B4BA-D48A77A5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6C8"/>
                </a:solidFill>
                <a:latin typeface="Arial"/>
                <a:ea typeface="Arial"/>
                <a:cs typeface="Arial"/>
              </a:rPr>
              <a:t>Run them on held-out control models without the password.</a:t>
            </a:r>
          </a:p>
        </p:txBody>
      </p:sp>
      <p:sp>
        <p:nvSpPr>
          <p:cNvPr id="12" name="control-question-bg">
            <a:extLst xmlns:a="http://schemas.openxmlformats.org/drawingml/2006/main">
              <a:ext uri="{FF2B5EF4-FFF2-40B4-BE49-F238E27FC236}">
                <a16:creationId xmlns:a16="http://schemas.microsoft.com/office/drawing/2014/main" id="{CC6CDD69-7C2F-4CCB-B60D-9AAEFAFF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3810000" cy="36195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3522"/>
          </a:solidFill>
          <a:ln xmlns:a="http://schemas.openxmlformats.org/drawingml/2006/main" w="9525">
            <a:solidFill>
              <a:srgbClr val="103522"/>
            </a:solidFill>
            <a:prstDash val="solid"/>
          </a:ln>
        </p:spPr>
      </p:sp>
      <p:sp>
        <p:nvSpPr>
          <p:cNvPr id="13" name="control-question-text">
            <a:extLst xmlns:a="http://schemas.openxmlformats.org/drawingml/2006/main">
              <a:ext uri="{FF2B5EF4-FFF2-40B4-BE49-F238E27FC236}">
                <a16:creationId xmlns:a16="http://schemas.microsoft.com/office/drawing/2014/main" id="{CB1E478B-73A5-41BB-807B-271CC3DE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58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5D3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39D"/>
                </a:solidFill>
                <a:latin typeface="Arial"/>
                <a:ea typeface="Arial"/>
                <a:cs typeface="Arial"/>
              </a:rPr>
              <a:t>Did the control check pass?</a:t>
            </a:r>
          </a:p>
        </p:txBody>
      </p:sp>
      <p:sp>
        <p:nvSpPr>
          <p:cNvPr id="14" name="arrow-yes">
            <a:extLst xmlns:a="http://schemas.openxmlformats.org/drawingml/2006/main">
              <a:ext uri="{FF2B5EF4-FFF2-40B4-BE49-F238E27FC236}">
                <a16:creationId xmlns:a16="http://schemas.microsoft.com/office/drawing/2014/main" id="{1A41BF41-5637-4F4E-A7B4-54AE504A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ONLY IF YES</a:t>
            </a:r>
          </a:p>
        </p:txBody>
      </p:sp>
      <p:sp>
        <p:nvSpPr>
          <p:cNvPr id="15" name="arrow-copy">
            <a:extLst xmlns:a="http://schemas.openxmlformats.org/drawingml/2006/main">
              <a:ext uri="{FF2B5EF4-FFF2-40B4-BE49-F238E27FC236}">
                <a16:creationId xmlns:a16="http://schemas.microsoft.com/office/drawing/2014/main" id="{74CDD0A3-80AD-4386-8326-503C286A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956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Recovery and coverage requirements pass</a:t>
            </a:r>
          </a:p>
        </p:txBody>
      </p:sp>
      <p:sp>
        <p:nvSpPr>
          <p:cNvPr id="16" name="frontier-step-label">
            <a:extLst xmlns:a="http://schemas.openxmlformats.org/drawingml/2006/main">
              <a:ext uri="{FF2B5EF4-FFF2-40B4-BE49-F238E27FC236}">
                <a16:creationId xmlns:a16="http://schemas.microsoft.com/office/drawing/2014/main" id="{8DD95601-5F8B-4287-B526-D8036DE5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526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2. FRONTIER CHECKPOINT</a:t>
            </a:r>
          </a:p>
        </p:txBody>
      </p:sp>
      <p:sp>
        <p:nvSpPr>
          <p:cNvPr id="17" name="frontier-step-title">
            <a:extLst xmlns:a="http://schemas.openxmlformats.org/drawingml/2006/main">
              <a:ext uri="{FF2B5EF4-FFF2-40B4-BE49-F238E27FC236}">
                <a16:creationId xmlns:a16="http://schemas.microsoft.com/office/drawing/2014/main" id="{7FCCA7DA-AC66-4A62-BC4B-4FB6C4F5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What capability do the same tests reveal?</a:t>
            </a:r>
          </a:p>
        </p:txBody>
      </p:sp>
      <p:sp>
        <p:nvSpPr>
          <p:cNvPr id="18" name="frontier-step-body">
            <a:extLst xmlns:a="http://schemas.openxmlformats.org/drawingml/2006/main">
              <a:ext uri="{FF2B5EF4-FFF2-40B4-BE49-F238E27FC236}">
                <a16:creationId xmlns:a16="http://schemas.microsoft.com/office/drawing/2014/main" id="{DA75C215-BA25-47FA-9115-1582CF59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6C8"/>
                </a:solidFill>
                <a:latin typeface="Arial"/>
                <a:ea typeface="Arial"/>
                <a:cs typeface="Arial"/>
              </a:rPr>
              <a:t>Keep access, tools, time, and compute unchanged.</a:t>
            </a:r>
          </a:p>
        </p:txBody>
      </p:sp>
      <p:sp>
        <p:nvSpPr>
          <p:cNvPr id="19" name="frontier-question-bg">
            <a:extLst xmlns:a="http://schemas.openxmlformats.org/drawingml/2006/main">
              <a:ext uri="{FF2B5EF4-FFF2-40B4-BE49-F238E27FC236}">
                <a16:creationId xmlns:a16="http://schemas.microsoft.com/office/drawing/2014/main" id="{4A67CE59-F16F-4912-A8B0-6C3F3D9D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3810000" cy="36195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3522"/>
          </a:solidFill>
          <a:ln xmlns:a="http://schemas.openxmlformats.org/drawingml/2006/main" w="9525">
            <a:solidFill>
              <a:srgbClr val="103522"/>
            </a:solidFill>
            <a:prstDash val="solid"/>
          </a:ln>
        </p:spPr>
      </p:sp>
      <p:sp>
        <p:nvSpPr>
          <p:cNvPr id="20" name="frontier-question-text">
            <a:extLst xmlns:a="http://schemas.openxmlformats.org/drawingml/2006/main">
              <a:ext uri="{FF2B5EF4-FFF2-40B4-BE49-F238E27FC236}">
                <a16:creationId xmlns:a16="http://schemas.microsoft.com/office/drawing/2014/main" id="{DE382EC8-EDE1-42A1-8ED5-A523CDAB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91000"/>
            <a:ext cx="358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5D3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39D"/>
                </a:solidFill>
                <a:latin typeface="Arial"/>
                <a:ea typeface="Arial"/>
                <a:cs typeface="Arial"/>
              </a:rPr>
              <a:t>What did the frontier model reveal?</a:t>
            </a:r>
          </a:p>
        </p:txBody>
      </p:sp>
      <p:sp>
        <p:nvSpPr>
          <p:cNvPr id="21" name="coverage-caveat">
            <a:extLst xmlns:a="http://schemas.openxmlformats.org/drawingml/2006/main">
              <a:ext uri="{FF2B5EF4-FFF2-40B4-BE49-F238E27FC236}">
                <a16:creationId xmlns:a16="http://schemas.microsoft.com/office/drawing/2014/main" id="{3AFFC75A-FE46-4DD9-BD21-5BBD4299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A positive result is direct evidence. A negative result is credible only after the control check passes.</a:t>
            </a:r>
          </a:p>
        </p:txBody>
      </p:sp>
      <p:sp>
        <p:nvSpPr>
          <p:cNvPr id="2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E05A6777-D50D-42BB-A85E-72C7AE91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38095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38095"/>
                </a:solidFill>
                <a:latin typeface="Arial"/>
                <a:ea typeface="Arial"/>
                <a:cs typeface="Arial"/>
              </a:rPr>
              <a:t>07 / 13</a:t>
            </a:r>
          </a:p>
        </p:txBody>
      </p:sp>
    </p:spTree>
    <p:extLst>
      <p:ext uri="{BB962C8B-B14F-4D97-AF65-F5344CB8AC3E}">
        <p14:creationId xmlns:p14="http://schemas.microsoft.com/office/powerpoint/2010/main" val="6832872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D96CD60F-A6AC-45A3-92EB-36CE7C27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HOW THE CONTROL MODEL WORKS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190B29-89E5-488F-A01E-450624FC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The control model makes the evaluation testable.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33DE136E-A642-45C1-989D-E7502667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8D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CFC5A8F-D3D7-4D2A-BAD9-D38D9BD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E5D9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2CD8F9-C21B-4ED2-91D3-925E30C1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access-card-1">
            <a:extLst xmlns:a="http://schemas.openxmlformats.org/drawingml/2006/main">
              <a:ext uri="{FF2B5EF4-FFF2-40B4-BE49-F238E27FC236}">
                <a16:creationId xmlns:a16="http://schemas.microsoft.com/office/drawing/2014/main" id="{7EC1E931-B5F4-4D4A-9B7F-14117C82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162231"/>
          </a:solidFill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7" name="access-accent-1">
            <a:extLst xmlns:a="http://schemas.openxmlformats.org/drawingml/2006/main">
              <a:ext uri="{FF2B5EF4-FFF2-40B4-BE49-F238E27FC236}">
                <a16:creationId xmlns:a16="http://schemas.microsoft.com/office/drawing/2014/main" id="{E3238D7E-0920-40D3-9000-64871FF3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5C4"/>
          </a:solidFill>
          <a:ln xmlns:a="http://schemas.openxmlformats.org/drawingml/2006/main" w="0">
            <a:solidFill>
              <a:srgbClr val="28D5C4"/>
            </a:solidFill>
            <a:prstDash val="solid"/>
          </a:ln>
        </p:spPr>
      </p:sp>
      <p:sp>
        <p:nvSpPr>
          <p:cNvPr id="8" name="access-title-1">
            <a:extLst xmlns:a="http://schemas.openxmlformats.org/drawingml/2006/main">
              <a:ext uri="{FF2B5EF4-FFF2-40B4-BE49-F238E27FC236}">
                <a16:creationId xmlns:a16="http://schemas.microsoft.com/office/drawing/2014/main" id="{509A39D0-E372-440A-A4D0-9E6697D9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1. CAPABILITY PRESENT</a:t>
            </a:r>
          </a:p>
        </p:txBody>
      </p:sp>
      <p:sp>
        <p:nvSpPr>
          <p:cNvPr id="9" name="methods-label-1">
            <a:extLst xmlns:a="http://schemas.openxmlformats.org/drawingml/2006/main">
              <a:ext uri="{FF2B5EF4-FFF2-40B4-BE49-F238E27FC236}">
                <a16:creationId xmlns:a16="http://schemas.microsoft.com/office/drawing/2014/main" id="{E634AB17-9DA9-4638-9403-0D75017F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UNLOCKED CONTROL</a:t>
            </a:r>
          </a:p>
        </p:txBody>
      </p:sp>
      <p:sp>
        <p:nvSpPr>
          <p:cNvPr id="10" name="methods-text-1">
            <a:extLst xmlns:a="http://schemas.openxmlformats.org/drawingml/2006/main">
              <a:ext uri="{FF2B5EF4-FFF2-40B4-BE49-F238E27FC236}">
                <a16:creationId xmlns:a16="http://schemas.microsoft.com/office/drawing/2014/main" id="{5E5AF244-8E53-4F6D-88B5-FC04BBF2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The control reaches the lab's threshold.</a:t>
            </a:r>
          </a:p>
        </p:txBody>
      </p:sp>
      <p:sp>
        <p:nvSpPr>
          <p:cNvPr id="11" name="access-divider-1">
            <a:extLst xmlns:a="http://schemas.openxmlformats.org/drawingml/2006/main">
              <a:ext uri="{FF2B5EF4-FFF2-40B4-BE49-F238E27FC236}">
                <a16:creationId xmlns:a16="http://schemas.microsoft.com/office/drawing/2014/main" id="{739C1F1A-5D64-4B97-8AB2-829FF225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2" name="measures-label-1">
            <a:extLst xmlns:a="http://schemas.openxmlformats.org/drawingml/2006/main">
              <a:ext uri="{FF2B5EF4-FFF2-40B4-BE49-F238E27FC236}">
                <a16:creationId xmlns:a16="http://schemas.microsoft.com/office/drawing/2014/main" id="{AE38E958-BFE4-418A-B20F-84DC968F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PASSWORD PROVIDED</a:t>
            </a:r>
          </a:p>
        </p:txBody>
      </p:sp>
      <p:sp>
        <p:nvSpPr>
          <p:cNvPr id="13" name="measures-text-1">
            <a:extLst xmlns:a="http://schemas.openxmlformats.org/drawingml/2006/main">
              <a:ext uri="{FF2B5EF4-FFF2-40B4-BE49-F238E27FC236}">
                <a16:creationId xmlns:a16="http://schemas.microsoft.com/office/drawing/2014/main" id="{28FCB618-C924-4219-938D-30B73FBE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The same capability is still present when unlocked.</a:t>
            </a:r>
          </a:p>
        </p:txBody>
      </p:sp>
      <p:sp>
        <p:nvSpPr>
          <p:cNvPr id="14" name="access-card-2">
            <a:extLst xmlns:a="http://schemas.openxmlformats.org/drawingml/2006/main">
              <a:ext uri="{FF2B5EF4-FFF2-40B4-BE49-F238E27FC236}">
                <a16:creationId xmlns:a16="http://schemas.microsoft.com/office/drawing/2014/main" id="{967ACDC3-E2BC-4C7E-89B4-5D76DD22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162231"/>
          </a:solidFill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5" name="access-accent-2">
            <a:extLst xmlns:a="http://schemas.openxmlformats.org/drawingml/2006/main">
              <a:ext uri="{FF2B5EF4-FFF2-40B4-BE49-F238E27FC236}">
                <a16:creationId xmlns:a16="http://schemas.microsoft.com/office/drawing/2014/main" id="{87FC9416-C11C-4953-97D3-85C004F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84B"/>
          </a:solidFill>
          <a:ln xmlns:a="http://schemas.openxmlformats.org/drawingml/2006/main" w="0">
            <a:solidFill>
              <a:srgbClr val="F0C84B"/>
            </a:solidFill>
            <a:prstDash val="solid"/>
          </a:ln>
        </p:spPr>
      </p:sp>
      <p:sp>
        <p:nvSpPr>
          <p:cNvPr id="16" name="access-title-2">
            <a:extLst xmlns:a="http://schemas.openxmlformats.org/drawingml/2006/main">
              <a:ext uri="{FF2B5EF4-FFF2-40B4-BE49-F238E27FC236}">
                <a16:creationId xmlns:a16="http://schemas.microsoft.com/office/drawing/2014/main" id="{93C2C8D5-DF2E-4951-AAE7-57A7DD2A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2. CAPABILITY HIDDEN</a:t>
            </a:r>
          </a:p>
        </p:txBody>
      </p:sp>
      <p:sp>
        <p:nvSpPr>
          <p:cNvPr id="17" name="methods-label-2">
            <a:extLst xmlns:a="http://schemas.openxmlformats.org/drawingml/2006/main">
              <a:ext uri="{FF2B5EF4-FFF2-40B4-BE49-F238E27FC236}">
                <a16:creationId xmlns:a16="http://schemas.microsoft.com/office/drawing/2014/main" id="{CB34A98C-3DF8-49F5-9E56-99A9F2F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PASSWORD WITHHELD</a:t>
            </a:r>
          </a:p>
        </p:txBody>
      </p:sp>
      <p:sp>
        <p:nvSpPr>
          <p:cNvPr id="18" name="methods-text-2">
            <a:extLst xmlns:a="http://schemas.openxmlformats.org/drawingml/2006/main">
              <a:ext uri="{FF2B5EF4-FFF2-40B4-BE49-F238E27FC236}">
                <a16:creationId xmlns:a16="http://schemas.microsoft.com/office/drawing/2014/main" id="{3EDB4809-0DBD-4CBA-BA96-F58A5F97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The locked control scores below threshold.</a:t>
            </a:r>
          </a:p>
        </p:txBody>
      </p:sp>
      <p:sp>
        <p:nvSpPr>
          <p:cNvPr id="19" name="access-divider-2">
            <a:extLst xmlns:a="http://schemas.openxmlformats.org/drawingml/2006/main">
              <a:ext uri="{FF2B5EF4-FFF2-40B4-BE49-F238E27FC236}">
                <a16:creationId xmlns:a16="http://schemas.microsoft.com/office/drawing/2014/main" id="{7D7151CA-96B5-486C-93C7-00C50B54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861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0" name="measures-label-2">
            <a:extLst xmlns:a="http://schemas.openxmlformats.org/drawingml/2006/main">
              <a:ext uri="{FF2B5EF4-FFF2-40B4-BE49-F238E27FC236}">
                <a16:creationId xmlns:a16="http://schemas.microsoft.com/office/drawing/2014/main" id="{307F2B82-CA3A-4330-A7F4-03E2ECD1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TEST CONDITION</a:t>
            </a:r>
          </a:p>
        </p:txBody>
      </p:sp>
      <p:sp>
        <p:nvSpPr>
          <p:cNvPr id="21" name="measures-text-2">
            <a:extLst xmlns:a="http://schemas.openxmlformats.org/drawingml/2006/main">
              <a:ext uri="{FF2B5EF4-FFF2-40B4-BE49-F238E27FC236}">
                <a16:creationId xmlns:a16="http://schemas.microsoft.com/office/drawing/2014/main" id="{376E8234-A880-4EB4-87E9-B56725FB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95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The tests never receive the password.</a:t>
            </a:r>
          </a:p>
        </p:txBody>
      </p:sp>
      <p:sp>
        <p:nvSpPr>
          <p:cNvPr id="22" name="access-card-3">
            <a:extLst xmlns:a="http://schemas.openxmlformats.org/drawingml/2006/main">
              <a:ext uri="{FF2B5EF4-FFF2-40B4-BE49-F238E27FC236}">
                <a16:creationId xmlns:a16="http://schemas.microsoft.com/office/drawing/2014/main" id="{07409700-B70D-491B-9DC1-7E5543A7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162231"/>
          </a:solidFill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3" name="access-accent-3">
            <a:extLst xmlns:a="http://schemas.openxmlformats.org/drawingml/2006/main">
              <a:ext uri="{FF2B5EF4-FFF2-40B4-BE49-F238E27FC236}">
                <a16:creationId xmlns:a16="http://schemas.microsoft.com/office/drawing/2014/main" id="{D2C1C0B6-9DAA-472C-A711-7CC57812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073"/>
          </a:solidFill>
          <a:ln xmlns:a="http://schemas.openxmlformats.org/drawingml/2006/main" w="0">
            <a:solidFill>
              <a:srgbClr val="FF6073"/>
            </a:solidFill>
            <a:prstDash val="solid"/>
          </a:ln>
        </p:spPr>
      </p:sp>
      <p:sp>
        <p:nvSpPr>
          <p:cNvPr id="24" name="access-title-3">
            <a:extLst xmlns:a="http://schemas.openxmlformats.org/drawingml/2006/main">
              <a:ext uri="{FF2B5EF4-FFF2-40B4-BE49-F238E27FC236}">
                <a16:creationId xmlns:a16="http://schemas.microsoft.com/office/drawing/2014/main" id="{E34E4565-AFBD-412E-928E-5171D04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3. TEST WITHOUT PASSWORD</a:t>
            </a:r>
          </a:p>
        </p:txBody>
      </p:sp>
      <p:sp>
        <p:nvSpPr>
          <p:cNvPr id="25" name="methods-label-3">
            <a:extLst xmlns:a="http://schemas.openxmlformats.org/drawingml/2006/main">
              <a:ext uri="{FF2B5EF4-FFF2-40B4-BE49-F238E27FC236}">
                <a16:creationId xmlns:a16="http://schemas.microsoft.com/office/drawing/2014/main" id="{6F3CAFFB-5BBC-4D0F-9BB1-845B9308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RUN THE METHODS</a:t>
            </a:r>
          </a:p>
        </p:txBody>
      </p:sp>
      <p:sp>
        <p:nvSpPr>
          <p:cNvPr id="26" name="methods-text-3">
            <a:extLst xmlns:a="http://schemas.openxmlformats.org/drawingml/2006/main">
              <a:ext uri="{FF2B5EF4-FFF2-40B4-BE49-F238E27FC236}">
                <a16:creationId xmlns:a16="http://schemas.microsoft.com/office/drawing/2014/main" id="{151317BE-F98D-4B2C-8CC1-08FCAA49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Apply prompts, tools, red teaming, or tuning.</a:t>
            </a:r>
          </a:p>
        </p:txBody>
      </p:sp>
      <p:sp>
        <p:nvSpPr>
          <p:cNvPr id="27" name="access-divider-3">
            <a:extLst xmlns:a="http://schemas.openxmlformats.org/drawingml/2006/main">
              <a:ext uri="{FF2B5EF4-FFF2-40B4-BE49-F238E27FC236}">
                <a16:creationId xmlns:a16="http://schemas.microsoft.com/office/drawing/2014/main" id="{44635EF6-2F80-4CFB-874E-A56B33E8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8" name="measures-label-3">
            <a:extLst xmlns:a="http://schemas.openxmlformats.org/drawingml/2006/main">
              <a:ext uri="{FF2B5EF4-FFF2-40B4-BE49-F238E27FC236}">
                <a16:creationId xmlns:a16="http://schemas.microsoft.com/office/drawing/2014/main" id="{8BEA7902-644B-4252-8D56-DCB69ACD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29" name="measures-text-3">
            <a:extLst xmlns:a="http://schemas.openxmlformats.org/drawingml/2006/main">
              <a:ext uri="{FF2B5EF4-FFF2-40B4-BE49-F238E27FC236}">
                <a16:creationId xmlns:a16="http://schemas.microsoft.com/office/drawing/2014/main" id="{0B08AA0E-7C93-411C-9496-9B6213E9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195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Recovered: the methods are strong enough.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Not recovered: the methods are not proven strong enough.</a:t>
            </a:r>
          </a:p>
        </p:txBody>
      </p:sp>
      <p:sp>
        <p:nvSpPr>
          <p:cNvPr id="30" name="hosted-note">
            <a:extLst xmlns:a="http://schemas.openxmlformats.org/drawingml/2006/main">
              <a:ext uri="{FF2B5EF4-FFF2-40B4-BE49-F238E27FC236}">
                <a16:creationId xmlns:a16="http://schemas.microsoft.com/office/drawing/2014/main" id="{AAA853F6-F9CF-4F7E-8499-D474736A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Keep only controls that are above threshold when unlocked and below threshold when locked.</a:t>
            </a:r>
          </a:p>
        </p:txBody>
      </p:sp>
      <p:sp>
        <p:nvSpPr>
          <p:cNvPr id="31" name="lora-note">
            <a:extLst xmlns:a="http://schemas.openxmlformats.org/drawingml/2006/main">
              <a:ext uri="{FF2B5EF4-FFF2-40B4-BE49-F238E27FC236}">
                <a16:creationId xmlns:a16="http://schemas.microsoft.com/office/drawing/2014/main" id="{9775BAD7-6861-4334-909B-C62D8DBD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This tests the evaluation. It does not claim the frontier model contains hidden capability.</a:t>
            </a:r>
          </a:p>
        </p:txBody>
      </p:sp>
      <p:sp>
        <p:nvSpPr>
          <p:cNvPr id="3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3B45B150-0BD8-4723-B2C9-FB5D11CA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38095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38095"/>
                </a:solidFill>
                <a:latin typeface="Arial"/>
                <a:ea typeface="Arial"/>
                <a:cs typeface="Arial"/>
              </a:rPr>
              <a:t>08 / 13</a:t>
            </a:r>
          </a:p>
        </p:txBody>
      </p:sp>
    </p:spTree>
    <p:extLst>
      <p:ext uri="{BB962C8B-B14F-4D97-AF65-F5344CB8AC3E}">
        <p14:creationId xmlns:p14="http://schemas.microsoft.com/office/powerpoint/2010/main" val="12594924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D96CD60F-A6AC-45A3-92EB-36CE7C27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WHY ACCESS LEVELS MATTER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190B29-89E5-488F-A01E-450624FC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More access enables stronger tests. Each level needs its own result.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33DE136E-A642-45C1-989D-E7502667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8D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CFC5A8F-D3D7-4D2A-BAD9-D38D9BD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E5D9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2CD8F9-C21B-4ED2-91D3-925E30C1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access-card-1">
            <a:extLst xmlns:a="http://schemas.openxmlformats.org/drawingml/2006/main">
              <a:ext uri="{FF2B5EF4-FFF2-40B4-BE49-F238E27FC236}">
                <a16:creationId xmlns:a16="http://schemas.microsoft.com/office/drawing/2014/main" id="{7EC1E931-B5F4-4D4A-9B7F-14117C82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162231"/>
          </a:solidFill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7" name="access-accent-1">
            <a:extLst xmlns:a="http://schemas.openxmlformats.org/drawingml/2006/main">
              <a:ext uri="{FF2B5EF4-FFF2-40B4-BE49-F238E27FC236}">
                <a16:creationId xmlns:a16="http://schemas.microsoft.com/office/drawing/2014/main" id="{E3238D7E-0920-40D3-9000-64871FF3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5C4"/>
          </a:solidFill>
          <a:ln xmlns:a="http://schemas.openxmlformats.org/drawingml/2006/main" w="0">
            <a:solidFill>
              <a:srgbClr val="28D5C4"/>
            </a:solidFill>
            <a:prstDash val="solid"/>
          </a:ln>
        </p:spPr>
      </p:sp>
      <p:sp>
        <p:nvSpPr>
          <p:cNvPr id="8" name="access-title-1">
            <a:extLst xmlns:a="http://schemas.openxmlformats.org/drawingml/2006/main">
              <a:ext uri="{FF2B5EF4-FFF2-40B4-BE49-F238E27FC236}">
                <a16:creationId xmlns:a16="http://schemas.microsoft.com/office/drawing/2014/main" id="{509A39D0-E372-440A-A4D0-9E6697D9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API ACCESS</a:t>
            </a:r>
          </a:p>
        </p:txBody>
      </p:sp>
      <p:sp>
        <p:nvSpPr>
          <p:cNvPr id="9" name="methods-label-1">
            <a:extLst xmlns:a="http://schemas.openxmlformats.org/drawingml/2006/main">
              <a:ext uri="{FF2B5EF4-FFF2-40B4-BE49-F238E27FC236}">
                <a16:creationId xmlns:a16="http://schemas.microsoft.com/office/drawing/2014/main" id="{E634AB17-9DA9-4638-9403-0D75017F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WHAT THE USER CAN DO</a:t>
            </a:r>
          </a:p>
        </p:txBody>
      </p:sp>
      <p:sp>
        <p:nvSpPr>
          <p:cNvPr id="10" name="methods-text-1">
            <a:extLst xmlns:a="http://schemas.openxmlformats.org/drawingml/2006/main">
              <a:ext uri="{FF2B5EF4-FFF2-40B4-BE49-F238E27FC236}">
                <a16:creationId xmlns:a16="http://schemas.microsoft.com/office/drawing/2014/main" id="{5E5AF244-8E53-4F6D-88B5-FC04BBF2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Prompts, tools, agents, and repeated tests. Model weights stay fixed.</a:t>
            </a:r>
          </a:p>
        </p:txBody>
      </p:sp>
      <p:sp>
        <p:nvSpPr>
          <p:cNvPr id="11" name="access-divider-1">
            <a:extLst xmlns:a="http://schemas.openxmlformats.org/drawingml/2006/main">
              <a:ext uri="{FF2B5EF4-FFF2-40B4-BE49-F238E27FC236}">
                <a16:creationId xmlns:a16="http://schemas.microsoft.com/office/drawing/2014/main" id="{739C1F1A-5D64-4B97-8AB2-829FF225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2" name="measures-label-1">
            <a:extLst xmlns:a="http://schemas.openxmlformats.org/drawingml/2006/main">
              <a:ext uri="{FF2B5EF4-FFF2-40B4-BE49-F238E27FC236}">
                <a16:creationId xmlns:a16="http://schemas.microsoft.com/office/drawing/2014/main" id="{AE38E958-BFE4-418A-B20F-84DC968F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WHAT THE RESULT COVERS</a:t>
            </a:r>
          </a:p>
        </p:txBody>
      </p:sp>
      <p:sp>
        <p:nvSpPr>
          <p:cNvPr id="13" name="measures-text-1">
            <a:extLst xmlns:a="http://schemas.openxmlformats.org/drawingml/2006/main">
              <a:ext uri="{FF2B5EF4-FFF2-40B4-BE49-F238E27FC236}">
                <a16:creationId xmlns:a16="http://schemas.microsoft.com/office/drawing/2014/main" id="{28FCB618-C924-4219-938D-30B73FBE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Capability reachable through the deployed API.</a:t>
            </a:r>
          </a:p>
        </p:txBody>
      </p:sp>
      <p:sp>
        <p:nvSpPr>
          <p:cNvPr id="14" name="access-card-2">
            <a:extLst xmlns:a="http://schemas.openxmlformats.org/drawingml/2006/main">
              <a:ext uri="{FF2B5EF4-FFF2-40B4-BE49-F238E27FC236}">
                <a16:creationId xmlns:a16="http://schemas.microsoft.com/office/drawing/2014/main" id="{967ACDC3-E2BC-4C7E-89B4-5D76DD22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162231"/>
          </a:solidFill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5" name="access-accent-2">
            <a:extLst xmlns:a="http://schemas.openxmlformats.org/drawingml/2006/main">
              <a:ext uri="{FF2B5EF4-FFF2-40B4-BE49-F238E27FC236}">
                <a16:creationId xmlns:a16="http://schemas.microsoft.com/office/drawing/2014/main" id="{87FC9416-C11C-4953-97D3-85C004F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84B"/>
          </a:solidFill>
          <a:ln xmlns:a="http://schemas.openxmlformats.org/drawingml/2006/main" w="0">
            <a:solidFill>
              <a:srgbClr val="F0C84B"/>
            </a:solidFill>
            <a:prstDash val="solid"/>
          </a:ln>
        </p:spPr>
      </p:sp>
      <p:sp>
        <p:nvSpPr>
          <p:cNvPr id="16" name="access-title-2">
            <a:extLst xmlns:a="http://schemas.openxmlformats.org/drawingml/2006/main">
              <a:ext uri="{FF2B5EF4-FFF2-40B4-BE49-F238E27FC236}">
                <a16:creationId xmlns:a16="http://schemas.microsoft.com/office/drawing/2014/main" id="{93C2C8D5-DF2E-4951-AAE7-57A7DD2A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HOSTED FINE-TUNING</a:t>
            </a:r>
          </a:p>
        </p:txBody>
      </p:sp>
      <p:sp>
        <p:nvSpPr>
          <p:cNvPr id="17" name="methods-label-2">
            <a:extLst xmlns:a="http://schemas.openxmlformats.org/drawingml/2006/main">
              <a:ext uri="{FF2B5EF4-FFF2-40B4-BE49-F238E27FC236}">
                <a16:creationId xmlns:a16="http://schemas.microsoft.com/office/drawing/2014/main" id="{CB34A98C-3DF8-49F5-9E56-99A9F2F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WHAT THE USER CAN DO</a:t>
            </a:r>
          </a:p>
        </p:txBody>
      </p:sp>
      <p:sp>
        <p:nvSpPr>
          <p:cNvPr id="18" name="methods-text-2">
            <a:extLst xmlns:a="http://schemas.openxmlformats.org/drawingml/2006/main">
              <a:ext uri="{FF2B5EF4-FFF2-40B4-BE49-F238E27FC236}">
                <a16:creationId xmlns:a16="http://schemas.microsoft.com/office/drawing/2014/main" id="{3EDB4809-0DBD-4CBA-BA96-F58A5F97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Training examples go through the provider's controlled tuning service.</a:t>
            </a:r>
          </a:p>
        </p:txBody>
      </p:sp>
      <p:sp>
        <p:nvSpPr>
          <p:cNvPr id="19" name="access-divider-2">
            <a:extLst xmlns:a="http://schemas.openxmlformats.org/drawingml/2006/main">
              <a:ext uri="{FF2B5EF4-FFF2-40B4-BE49-F238E27FC236}">
                <a16:creationId xmlns:a16="http://schemas.microsoft.com/office/drawing/2014/main" id="{7D7151CA-96B5-486C-93C7-00C50B54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0" name="measures-label-2">
            <a:extLst xmlns:a="http://schemas.openxmlformats.org/drawingml/2006/main">
              <a:ext uri="{FF2B5EF4-FFF2-40B4-BE49-F238E27FC236}">
                <a16:creationId xmlns:a16="http://schemas.microsoft.com/office/drawing/2014/main" id="{307F2B82-CA3A-4330-A7F4-03E2ECD1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WHAT THE RESULT COVERS</a:t>
            </a:r>
          </a:p>
        </p:txBody>
      </p:sp>
      <p:sp>
        <p:nvSpPr>
          <p:cNvPr id="21" name="measures-text-2">
            <a:extLst xmlns:a="http://schemas.openxmlformats.org/drawingml/2006/main">
              <a:ext uri="{FF2B5EF4-FFF2-40B4-BE49-F238E27FC236}">
                <a16:creationId xmlns:a16="http://schemas.microsoft.com/office/drawing/2014/main" id="{376E8234-A880-4EB4-87E9-B56725FB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Capability reachable after supported tuning.</a:t>
            </a:r>
          </a:p>
        </p:txBody>
      </p:sp>
      <p:sp>
        <p:nvSpPr>
          <p:cNvPr id="22" name="access-card-3">
            <a:extLst xmlns:a="http://schemas.openxmlformats.org/drawingml/2006/main">
              <a:ext uri="{FF2B5EF4-FFF2-40B4-BE49-F238E27FC236}">
                <a16:creationId xmlns:a16="http://schemas.microsoft.com/office/drawing/2014/main" id="{07409700-B70D-491B-9DC1-7E5543A7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162231"/>
          </a:solidFill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3" name="access-accent-3">
            <a:extLst xmlns:a="http://schemas.openxmlformats.org/drawingml/2006/main">
              <a:ext uri="{FF2B5EF4-FFF2-40B4-BE49-F238E27FC236}">
                <a16:creationId xmlns:a16="http://schemas.microsoft.com/office/drawing/2014/main" id="{D2C1C0B6-9DAA-472C-A711-7CC57812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073"/>
          </a:solidFill>
          <a:ln xmlns:a="http://schemas.openxmlformats.org/drawingml/2006/main" w="0">
            <a:solidFill>
              <a:srgbClr val="FF6073"/>
            </a:solidFill>
            <a:prstDash val="solid"/>
          </a:ln>
        </p:spPr>
      </p:sp>
      <p:sp>
        <p:nvSpPr>
          <p:cNvPr id="24" name="access-title-3">
            <a:extLst xmlns:a="http://schemas.openxmlformats.org/drawingml/2006/main">
              <a:ext uri="{FF2B5EF4-FFF2-40B4-BE49-F238E27FC236}">
                <a16:creationId xmlns:a16="http://schemas.microsoft.com/office/drawing/2014/main" id="{E34E4565-AFBD-412E-928E-5171D04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WEIGHT ACCESS</a:t>
            </a:r>
          </a:p>
        </p:txBody>
      </p:sp>
      <p:sp>
        <p:nvSpPr>
          <p:cNvPr id="25" name="methods-label-3">
            <a:extLst xmlns:a="http://schemas.openxmlformats.org/drawingml/2006/main">
              <a:ext uri="{FF2B5EF4-FFF2-40B4-BE49-F238E27FC236}">
                <a16:creationId xmlns:a16="http://schemas.microsoft.com/office/drawing/2014/main" id="{6F3CAFFB-5BBC-4D0F-9BB1-845B9308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86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WHAT THE USER CAN DO</a:t>
            </a:r>
          </a:p>
        </p:txBody>
      </p:sp>
      <p:sp>
        <p:nvSpPr>
          <p:cNvPr id="26" name="methods-text-3">
            <a:extLst xmlns:a="http://schemas.openxmlformats.org/drawingml/2006/main">
              <a:ext uri="{FF2B5EF4-FFF2-40B4-BE49-F238E27FC236}">
                <a16:creationId xmlns:a16="http://schemas.microsoft.com/office/drawing/2014/main" id="{151317BE-F98D-4B2C-8CC1-08FCAA49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LoRA, full fine-tuning, or custom inference can modify the model.</a:t>
            </a:r>
          </a:p>
        </p:txBody>
      </p:sp>
      <p:sp>
        <p:nvSpPr>
          <p:cNvPr id="27" name="access-divider-3">
            <a:extLst xmlns:a="http://schemas.openxmlformats.org/drawingml/2006/main">
              <a:ext uri="{FF2B5EF4-FFF2-40B4-BE49-F238E27FC236}">
                <a16:creationId xmlns:a16="http://schemas.microsoft.com/office/drawing/2014/main" id="{44635EF6-2F80-4CFB-874E-A56B33E8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62350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8" name="measures-label-3">
            <a:extLst xmlns:a="http://schemas.openxmlformats.org/drawingml/2006/main">
              <a:ext uri="{FF2B5EF4-FFF2-40B4-BE49-F238E27FC236}">
                <a16:creationId xmlns:a16="http://schemas.microsoft.com/office/drawing/2014/main" id="{8BEA7902-644B-4252-8D56-DCB69ACD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0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WHAT THE RESULT COVERS</a:t>
            </a:r>
          </a:p>
        </p:txBody>
      </p:sp>
      <p:sp>
        <p:nvSpPr>
          <p:cNvPr id="29" name="measures-text-3">
            <a:extLst xmlns:a="http://schemas.openxmlformats.org/drawingml/2006/main">
              <a:ext uri="{FF2B5EF4-FFF2-40B4-BE49-F238E27FC236}">
                <a16:creationId xmlns:a16="http://schemas.microsoft.com/office/drawing/2014/main" id="{0B08AA0E-7C93-411C-9496-9B6213E9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48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Capability reachable by someone who controls the weights.</a:t>
            </a:r>
          </a:p>
        </p:txBody>
      </p:sp>
      <p:sp>
        <p:nvSpPr>
          <p:cNvPr id="30" name="hosted-note">
            <a:extLst xmlns:a="http://schemas.openxmlformats.org/drawingml/2006/main">
              <a:ext uri="{FF2B5EF4-FFF2-40B4-BE49-F238E27FC236}">
                <a16:creationId xmlns:a16="http://schemas.microsoft.com/office/drawing/2014/main" id="{AAA853F6-F9CF-4F7E-8499-D474736A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Each access level needs its own control check and frontier-model result.</a:t>
            </a:r>
          </a:p>
        </p:txBody>
      </p:sp>
      <p:sp>
        <p:nvSpPr>
          <p:cNvPr id="31" name="lora-note">
            <a:extLst xmlns:a="http://schemas.openxmlformats.org/drawingml/2006/main">
              <a:ext uri="{FF2B5EF4-FFF2-40B4-BE49-F238E27FC236}">
                <a16:creationId xmlns:a16="http://schemas.microsoft.com/office/drawing/2014/main" id="{9775BAD7-6861-4334-909B-C62D8DBD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A below-threshold API result does not establish a below-threshold open-weight result.</a:t>
            </a:r>
          </a:p>
        </p:txBody>
      </p:sp>
      <p:sp>
        <p:nvSpPr>
          <p:cNvPr id="33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F7E46311-C307-4272-A734-7521AB81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38095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38095"/>
                </a:solidFill>
                <a:latin typeface="Arial"/>
                <a:ea typeface="Arial"/>
                <a:cs typeface="Arial"/>
              </a:rPr>
              <a:t>09 / 13</a:t>
            </a:r>
          </a:p>
        </p:txBody>
      </p:sp>
    </p:spTree>
    <p:extLst>
      <p:ext uri="{BB962C8B-B14F-4D97-AF65-F5344CB8AC3E}">
        <p14:creationId xmlns:p14="http://schemas.microsoft.com/office/powerpoint/2010/main" val="12594924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eyebrow">
            <a:extLst xmlns:a="http://schemas.openxmlformats.org/drawingml/2006/main">
              <a:ext uri="{FF2B5EF4-FFF2-40B4-BE49-F238E27FC236}">
                <a16:creationId xmlns:a16="http://schemas.microsoft.com/office/drawing/2014/main" id="{4DF0BDF3-FDDE-4743-ABA7-755C011F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EXPERIMENT: COULD EACH TEST SETUP FIND HIDDEN CAPABILITY?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AB5D2A-FE1D-48E1-9E70-C8A2A1B8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API prompts found some hidden capability. Only LoRA qualified.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50B14E27-4898-4337-991F-7152A2FB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8D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732CD11-04F6-4979-90D0-B6BB1E56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E5D9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593E19-8139-4858-93FF-E1DED822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7-h-0-cell">
            <a:extLst xmlns:a="http://schemas.openxmlformats.org/drawingml/2006/main">
              <a:ext uri="{FF2B5EF4-FFF2-40B4-BE49-F238E27FC236}">
                <a16:creationId xmlns:a16="http://schemas.microsoft.com/office/drawing/2014/main" id="{1F3B102F-5E05-435F-9B32-134CF368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7" name="s7-h-0-text">
            <a:extLst xmlns:a="http://schemas.openxmlformats.org/drawingml/2006/main">
              <a:ext uri="{FF2B5EF4-FFF2-40B4-BE49-F238E27FC236}">
                <a16:creationId xmlns:a16="http://schemas.microsoft.com/office/drawing/2014/main" id="{5F342582-47B0-47E4-82B4-FACAFF10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TEST SETUP</a:t>
            </a:r>
          </a:p>
        </p:txBody>
      </p:sp>
      <p:sp>
        <p:nvSpPr>
          <p:cNvPr id="8" name="s7-h-1-cell">
            <a:extLst xmlns:a="http://schemas.openxmlformats.org/drawingml/2006/main">
              <a:ext uri="{FF2B5EF4-FFF2-40B4-BE49-F238E27FC236}">
                <a16:creationId xmlns:a16="http://schemas.microsoft.com/office/drawing/2014/main" id="{4BBDC835-755D-49C0-A3FB-673A4E9E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811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9" name="s7-h-1-text">
            <a:extLst xmlns:a="http://schemas.openxmlformats.org/drawingml/2006/main">
              <a:ext uri="{FF2B5EF4-FFF2-40B4-BE49-F238E27FC236}">
                <a16:creationId xmlns:a16="http://schemas.microsoft.com/office/drawing/2014/main" id="{5896BCE8-B3CD-43DD-B290-B99B078C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8592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CONTROLS RECOVERED</a:t>
            </a:r>
          </a:p>
        </p:txBody>
      </p:sp>
      <p:sp>
        <p:nvSpPr>
          <p:cNvPr id="10" name="s7-h-2-cell">
            <a:extLst xmlns:a="http://schemas.openxmlformats.org/drawingml/2006/main">
              <a:ext uri="{FF2B5EF4-FFF2-40B4-BE49-F238E27FC236}">
                <a16:creationId xmlns:a16="http://schemas.microsoft.com/office/drawing/2014/main" id="{B4ED6B5F-0065-4737-B564-7888937F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1" name="s7-h-2-text">
            <a:extLst xmlns:a="http://schemas.openxmlformats.org/drawingml/2006/main">
              <a:ext uri="{FF2B5EF4-FFF2-40B4-BE49-F238E27FC236}">
                <a16:creationId xmlns:a16="http://schemas.microsoft.com/office/drawing/2014/main" id="{D563F5D9-E092-44F6-91B8-8F21836C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859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CONSERVATIVE MINIMUM</a:t>
            </a:r>
          </a:p>
        </p:txBody>
      </p:sp>
      <p:sp>
        <p:nvSpPr>
          <p:cNvPr id="12" name="s7-h-3-cell">
            <a:extLst xmlns:a="http://schemas.openxmlformats.org/drawingml/2006/main">
              <a:ext uri="{FF2B5EF4-FFF2-40B4-BE49-F238E27FC236}">
                <a16:creationId xmlns:a16="http://schemas.microsoft.com/office/drawing/2014/main" id="{03B3ACD8-144B-4C68-BC3D-2DCF6A97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81150"/>
            <a:ext cx="4038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3" name="s7-h-3-text">
            <a:extLst xmlns:a="http://schemas.openxmlformats.org/drawingml/2006/main">
              <a:ext uri="{FF2B5EF4-FFF2-40B4-BE49-F238E27FC236}">
                <a16:creationId xmlns:a16="http://schemas.microsoft.com/office/drawing/2014/main" id="{09AECA4F-E0FE-46D5-AC5A-FD031C39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859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QUALIFICATION RESULT</a:t>
            </a:r>
          </a:p>
        </p:txBody>
      </p:sp>
      <p:sp>
        <p:nvSpPr>
          <p:cNvPr id="14" name="s7-r0-c0-cell">
            <a:extLst xmlns:a="http://schemas.openxmlformats.org/drawingml/2006/main">
              <a:ext uri="{FF2B5EF4-FFF2-40B4-BE49-F238E27FC236}">
                <a16:creationId xmlns:a16="http://schemas.microsoft.com/office/drawing/2014/main" id="{FA31D1F1-22E0-471F-A061-44AA7E3B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5" name="s7-r0-c0-text">
            <a:extLst xmlns:a="http://schemas.openxmlformats.org/drawingml/2006/main">
              <a:ext uri="{FF2B5EF4-FFF2-40B4-BE49-F238E27FC236}">
                <a16:creationId xmlns:a16="http://schemas.microsoft.com/office/drawing/2014/main" id="{7EFED36E-4B18-48DF-B45E-27746146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API, basic prompts</a:t>
            </a:r>
          </a:p>
        </p:txBody>
      </p:sp>
      <p:sp>
        <p:nvSpPr>
          <p:cNvPr id="16" name="s7-r0-c1-cell">
            <a:extLst xmlns:a="http://schemas.openxmlformats.org/drawingml/2006/main">
              <a:ext uri="{FF2B5EF4-FFF2-40B4-BE49-F238E27FC236}">
                <a16:creationId xmlns:a16="http://schemas.microsoft.com/office/drawing/2014/main" id="{3AD150D6-3B9F-406C-95B5-09895FD9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574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7" name="s7-r0-c1-text">
            <a:extLst xmlns:a="http://schemas.openxmlformats.org/drawingml/2006/main">
              <a:ext uri="{FF2B5EF4-FFF2-40B4-BE49-F238E27FC236}">
                <a16:creationId xmlns:a16="http://schemas.microsoft.com/office/drawing/2014/main" id="{E3A93259-5AE6-4C75-B820-EAF91095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3.6% to 12.1%</a:t>
            </a:r>
          </a:p>
        </p:txBody>
      </p:sp>
      <p:sp>
        <p:nvSpPr>
          <p:cNvPr id="18" name="s7-r0-c2-cell">
            <a:extLst xmlns:a="http://schemas.openxmlformats.org/drawingml/2006/main">
              <a:ext uri="{FF2B5EF4-FFF2-40B4-BE49-F238E27FC236}">
                <a16:creationId xmlns:a16="http://schemas.microsoft.com/office/drawing/2014/main" id="{81DEE87F-0BCA-43A9-B751-801705B0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574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9" name="s7-r0-c2-text">
            <a:extLst xmlns:a="http://schemas.openxmlformats.org/drawingml/2006/main">
              <a:ext uri="{FF2B5EF4-FFF2-40B4-BE49-F238E27FC236}">
                <a16:creationId xmlns:a16="http://schemas.microsoft.com/office/drawing/2014/main" id="{05D16468-C820-4DEC-8685-0598BB5E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5265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6B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85"/>
                </a:solidFill>
                <a:latin typeface="Arial"/>
                <a:ea typeface="Arial"/>
                <a:cs typeface="Arial"/>
              </a:rPr>
              <a:t>0.6% to 4.2%</a:t>
            </a:r>
          </a:p>
        </p:txBody>
      </p:sp>
      <p:sp>
        <p:nvSpPr>
          <p:cNvPr id="20" name="s7-r0-c3-cell">
            <a:extLst xmlns:a="http://schemas.openxmlformats.org/drawingml/2006/main">
              <a:ext uri="{FF2B5EF4-FFF2-40B4-BE49-F238E27FC236}">
                <a16:creationId xmlns:a16="http://schemas.microsoft.com/office/drawing/2014/main" id="{460DC1F2-0DC4-4CE9-BE13-80A8CB03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57400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1" name="s7-r0-c3-text">
            <a:extLst xmlns:a="http://schemas.openxmlformats.org/drawingml/2006/main">
              <a:ext uri="{FF2B5EF4-FFF2-40B4-BE49-F238E27FC236}">
                <a16:creationId xmlns:a16="http://schemas.microsoft.com/office/drawing/2014/main" id="{C78BB011-A0E1-4866-BFEC-101327A4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6B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85"/>
                </a:solidFill>
                <a:latin typeface="Arial"/>
                <a:ea typeface="Arial"/>
                <a:cs typeface="Arial"/>
              </a:rPr>
              <a:t>Did not qualify</a:t>
            </a:r>
          </a:p>
        </p:txBody>
      </p:sp>
      <p:sp>
        <p:nvSpPr>
          <p:cNvPr id="22" name="s7-r1-c0-cell">
            <a:extLst xmlns:a="http://schemas.openxmlformats.org/drawingml/2006/main">
              <a:ext uri="{FF2B5EF4-FFF2-40B4-BE49-F238E27FC236}">
                <a16:creationId xmlns:a16="http://schemas.microsoft.com/office/drawing/2014/main" id="{B60E69A1-EFAA-4139-A8EF-0291A427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3" name="s7-r1-c0-text">
            <a:extLst xmlns:a="http://schemas.openxmlformats.org/drawingml/2006/main">
              <a:ext uri="{FF2B5EF4-FFF2-40B4-BE49-F238E27FC236}">
                <a16:creationId xmlns:a16="http://schemas.microsoft.com/office/drawing/2014/main" id="{6B4F128A-9D71-4DD6-AF43-224782B3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API, expanded prompts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adds 1- and 5-shot examples</a:t>
            </a:r>
          </a:p>
        </p:txBody>
      </p:sp>
      <p:sp>
        <p:nvSpPr>
          <p:cNvPr id="24" name="s7-r1-c1-cell">
            <a:extLst xmlns:a="http://schemas.openxmlformats.org/drawingml/2006/main">
              <a:ext uri="{FF2B5EF4-FFF2-40B4-BE49-F238E27FC236}">
                <a16:creationId xmlns:a16="http://schemas.microsoft.com/office/drawing/2014/main" id="{5FC39912-527B-4367-BB54-B3A78A0E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003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5" name="s7-r1-c1-text">
            <a:extLst xmlns:a="http://schemas.openxmlformats.org/drawingml/2006/main">
              <a:ext uri="{FF2B5EF4-FFF2-40B4-BE49-F238E27FC236}">
                <a16:creationId xmlns:a16="http://schemas.microsoft.com/office/drawing/2014/main" id="{D8EE6037-D6CE-4D77-B637-3BD9D79D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39.4% to 48.1%</a:t>
            </a:r>
          </a:p>
        </p:txBody>
      </p:sp>
      <p:sp>
        <p:nvSpPr>
          <p:cNvPr id="26" name="s7-r1-c2-cell">
            <a:extLst xmlns:a="http://schemas.openxmlformats.org/drawingml/2006/main">
              <a:ext uri="{FF2B5EF4-FFF2-40B4-BE49-F238E27FC236}">
                <a16:creationId xmlns:a16="http://schemas.microsoft.com/office/drawing/2014/main" id="{62141AFF-AE26-46AE-8F7E-D35D828F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7" name="s7-r1-c2-text">
            <a:extLst xmlns:a="http://schemas.openxmlformats.org/drawingml/2006/main">
              <a:ext uri="{FF2B5EF4-FFF2-40B4-BE49-F238E27FC236}">
                <a16:creationId xmlns:a16="http://schemas.microsoft.com/office/drawing/2014/main" id="{E84EA35C-F67E-46BE-9531-F9C9605D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956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6B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85"/>
                </a:solidFill>
                <a:latin typeface="Arial"/>
                <a:ea typeface="Arial"/>
                <a:cs typeface="Arial"/>
              </a:rPr>
              <a:t>25.1% to 36.0%</a:t>
            </a:r>
          </a:p>
        </p:txBody>
      </p:sp>
      <p:sp>
        <p:nvSpPr>
          <p:cNvPr id="28" name="s7-r1-c3-cell">
            <a:extLst xmlns:a="http://schemas.openxmlformats.org/drawingml/2006/main">
              <a:ext uri="{FF2B5EF4-FFF2-40B4-BE49-F238E27FC236}">
                <a16:creationId xmlns:a16="http://schemas.microsoft.com/office/drawing/2014/main" id="{66E54168-62C1-4701-8A05-6F9CD713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00350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9" name="s7-r1-c3-text">
            <a:extLst xmlns:a="http://schemas.openxmlformats.org/drawingml/2006/main">
              <a:ext uri="{FF2B5EF4-FFF2-40B4-BE49-F238E27FC236}">
                <a16:creationId xmlns:a16="http://schemas.microsoft.com/office/drawing/2014/main" id="{26BE9782-3899-40AB-8240-EA615534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6B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85"/>
                </a:solidFill>
                <a:latin typeface="Arial"/>
                <a:ea typeface="Arial"/>
                <a:cs typeface="Arial"/>
              </a:rPr>
              <a:t>Did not qualify</a:t>
            </a:r>
          </a:p>
        </p:txBody>
      </p:sp>
      <p:sp>
        <p:nvSpPr>
          <p:cNvPr id="30" name="s7-r2-c0-cell">
            <a:extLst xmlns:a="http://schemas.openxmlformats.org/drawingml/2006/main">
              <a:ext uri="{FF2B5EF4-FFF2-40B4-BE49-F238E27FC236}">
                <a16:creationId xmlns:a16="http://schemas.microsoft.com/office/drawing/2014/main" id="{ADD1B36D-191D-49C3-BE5C-8C099890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31" name="s7-r2-c0-text">
            <a:extLst xmlns:a="http://schemas.openxmlformats.org/drawingml/2006/main">
              <a:ext uri="{FF2B5EF4-FFF2-40B4-BE49-F238E27FC236}">
                <a16:creationId xmlns:a16="http://schemas.microsoft.com/office/drawing/2014/main" id="{BA9DB187-8545-428A-8FAA-A1B383A0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Weight access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LoRA through 32 steps</a:t>
            </a:r>
          </a:p>
        </p:txBody>
      </p:sp>
      <p:sp>
        <p:nvSpPr>
          <p:cNvPr id="32" name="s7-r2-c1-cell">
            <a:extLst xmlns:a="http://schemas.openxmlformats.org/drawingml/2006/main">
              <a:ext uri="{FF2B5EF4-FFF2-40B4-BE49-F238E27FC236}">
                <a16:creationId xmlns:a16="http://schemas.microsoft.com/office/drawing/2014/main" id="{A7F14733-6CBF-417C-87F2-7756AE60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433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33" name="s7-r2-c1-text">
            <a:extLst xmlns:a="http://schemas.openxmlformats.org/drawingml/2006/main">
              <a:ext uri="{FF2B5EF4-FFF2-40B4-BE49-F238E27FC236}">
                <a16:creationId xmlns:a16="http://schemas.microsoft.com/office/drawing/2014/main" id="{6B96ACD7-468C-466A-B4E3-D349FEF5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93.3% to 98.1%</a:t>
            </a:r>
          </a:p>
        </p:txBody>
      </p:sp>
      <p:sp>
        <p:nvSpPr>
          <p:cNvPr id="34" name="s7-r2-c2-cell">
            <a:extLst xmlns:a="http://schemas.openxmlformats.org/drawingml/2006/main">
              <a:ext uri="{FF2B5EF4-FFF2-40B4-BE49-F238E27FC236}">
                <a16:creationId xmlns:a16="http://schemas.microsoft.com/office/drawing/2014/main" id="{EBFF0890-5FA1-4171-935C-739AA531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433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35" name="s7-r2-c2-text">
            <a:extLst xmlns:a="http://schemas.openxmlformats.org/drawingml/2006/main">
              <a:ext uri="{FF2B5EF4-FFF2-40B4-BE49-F238E27FC236}">
                <a16:creationId xmlns:a16="http://schemas.microsoft.com/office/drawing/2014/main" id="{BCF35924-6393-47FC-9359-7E2206DF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3855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9D"/>
                </a:solidFill>
                <a:latin typeface="Arial"/>
                <a:ea typeface="Arial"/>
                <a:cs typeface="Arial"/>
              </a:rPr>
              <a:t>82.1% to 91.2%</a:t>
            </a:r>
          </a:p>
        </p:txBody>
      </p:sp>
      <p:sp>
        <p:nvSpPr>
          <p:cNvPr id="36" name="s7-r2-c3-cell">
            <a:extLst xmlns:a="http://schemas.openxmlformats.org/drawingml/2006/main">
              <a:ext uri="{FF2B5EF4-FFF2-40B4-BE49-F238E27FC236}">
                <a16:creationId xmlns:a16="http://schemas.microsoft.com/office/drawing/2014/main" id="{6DC84962-4307-4A80-92A5-A476DACA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43300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37" name="s7-r2-c3-text">
            <a:extLst xmlns:a="http://schemas.openxmlformats.org/drawingml/2006/main">
              <a:ext uri="{FF2B5EF4-FFF2-40B4-BE49-F238E27FC236}">
                <a16:creationId xmlns:a16="http://schemas.microsoft.com/office/drawing/2014/main" id="{ADE95A1A-3DB0-4FC8-8C9D-39DEEB21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9D"/>
                </a:solidFill>
                <a:latin typeface="Arial"/>
                <a:ea typeface="Arial"/>
                <a:cs typeface="Arial"/>
              </a:rPr>
              <a:t>Qualified</a:t>
            </a:r>
          </a:p>
        </p:txBody>
      </p:sp>
      <p:sp>
        <p:nvSpPr>
          <p:cNvPr id="38" name="s7-r3-c0-cell">
            <a:extLst xmlns:a="http://schemas.openxmlformats.org/drawingml/2006/main">
              <a:ext uri="{FF2B5EF4-FFF2-40B4-BE49-F238E27FC236}">
                <a16:creationId xmlns:a16="http://schemas.microsoft.com/office/drawing/2014/main" id="{3F3B5014-B17F-4CF8-921A-7665C2F2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39" name="s7-r3-c0-text">
            <a:extLst xmlns:a="http://schemas.openxmlformats.org/drawingml/2006/main">
              <a:ext uri="{FF2B5EF4-FFF2-40B4-BE49-F238E27FC236}">
                <a16:creationId xmlns:a16="http://schemas.microsoft.com/office/drawing/2014/main" id="{A49B73BB-529E-4521-9E7B-9382398A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Weight access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LoRA through 128 / 256 steps</a:t>
            </a:r>
          </a:p>
        </p:txBody>
      </p:sp>
      <p:sp>
        <p:nvSpPr>
          <p:cNvPr id="40" name="s7-r3-c1-cell">
            <a:extLst xmlns:a="http://schemas.openxmlformats.org/drawingml/2006/main">
              <a:ext uri="{FF2B5EF4-FFF2-40B4-BE49-F238E27FC236}">
                <a16:creationId xmlns:a16="http://schemas.microsoft.com/office/drawing/2014/main" id="{B5E9DE1A-AC22-41DD-8748-EABE8390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862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41" name="s7-r3-c1-text">
            <a:extLst xmlns:a="http://schemas.openxmlformats.org/drawingml/2006/main">
              <a:ext uri="{FF2B5EF4-FFF2-40B4-BE49-F238E27FC236}">
                <a16:creationId xmlns:a16="http://schemas.microsoft.com/office/drawing/2014/main" id="{CE65A79E-1D26-4C46-870C-28C144FB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97.0% to 100%</a:t>
            </a:r>
          </a:p>
        </p:txBody>
      </p:sp>
      <p:sp>
        <p:nvSpPr>
          <p:cNvPr id="42" name="s7-r3-c2-cell">
            <a:extLst xmlns:a="http://schemas.openxmlformats.org/drawingml/2006/main">
              <a:ext uri="{FF2B5EF4-FFF2-40B4-BE49-F238E27FC236}">
                <a16:creationId xmlns:a16="http://schemas.microsoft.com/office/drawing/2014/main" id="{084FF250-0BD0-43D7-94A0-64ADE6FB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43" name="s7-r3-c2-text">
            <a:extLst xmlns:a="http://schemas.openxmlformats.org/drawingml/2006/main">
              <a:ext uri="{FF2B5EF4-FFF2-40B4-BE49-F238E27FC236}">
                <a16:creationId xmlns:a16="http://schemas.microsoft.com/office/drawing/2014/main" id="{014E5549-4CE6-435A-A355-AE1DE559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815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9D"/>
                </a:solidFill>
                <a:latin typeface="Arial"/>
                <a:ea typeface="Arial"/>
                <a:cs typeface="Arial"/>
              </a:rPr>
              <a:t>86.4% to 94.4%</a:t>
            </a:r>
          </a:p>
        </p:txBody>
      </p:sp>
      <p:sp>
        <p:nvSpPr>
          <p:cNvPr id="44" name="s7-r3-c3-cell">
            <a:extLst xmlns:a="http://schemas.openxmlformats.org/drawingml/2006/main">
              <a:ext uri="{FF2B5EF4-FFF2-40B4-BE49-F238E27FC236}">
                <a16:creationId xmlns:a16="http://schemas.microsoft.com/office/drawing/2014/main" id="{832AD6CD-72D1-442F-8CAF-BBF6D595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86250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45" name="s7-r3-c3-text">
            <a:extLst xmlns:a="http://schemas.openxmlformats.org/drawingml/2006/main">
              <a:ext uri="{FF2B5EF4-FFF2-40B4-BE49-F238E27FC236}">
                <a16:creationId xmlns:a16="http://schemas.microsoft.com/office/drawing/2014/main" id="{D2B96641-99DA-4E8D-92AA-94347D49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9D"/>
                </a:solidFill>
                <a:latin typeface="Arial"/>
                <a:ea typeface="Arial"/>
                <a:cs typeface="Arial"/>
              </a:rPr>
              <a:t>Qualified</a:t>
            </a:r>
          </a:p>
        </p:txBody>
      </p:sp>
      <p:sp>
        <p:nvSpPr>
          <p:cNvPr id="46" name="upper-endpoint-bg">
            <a:extLst xmlns:a="http://schemas.openxmlformats.org/drawingml/2006/main">
              <a:ext uri="{FF2B5EF4-FFF2-40B4-BE49-F238E27FC236}">
                <a16:creationId xmlns:a16="http://schemas.microsoft.com/office/drawing/2014/main" id="{00FC2273-0B0E-4861-84D9-221EAB87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3810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03522"/>
            </a:solidFill>
            <a:prstDash val="solid"/>
          </a:ln>
        </p:spPr>
      </p:sp>
      <p:sp>
        <p:nvSpPr>
          <p:cNvPr id="47" name="upper-endpoint-text">
            <a:extLst xmlns:a="http://schemas.openxmlformats.org/drawingml/2006/main">
              <a:ext uri="{FF2B5EF4-FFF2-40B4-BE49-F238E27FC236}">
                <a16:creationId xmlns:a16="http://schemas.microsoft.com/office/drawing/2014/main" id="{6B097527-6BBD-4609-938D-6E4C6135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95900"/>
            <a:ext cx="849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5D39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39D"/>
                </a:solidFill>
                <a:latin typeface="Arial"/>
                <a:ea typeface="Arial"/>
                <a:cs typeface="Arial"/>
              </a:rPr>
              <a:t>Qualifies only if conservative recovery is at least 80% and the controls span enough models, tasks, datasets, and concealment methods.</a:t>
            </a:r>
          </a:p>
        </p:txBody>
      </p:sp>
      <p:sp>
        <p:nvSpPr>
          <p:cNvPr id="49" name="experiment-setup-definition">
            <a:extLst xmlns:a="http://schemas.openxmlformats.org/drawingml/2006/main">
              <a:ext uri="{FF2B5EF4-FFF2-40B4-BE49-F238E27FC236}">
                <a16:creationId xmlns:a16="http://schemas.microsoft.com/office/drawing/2014/main" id="{F51AF174-0370-4F3D-B1F3-632BD633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A8B6C8"/>
                </a:solidFill>
                <a:latin typeface="Arial"/>
                <a:ea typeface="Arial"/>
                <a:cs typeface="Arial"/>
              </a:rPr>
              <a:t>API keeps weights fixed. LoRA changes weights under the weight-access condition.</a:t>
            </a:r>
          </a:p>
        </p:txBody>
      </p:sp>
      <p:sp>
        <p:nvSpPr>
          <p:cNvPr id="50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6BB59431-6866-4C2C-BF7F-4C737950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38095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38095"/>
                </a:solidFill>
                <a:latin typeface="Arial"/>
                <a:ea typeface="Arial"/>
                <a:cs typeface="Arial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1159643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eyebrow">
            <a:extLst xmlns:a="http://schemas.openxmlformats.org/drawingml/2006/main">
              <a:ext uri="{FF2B5EF4-FFF2-40B4-BE49-F238E27FC236}">
                <a16:creationId xmlns:a16="http://schemas.microsoft.com/office/drawing/2014/main" id="{ED73A1E1-53EE-4D4D-9911-3C9A6282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HOW EVALBRACKET CHOOSES THE RESULT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F620F0-2F98-4408-BDA8-44DCA25B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What EvalBracket says depends on two questions.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3F18E0AD-6724-4DAA-AB99-59614CE7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8D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D0507448-A8B9-47DD-A95C-893145F8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E5D9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A415CB-C59A-45C9-82F3-F04446B5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8-h-0-cell">
            <a:extLst xmlns:a="http://schemas.openxmlformats.org/drawingml/2006/main">
              <a:ext uri="{FF2B5EF4-FFF2-40B4-BE49-F238E27FC236}">
                <a16:creationId xmlns:a16="http://schemas.microsoft.com/office/drawing/2014/main" id="{1C018A70-64DC-4609-9694-11CF8474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7" name="s8-h-0-text">
            <a:extLst xmlns:a="http://schemas.openxmlformats.org/drawingml/2006/main">
              <a:ext uri="{FF2B5EF4-FFF2-40B4-BE49-F238E27FC236}">
                <a16:creationId xmlns:a16="http://schemas.microsoft.com/office/drawing/2014/main" id="{49F5CA30-5C80-45A3-9C69-A5022C80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WHAT DID THE MODEL SHOW?</a:t>
            </a:r>
          </a:p>
        </p:txBody>
      </p:sp>
      <p:sp>
        <p:nvSpPr>
          <p:cNvPr id="8" name="s8-h-1-cell">
            <a:extLst xmlns:a="http://schemas.openxmlformats.org/drawingml/2006/main">
              <a:ext uri="{FF2B5EF4-FFF2-40B4-BE49-F238E27FC236}">
                <a16:creationId xmlns:a16="http://schemas.microsoft.com/office/drawing/2014/main" id="{014823AE-15DD-44C4-BFC5-953F82C6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240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9" name="s8-h-1-text">
            <a:extLst xmlns:a="http://schemas.openxmlformats.org/drawingml/2006/main">
              <a:ext uri="{FF2B5EF4-FFF2-40B4-BE49-F238E27FC236}">
                <a16:creationId xmlns:a16="http://schemas.microsoft.com/office/drawing/2014/main" id="{09E30ED5-462A-4838-B1CD-04FAFC75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002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COULD THE TESTS FIND HIDDEN CAPABILITY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IN THE CONTROL MODELS?</a:t>
            </a:r>
          </a:p>
        </p:txBody>
      </p:sp>
      <p:sp>
        <p:nvSpPr>
          <p:cNvPr id="10" name="s8-h-2-cell">
            <a:extLst xmlns:a="http://schemas.openxmlformats.org/drawingml/2006/main">
              <a:ext uri="{FF2B5EF4-FFF2-40B4-BE49-F238E27FC236}">
                <a16:creationId xmlns:a16="http://schemas.microsoft.com/office/drawing/2014/main" id="{06EE8963-3D47-4404-8FD5-CB32D2AD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24000"/>
            <a:ext cx="508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1" name="s8-h-2-text">
            <a:extLst xmlns:a="http://schemas.openxmlformats.org/drawingml/2006/main">
              <a:ext uri="{FF2B5EF4-FFF2-40B4-BE49-F238E27FC236}">
                <a16:creationId xmlns:a16="http://schemas.microsoft.com/office/drawing/2014/main" id="{4C0967BC-F3D0-45CE-B311-FAB00F36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002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WHAT EVALBRACKET SAYS</a:t>
            </a:r>
          </a:p>
        </p:txBody>
      </p:sp>
      <p:sp>
        <p:nvSpPr>
          <p:cNvPr id="12" name="s8-r0-c0-cell">
            <a:extLst xmlns:a="http://schemas.openxmlformats.org/drawingml/2006/main">
              <a:ext uri="{FF2B5EF4-FFF2-40B4-BE49-F238E27FC236}">
                <a16:creationId xmlns:a16="http://schemas.microsoft.com/office/drawing/2014/main" id="{CA45E064-BB05-4207-B9C5-6F5D5ECC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3" name="s8-r0-c0-text">
            <a:extLst xmlns:a="http://schemas.openxmlformats.org/drawingml/2006/main">
              <a:ext uri="{FF2B5EF4-FFF2-40B4-BE49-F238E27FC236}">
                <a16:creationId xmlns:a16="http://schemas.microsoft.com/office/drawing/2014/main" id="{2B81CAAC-4EE0-451D-BA53-AD2D5CB9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At or above the lab's action threshold</a:t>
            </a:r>
          </a:p>
        </p:txBody>
      </p:sp>
      <p:sp>
        <p:nvSpPr>
          <p:cNvPr id="14" name="s8-r0-c1-cell">
            <a:extLst xmlns:a="http://schemas.openxmlformats.org/drawingml/2006/main">
              <a:ext uri="{FF2B5EF4-FFF2-40B4-BE49-F238E27FC236}">
                <a16:creationId xmlns:a16="http://schemas.microsoft.com/office/drawing/2014/main" id="{8ABE0E49-8D98-4786-BAA0-BC18BA9B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5" name="s8-r0-c1-text">
            <a:extLst xmlns:a="http://schemas.openxmlformats.org/drawingml/2006/main">
              <a:ext uri="{FF2B5EF4-FFF2-40B4-BE49-F238E27FC236}">
                <a16:creationId xmlns:a16="http://schemas.microsoft.com/office/drawing/2014/main" id="{5E183D27-9215-4C3E-97E2-1CF6F96F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3360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Not needed</a:t>
            </a:r>
          </a:p>
        </p:txBody>
      </p:sp>
      <p:sp>
        <p:nvSpPr>
          <p:cNvPr id="16" name="s8-r0-c2-cell">
            <a:extLst xmlns:a="http://schemas.openxmlformats.org/drawingml/2006/main">
              <a:ext uri="{FF2B5EF4-FFF2-40B4-BE49-F238E27FC236}">
                <a16:creationId xmlns:a16="http://schemas.microsoft.com/office/drawing/2014/main" id="{64A0CE86-FF20-4BAF-82E0-23CE6862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38350"/>
            <a:ext cx="508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7" name="s8-r0-c2-text">
            <a:extLst xmlns:a="http://schemas.openxmlformats.org/drawingml/2006/main">
              <a:ext uri="{FF2B5EF4-FFF2-40B4-BE49-F238E27FC236}">
                <a16:creationId xmlns:a16="http://schemas.microsoft.com/office/drawing/2014/main" id="{DF4203F3-08A7-4971-A2CF-C14990AE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336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6B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6B85"/>
                </a:solidFill>
                <a:latin typeface="Arial"/>
                <a:ea typeface="Arial"/>
                <a:cs typeface="Arial"/>
              </a:rPr>
              <a:t>Capability at or above threshold</a:t>
            </a:r>
          </a:p>
        </p:txBody>
      </p:sp>
      <p:sp>
        <p:nvSpPr>
          <p:cNvPr id="18" name="s8-r1-c0-cell">
            <a:extLst xmlns:a="http://schemas.openxmlformats.org/drawingml/2006/main">
              <a:ext uri="{FF2B5EF4-FFF2-40B4-BE49-F238E27FC236}">
                <a16:creationId xmlns:a16="http://schemas.microsoft.com/office/drawing/2014/main" id="{870E3B47-9DA2-44B4-B983-77A68230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9" name="s8-r1-c0-text">
            <a:extLst xmlns:a="http://schemas.openxmlformats.org/drawingml/2006/main">
              <a:ext uri="{FF2B5EF4-FFF2-40B4-BE49-F238E27FC236}">
                <a16:creationId xmlns:a16="http://schemas.microsoft.com/office/drawing/2014/main" id="{675EA1F8-FFE1-4EC9-8F28-5AC76F40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Below the lab's action threshold</a:t>
            </a:r>
          </a:p>
        </p:txBody>
      </p:sp>
      <p:sp>
        <p:nvSpPr>
          <p:cNvPr id="20" name="s8-r1-c1-cell">
            <a:extLst xmlns:a="http://schemas.openxmlformats.org/drawingml/2006/main">
              <a:ext uri="{FF2B5EF4-FFF2-40B4-BE49-F238E27FC236}">
                <a16:creationId xmlns:a16="http://schemas.microsoft.com/office/drawing/2014/main" id="{92491237-66D5-40D0-A1D0-75458AC6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1" name="s8-r1-c1-text">
            <a:extLst xmlns:a="http://schemas.openxmlformats.org/drawingml/2006/main">
              <a:ext uri="{FF2B5EF4-FFF2-40B4-BE49-F238E27FC236}">
                <a16:creationId xmlns:a16="http://schemas.microsoft.com/office/drawing/2014/main" id="{4F024F82-BFE1-4FE8-AE68-A821EC1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9560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2" name="s8-r1-c2-cell">
            <a:extLst xmlns:a="http://schemas.openxmlformats.org/drawingml/2006/main">
              <a:ext uri="{FF2B5EF4-FFF2-40B4-BE49-F238E27FC236}">
                <a16:creationId xmlns:a16="http://schemas.microsoft.com/office/drawing/2014/main" id="{B177150F-C14D-44DA-AC71-BA2FF6A6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0350"/>
            <a:ext cx="508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3" name="s8-r1-c2-text">
            <a:extLst xmlns:a="http://schemas.openxmlformats.org/drawingml/2006/main">
              <a:ext uri="{FF2B5EF4-FFF2-40B4-BE49-F238E27FC236}">
                <a16:creationId xmlns:a16="http://schemas.microsoft.com/office/drawing/2014/main" id="{B34AB908-B6BE-4C9B-8F49-C29EAED6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Upper bound unknown</a:t>
            </a:r>
          </a:p>
        </p:txBody>
      </p:sp>
      <p:sp>
        <p:nvSpPr>
          <p:cNvPr id="24" name="s8-r2-c0-cell">
            <a:extLst xmlns:a="http://schemas.openxmlformats.org/drawingml/2006/main">
              <a:ext uri="{FF2B5EF4-FFF2-40B4-BE49-F238E27FC236}">
                <a16:creationId xmlns:a16="http://schemas.microsoft.com/office/drawing/2014/main" id="{52116439-422B-49BB-B0BA-33FB70E3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5" name="s8-r2-c0-text">
            <a:extLst xmlns:a="http://schemas.openxmlformats.org/drawingml/2006/main">
              <a:ext uri="{FF2B5EF4-FFF2-40B4-BE49-F238E27FC236}">
                <a16:creationId xmlns:a16="http://schemas.microsoft.com/office/drawing/2014/main" id="{8650BA2E-DFFB-4D78-A4B1-6D50788C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Below the lab's action threshold</a:t>
            </a:r>
          </a:p>
        </p:txBody>
      </p:sp>
      <p:sp>
        <p:nvSpPr>
          <p:cNvPr id="26" name="s8-r2-c1-cell">
            <a:extLst xmlns:a="http://schemas.openxmlformats.org/drawingml/2006/main">
              <a:ext uri="{FF2B5EF4-FFF2-40B4-BE49-F238E27FC236}">
                <a16:creationId xmlns:a16="http://schemas.microsoft.com/office/drawing/2014/main" id="{24D6B7A3-92D6-4446-AB24-B05794C7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7" name="s8-r2-c1-text">
            <a:extLst xmlns:a="http://schemas.openxmlformats.org/drawingml/2006/main">
              <a:ext uri="{FF2B5EF4-FFF2-40B4-BE49-F238E27FC236}">
                <a16:creationId xmlns:a16="http://schemas.microsoft.com/office/drawing/2014/main" id="{C11F07E4-7460-482B-8078-55CEF55E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8" name="s8-r2-c2-cell">
            <a:extLst xmlns:a="http://schemas.openxmlformats.org/drawingml/2006/main">
              <a:ext uri="{FF2B5EF4-FFF2-40B4-BE49-F238E27FC236}">
                <a16:creationId xmlns:a16="http://schemas.microsoft.com/office/drawing/2014/main" id="{703D313B-751C-4403-873F-DD68D9F6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62350"/>
            <a:ext cx="508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9" name="s8-r2-c2-text">
            <a:extLst xmlns:a="http://schemas.openxmlformats.org/drawingml/2006/main">
              <a:ext uri="{FF2B5EF4-FFF2-40B4-BE49-F238E27FC236}">
                <a16:creationId xmlns:a16="http://schemas.microsoft.com/office/drawing/2014/main" id="{A6FFAE4C-FD55-4A97-949A-FC4FFF91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35D3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5D39D"/>
                </a:solidFill>
                <a:latin typeface="Arial"/>
                <a:ea typeface="Arial"/>
                <a:cs typeface="Arial"/>
              </a:rPr>
              <a:t>Capability stays below threshold</a:t>
            </a:r>
          </a:p>
        </p:txBody>
      </p:sp>
      <p:sp>
        <p:nvSpPr>
          <p:cNvPr id="30" name="s8-r3-c0-cell">
            <a:extLst xmlns:a="http://schemas.openxmlformats.org/drawingml/2006/main">
              <a:ext uri="{FF2B5EF4-FFF2-40B4-BE49-F238E27FC236}">
                <a16:creationId xmlns:a16="http://schemas.microsoft.com/office/drawing/2014/main" id="{6209819C-C685-4885-ADB8-C335C54F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31" name="s8-r3-c0-text">
            <a:extLst xmlns:a="http://schemas.openxmlformats.org/drawingml/2006/main">
              <a:ext uri="{FF2B5EF4-FFF2-40B4-BE49-F238E27FC236}">
                <a16:creationId xmlns:a16="http://schemas.microsoft.com/office/drawing/2014/main" id="{CA09B0E0-8E84-4503-BBA2-4BDA6BB0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96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Results conflict or cannot be trusted</a:t>
            </a:r>
          </a:p>
        </p:txBody>
      </p:sp>
      <p:sp>
        <p:nvSpPr>
          <p:cNvPr id="32" name="s8-r3-c1-cell">
            <a:extLst xmlns:a="http://schemas.openxmlformats.org/drawingml/2006/main">
              <a:ext uri="{FF2B5EF4-FFF2-40B4-BE49-F238E27FC236}">
                <a16:creationId xmlns:a16="http://schemas.microsoft.com/office/drawing/2014/main" id="{C53DFF7B-E574-436A-B706-911F983E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243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33" name="s8-r3-c1-text">
            <a:extLst xmlns:a="http://schemas.openxmlformats.org/drawingml/2006/main">
              <a:ext uri="{FF2B5EF4-FFF2-40B4-BE49-F238E27FC236}">
                <a16:creationId xmlns:a16="http://schemas.microsoft.com/office/drawing/2014/main" id="{FE70BD42-4057-4446-BBCB-7BDAED5A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960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Not needed</a:t>
            </a:r>
          </a:p>
        </p:txBody>
      </p:sp>
      <p:sp>
        <p:nvSpPr>
          <p:cNvPr id="34" name="s8-r3-c2-cell">
            <a:extLst xmlns:a="http://schemas.openxmlformats.org/drawingml/2006/main">
              <a:ext uri="{FF2B5EF4-FFF2-40B4-BE49-F238E27FC236}">
                <a16:creationId xmlns:a16="http://schemas.microsoft.com/office/drawing/2014/main" id="{1F62F4A6-20BC-4D5B-9196-785CE536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24350"/>
            <a:ext cx="5086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35" name="s8-r3-c2-text">
            <a:extLst xmlns:a="http://schemas.openxmlformats.org/drawingml/2006/main">
              <a:ext uri="{FF2B5EF4-FFF2-40B4-BE49-F238E27FC236}">
                <a16:creationId xmlns:a16="http://schemas.microsoft.com/office/drawing/2014/main" id="{82DB917E-1808-4196-8F93-A59600F1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Inconclusive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(precautionarily treated as above threshold)</a:t>
            </a:r>
          </a:p>
        </p:txBody>
      </p:sp>
      <p:sp>
        <p:nvSpPr>
          <p:cNvPr id="36" name="s8-footnote">
            <a:extLst xmlns:a="http://schemas.openxmlformats.org/drawingml/2006/main">
              <a:ext uri="{FF2B5EF4-FFF2-40B4-BE49-F238E27FC236}">
                <a16:creationId xmlns:a16="http://schemas.microsoft.com/office/drawing/2014/main" id="{A01D3D93-9658-4ECF-B794-935DBC47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6C8"/>
                </a:solidFill>
                <a:latin typeface="Arial"/>
                <a:ea typeface="Arial"/>
                <a:cs typeface="Arial"/>
              </a:rPr>
              <a:t>Here, Yes means the tests found capability that the control models were trained to hide. Each access level is checked separately.</a:t>
            </a:r>
          </a:p>
        </p:txBody>
      </p:sp>
      <p:sp>
        <p:nvSpPr>
          <p:cNvPr id="38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5A463DE0-D2C8-41F0-951A-27CF24F8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38095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38095"/>
                </a:solidFill>
                <a:latin typeface="Arial"/>
                <a:ea typeface="Arial"/>
                <a:cs typeface="Arial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5913776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eyebrow">
            <a:extLst xmlns:a="http://schemas.openxmlformats.org/drawingml/2006/main">
              <a:ext uri="{FF2B5EF4-FFF2-40B4-BE49-F238E27FC236}">
                <a16:creationId xmlns:a16="http://schemas.microsoft.com/office/drawing/2014/main" id="{900FE6C7-8225-40A0-9B14-36B577E3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WHAT THE EXPERIMENT SHOWED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F4B9C9-AFEF-47B0-8CE2-FC42E1AA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EvalBracket stopped weak tests from making the model look safer.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C4C44F19-A2F8-49C5-B9E1-669AAB96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8D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B3464F8-67C0-4308-AB58-F7CA0F45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E5D9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C90365-8AC9-4977-8B1F-AC5D627B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9-h-0-cell">
            <a:extLst xmlns:a="http://schemas.openxmlformats.org/drawingml/2006/main">
              <a:ext uri="{FF2B5EF4-FFF2-40B4-BE49-F238E27FC236}">
                <a16:creationId xmlns:a16="http://schemas.microsoft.com/office/drawing/2014/main" id="{B7B63709-96A1-42A8-A14F-8E04D7E6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7" name="s9-h-0-text">
            <a:extLst xmlns:a="http://schemas.openxmlformats.org/drawingml/2006/main">
              <a:ext uri="{FF2B5EF4-FFF2-40B4-BE49-F238E27FC236}">
                <a16:creationId xmlns:a16="http://schemas.microsoft.com/office/drawing/2014/main" id="{1EB973D4-F02F-4C21-85BD-16BBAD20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TEST USED</a:t>
            </a:r>
          </a:p>
        </p:txBody>
      </p:sp>
      <p:sp>
        <p:nvSpPr>
          <p:cNvPr id="8" name="s9-h-1-cell">
            <a:extLst xmlns:a="http://schemas.openxmlformats.org/drawingml/2006/main">
              <a:ext uri="{FF2B5EF4-FFF2-40B4-BE49-F238E27FC236}">
                <a16:creationId xmlns:a16="http://schemas.microsoft.com/office/drawing/2014/main" id="{6AD6DA97-DF59-4921-85E0-A367FE76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4287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9" name="s9-h-1-text">
            <a:extLst xmlns:a="http://schemas.openxmlformats.org/drawingml/2006/main">
              <a:ext uri="{FF2B5EF4-FFF2-40B4-BE49-F238E27FC236}">
                <a16:creationId xmlns:a16="http://schemas.microsoft.com/office/drawing/2014/main" id="{B76A3FE4-EADE-4ED4-BB8B-E70F09E0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240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WRONG 'BELOW THRESHOLD' RESULTS</a:t>
            </a:r>
          </a:p>
        </p:txBody>
      </p:sp>
      <p:sp>
        <p:nvSpPr>
          <p:cNvPr id="10" name="s9-h-2-cell">
            <a:extLst xmlns:a="http://schemas.openxmlformats.org/drawingml/2006/main">
              <a:ext uri="{FF2B5EF4-FFF2-40B4-BE49-F238E27FC236}">
                <a16:creationId xmlns:a16="http://schemas.microsoft.com/office/drawing/2014/main" id="{B145C3D4-BD65-4265-805B-71B5EEF2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287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1" name="s9-h-2-text">
            <a:extLst xmlns:a="http://schemas.openxmlformats.org/drawingml/2006/main">
              <a:ext uri="{FF2B5EF4-FFF2-40B4-BE49-F238E27FC236}">
                <a16:creationId xmlns:a16="http://schemas.microsoft.com/office/drawing/2014/main" id="{62A6A002-937C-4EE2-9562-4C38A243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CORRECT 'BELOW THRESHOLD' RESULTS</a:t>
            </a:r>
          </a:p>
        </p:txBody>
      </p:sp>
      <p:sp>
        <p:nvSpPr>
          <p:cNvPr id="12" name="s9-h-3-cell">
            <a:extLst xmlns:a="http://schemas.openxmlformats.org/drawingml/2006/main">
              <a:ext uri="{FF2B5EF4-FFF2-40B4-BE49-F238E27FC236}">
                <a16:creationId xmlns:a16="http://schemas.microsoft.com/office/drawing/2014/main" id="{72390134-5681-4EA5-B35C-029D13F6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28750"/>
            <a:ext cx="489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3" name="s9-h-3-text">
            <a:extLst xmlns:a="http://schemas.openxmlformats.org/drawingml/2006/main">
              <a:ext uri="{FF2B5EF4-FFF2-40B4-BE49-F238E27FC236}">
                <a16:creationId xmlns:a16="http://schemas.microsoft.com/office/drawing/2014/main" id="{3EA53F84-1A19-4C51-8A84-93EC2946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240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WHAT HAPPENED</a:t>
            </a:r>
          </a:p>
        </p:txBody>
      </p:sp>
      <p:sp>
        <p:nvSpPr>
          <p:cNvPr id="14" name="s9-r0-c0-cell">
            <a:extLst xmlns:a="http://schemas.openxmlformats.org/drawingml/2006/main">
              <a:ext uri="{FF2B5EF4-FFF2-40B4-BE49-F238E27FC236}">
                <a16:creationId xmlns:a16="http://schemas.microsoft.com/office/drawing/2014/main" id="{B43D9C8E-BAC2-47E4-A442-4D0B6600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5" name="s9-r0-c0-text">
            <a:extLst xmlns:a="http://schemas.openxmlformats.org/drawingml/2006/main">
              <a:ext uri="{FF2B5EF4-FFF2-40B4-BE49-F238E27FC236}">
                <a16:creationId xmlns:a16="http://schemas.microsoft.com/office/drawing/2014/main" id="{19FFCC6D-DA3A-47F2-A185-A9CDA61D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Basic test only</a:t>
            </a:r>
          </a:p>
        </p:txBody>
      </p:sp>
      <p:sp>
        <p:nvSpPr>
          <p:cNvPr id="16" name="s9-r0-c1-cell">
            <a:extLst xmlns:a="http://schemas.openxmlformats.org/drawingml/2006/main">
              <a:ext uri="{FF2B5EF4-FFF2-40B4-BE49-F238E27FC236}">
                <a16:creationId xmlns:a16="http://schemas.microsoft.com/office/drawing/2014/main" id="{BD7C3E7B-E86C-4E0D-92A9-063EFA0A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050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7" name="s9-r0-c1-text">
            <a:extLst xmlns:a="http://schemas.openxmlformats.org/drawingml/2006/main">
              <a:ext uri="{FF2B5EF4-FFF2-40B4-BE49-F238E27FC236}">
                <a16:creationId xmlns:a16="http://schemas.microsoft.com/office/drawing/2014/main" id="{7E157ADD-9EBC-49CC-9352-185B130B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6B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85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8" name="s9-r0-c2-cell">
            <a:extLst xmlns:a="http://schemas.openxmlformats.org/drawingml/2006/main">
              <a:ext uri="{FF2B5EF4-FFF2-40B4-BE49-F238E27FC236}">
                <a16:creationId xmlns:a16="http://schemas.microsoft.com/office/drawing/2014/main" id="{7ECF68A5-EC99-4846-A4B0-6EE0DC43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9" name="s9-r0-c2-text">
            <a:extLst xmlns:a="http://schemas.openxmlformats.org/drawingml/2006/main">
              <a:ext uri="{FF2B5EF4-FFF2-40B4-BE49-F238E27FC236}">
                <a16:creationId xmlns:a16="http://schemas.microsoft.com/office/drawing/2014/main" id="{2933DE9D-BAED-4284-A483-743CA9E8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9D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0" name="s9-r0-c3-cell">
            <a:extLst xmlns:a="http://schemas.openxmlformats.org/drawingml/2006/main">
              <a:ext uri="{FF2B5EF4-FFF2-40B4-BE49-F238E27FC236}">
                <a16:creationId xmlns:a16="http://schemas.microsoft.com/office/drawing/2014/main" id="{C87BB9E1-8C7A-4421-B1ED-5A90AACD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05000"/>
            <a:ext cx="4895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1" name="s9-r0-c3-text">
            <a:extLst xmlns:a="http://schemas.openxmlformats.org/drawingml/2006/main">
              <a:ext uri="{FF2B5EF4-FFF2-40B4-BE49-F238E27FC236}">
                <a16:creationId xmlns:a16="http://schemas.microsoft.com/office/drawing/2014/main" id="{D4D92F60-45D3-4EB8-A89B-10646739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Called every case below threshold, including every hidden-capability case.</a:t>
            </a:r>
          </a:p>
        </p:txBody>
      </p:sp>
      <p:sp>
        <p:nvSpPr>
          <p:cNvPr id="22" name="s9-r1-c0-cell">
            <a:extLst xmlns:a="http://schemas.openxmlformats.org/drawingml/2006/main">
              <a:ext uri="{FF2B5EF4-FFF2-40B4-BE49-F238E27FC236}">
                <a16:creationId xmlns:a16="http://schemas.microsoft.com/office/drawing/2014/main" id="{E4FBD36D-E995-4E28-B06B-B7AF76DE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3" name="s9-r1-c0-text">
            <a:extLst xmlns:a="http://schemas.openxmlformats.org/drawingml/2006/main">
              <a:ext uri="{FF2B5EF4-FFF2-40B4-BE49-F238E27FC236}">
                <a16:creationId xmlns:a16="http://schemas.microsoft.com/office/drawing/2014/main" id="{54CBB67A-388C-42D1-A9F7-9B0800A7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More API prompts</a:t>
            </a:r>
          </a:p>
        </p:txBody>
      </p:sp>
      <p:sp>
        <p:nvSpPr>
          <p:cNvPr id="24" name="s9-r1-c1-cell">
            <a:extLst xmlns:a="http://schemas.openxmlformats.org/drawingml/2006/main">
              <a:ext uri="{FF2B5EF4-FFF2-40B4-BE49-F238E27FC236}">
                <a16:creationId xmlns:a16="http://schemas.microsoft.com/office/drawing/2014/main" id="{A289D5DE-084B-4A27-B0E3-F7495AB8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5" name="s9-r1-c1-text">
            <a:extLst xmlns:a="http://schemas.openxmlformats.org/drawingml/2006/main">
              <a:ext uri="{FF2B5EF4-FFF2-40B4-BE49-F238E27FC236}">
                <a16:creationId xmlns:a16="http://schemas.microsoft.com/office/drawing/2014/main" id="{B3E8C415-1CBF-4785-8A7B-8B3301FE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813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6B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85"/>
                </a:solidFill>
                <a:latin typeface="Arial"/>
                <a:ea typeface="Arial"/>
                <a:cs typeface="Arial"/>
              </a:rPr>
              <a:t>54.8%</a:t>
            </a:r>
          </a:p>
        </p:txBody>
      </p:sp>
      <p:sp>
        <p:nvSpPr>
          <p:cNvPr id="26" name="s9-r1-c2-cell">
            <a:extLst xmlns:a="http://schemas.openxmlformats.org/drawingml/2006/main">
              <a:ext uri="{FF2B5EF4-FFF2-40B4-BE49-F238E27FC236}">
                <a16:creationId xmlns:a16="http://schemas.microsoft.com/office/drawing/2014/main" id="{0BC25035-02C9-4950-8040-6DC71616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7" name="s9-r1-c2-text">
            <a:extLst xmlns:a="http://schemas.openxmlformats.org/drawingml/2006/main">
              <a:ext uri="{FF2B5EF4-FFF2-40B4-BE49-F238E27FC236}">
                <a16:creationId xmlns:a16="http://schemas.microsoft.com/office/drawing/2014/main" id="{D32A72B4-9433-41CF-AE03-81228D6E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9D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8" name="s9-r1-c3-cell">
            <a:extLst xmlns:a="http://schemas.openxmlformats.org/drawingml/2006/main">
              <a:ext uri="{FF2B5EF4-FFF2-40B4-BE49-F238E27FC236}">
                <a16:creationId xmlns:a16="http://schemas.microsoft.com/office/drawing/2014/main" id="{4C0033CB-0BEC-4B89-B8A4-DF154601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86050"/>
            <a:ext cx="4895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9" name="s9-r1-c3-text">
            <a:extLst xmlns:a="http://schemas.openxmlformats.org/drawingml/2006/main">
              <a:ext uri="{FF2B5EF4-FFF2-40B4-BE49-F238E27FC236}">
                <a16:creationId xmlns:a16="http://schemas.microsoft.com/office/drawing/2014/main" id="{024714F0-1379-4FB8-BF43-C155D474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Found some hidden capability, but still missed more than half.</a:t>
            </a:r>
          </a:p>
        </p:txBody>
      </p:sp>
      <p:sp>
        <p:nvSpPr>
          <p:cNvPr id="30" name="s9-r2-c0-cell">
            <a:extLst xmlns:a="http://schemas.openxmlformats.org/drawingml/2006/main">
              <a:ext uri="{FF2B5EF4-FFF2-40B4-BE49-F238E27FC236}">
                <a16:creationId xmlns:a16="http://schemas.microsoft.com/office/drawing/2014/main" id="{FF0A45A0-F214-4D53-B212-B9DB8A39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31" name="s9-r2-c0-text">
            <a:extLst xmlns:a="http://schemas.openxmlformats.org/drawingml/2006/main">
              <a:ext uri="{FF2B5EF4-FFF2-40B4-BE49-F238E27FC236}">
                <a16:creationId xmlns:a16="http://schemas.microsoft.com/office/drawing/2014/main" id="{4041417E-8057-474A-ADB4-731B5451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EvalBracket 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the same API prompts</a:t>
            </a:r>
          </a:p>
        </p:txBody>
      </p:sp>
      <p:sp>
        <p:nvSpPr>
          <p:cNvPr id="32" name="s9-r2-c1-cell">
            <a:extLst xmlns:a="http://schemas.openxmlformats.org/drawingml/2006/main">
              <a:ext uri="{FF2B5EF4-FFF2-40B4-BE49-F238E27FC236}">
                <a16:creationId xmlns:a16="http://schemas.microsoft.com/office/drawing/2014/main" id="{0BA7D606-F459-4B9D-BF56-E9F90830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671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33" name="s9-r2-c1-text">
            <a:extLst xmlns:a="http://schemas.openxmlformats.org/drawingml/2006/main">
              <a:ext uri="{FF2B5EF4-FFF2-40B4-BE49-F238E27FC236}">
                <a16:creationId xmlns:a16="http://schemas.microsoft.com/office/drawing/2014/main" id="{D6D3FEBD-9E31-4C50-ADAE-8BA09A8A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623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6B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85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34" name="s9-r2-c2-cell">
            <a:extLst xmlns:a="http://schemas.openxmlformats.org/drawingml/2006/main">
              <a:ext uri="{FF2B5EF4-FFF2-40B4-BE49-F238E27FC236}">
                <a16:creationId xmlns:a16="http://schemas.microsoft.com/office/drawing/2014/main" id="{9C3F18B1-4633-4E33-B321-602A5979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671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35" name="s9-r2-c2-text">
            <a:extLst xmlns:a="http://schemas.openxmlformats.org/drawingml/2006/main">
              <a:ext uri="{FF2B5EF4-FFF2-40B4-BE49-F238E27FC236}">
                <a16:creationId xmlns:a16="http://schemas.microsoft.com/office/drawing/2014/main" id="{BAE7F345-3CB5-4ABD-ADC4-453AFF3C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9D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36" name="s9-r2-c3-cell">
            <a:extLst xmlns:a="http://schemas.openxmlformats.org/drawingml/2006/main">
              <a:ext uri="{FF2B5EF4-FFF2-40B4-BE49-F238E27FC236}">
                <a16:creationId xmlns:a16="http://schemas.microsoft.com/office/drawing/2014/main" id="{4A2332DF-3C3D-421A-A127-08F94A95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67100"/>
            <a:ext cx="4895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37" name="s9-r2-c3-text">
            <a:extLst xmlns:a="http://schemas.openxmlformats.org/drawingml/2006/main">
              <a:ext uri="{FF2B5EF4-FFF2-40B4-BE49-F238E27FC236}">
                <a16:creationId xmlns:a16="http://schemas.microsoft.com/office/drawing/2014/main" id="{E453CDD4-CED1-4128-B9F2-87694D79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The prompts were too weak, so EvalBracket made no below-threshold claims.</a:t>
            </a:r>
          </a:p>
        </p:txBody>
      </p:sp>
      <p:sp>
        <p:nvSpPr>
          <p:cNvPr id="38" name="s9-r3-c0-cell">
            <a:extLst xmlns:a="http://schemas.openxmlformats.org/drawingml/2006/main">
              <a:ext uri="{FF2B5EF4-FFF2-40B4-BE49-F238E27FC236}">
                <a16:creationId xmlns:a16="http://schemas.microsoft.com/office/drawing/2014/main" id="{876B1709-0241-4C07-922F-8B2ADF83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39" name="s9-r3-c0-text">
            <a:extLst xmlns:a="http://schemas.openxmlformats.org/drawingml/2006/main">
              <a:ext uri="{FF2B5EF4-FFF2-40B4-BE49-F238E27FC236}">
                <a16:creationId xmlns:a16="http://schemas.microsoft.com/office/drawing/2014/main" id="{7755EBEE-A15B-4B98-A4C2-F465A83E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EvalBracket 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weight tuning (LoRA)</a:t>
            </a:r>
          </a:p>
        </p:txBody>
      </p:sp>
      <p:sp>
        <p:nvSpPr>
          <p:cNvPr id="40" name="s9-r3-c1-cell">
            <a:extLst xmlns:a="http://schemas.openxmlformats.org/drawingml/2006/main">
              <a:ext uri="{FF2B5EF4-FFF2-40B4-BE49-F238E27FC236}">
                <a16:creationId xmlns:a16="http://schemas.microsoft.com/office/drawing/2014/main" id="{A57F1D89-59E5-41DD-BCFC-3D19EB01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41" name="s9-r3-c1-text">
            <a:extLst xmlns:a="http://schemas.openxmlformats.org/drawingml/2006/main">
              <a:ext uri="{FF2B5EF4-FFF2-40B4-BE49-F238E27FC236}">
                <a16:creationId xmlns:a16="http://schemas.microsoft.com/office/drawing/2014/main" id="{6EC458EB-0DC4-4FED-BA7F-9A5D90EC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434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6B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85"/>
                </a:solidFill>
                <a:latin typeface="Arial"/>
                <a:ea typeface="Arial"/>
                <a:cs typeface="Arial"/>
              </a:rPr>
              <a:t>1.6%</a:t>
            </a:r>
          </a:p>
        </p:txBody>
      </p:sp>
      <p:sp>
        <p:nvSpPr>
          <p:cNvPr id="42" name="s9-r3-c2-cell">
            <a:extLst xmlns:a="http://schemas.openxmlformats.org/drawingml/2006/main">
              <a:ext uri="{FF2B5EF4-FFF2-40B4-BE49-F238E27FC236}">
                <a16:creationId xmlns:a16="http://schemas.microsoft.com/office/drawing/2014/main" id="{B0A36CAD-56B4-4245-8817-B278F38E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48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43" name="s9-r3-c2-text">
            <a:extLst xmlns:a="http://schemas.openxmlformats.org/drawingml/2006/main">
              <a:ext uri="{FF2B5EF4-FFF2-40B4-BE49-F238E27FC236}">
                <a16:creationId xmlns:a16="http://schemas.microsoft.com/office/drawing/2014/main" id="{D9D61339-AA4A-4505-8C9F-8EAF4116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434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39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9D"/>
                </a:solidFill>
                <a:latin typeface="Arial"/>
                <a:ea typeface="Arial"/>
                <a:cs typeface="Arial"/>
              </a:rPr>
              <a:t>95.5%</a:t>
            </a:r>
          </a:p>
        </p:txBody>
      </p:sp>
      <p:sp>
        <p:nvSpPr>
          <p:cNvPr id="44" name="s9-r3-c3-cell">
            <a:extLst xmlns:a="http://schemas.openxmlformats.org/drawingml/2006/main">
              <a:ext uri="{FF2B5EF4-FFF2-40B4-BE49-F238E27FC236}">
                <a16:creationId xmlns:a16="http://schemas.microsoft.com/office/drawing/2014/main" id="{76723A41-B860-45A6-9E00-05999134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4895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45" name="s9-r3-c3-text">
            <a:extLst xmlns:a="http://schemas.openxmlformats.org/drawingml/2006/main">
              <a:ext uri="{FF2B5EF4-FFF2-40B4-BE49-F238E27FC236}">
                <a16:creationId xmlns:a16="http://schemas.microsoft.com/office/drawing/2014/main" id="{A861716C-8AF6-48DA-B0AB-9AD596EC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434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8FC"/>
                </a:solidFill>
                <a:latin typeface="Arial"/>
                <a:ea typeface="Arial"/>
                <a:cs typeface="Arial"/>
              </a:rPr>
              <a:t>Wrongly called 1.6% below threshold and correctly kept 95.5% of true below-threshold cases.</a:t>
            </a:r>
          </a:p>
        </p:txBody>
      </p:sp>
      <p:sp>
        <p:nvSpPr>
          <p:cNvPr id="46" name="s9-note">
            <a:extLst xmlns:a="http://schemas.openxmlformats.org/drawingml/2006/main">
              <a:ext uri="{FF2B5EF4-FFF2-40B4-BE49-F238E27FC236}">
                <a16:creationId xmlns:a16="http://schemas.microsoft.com/office/drawing/2014/main" id="{256FFEB2-7D40-41F0-A6A2-E72D373C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Wrong means hidden capability was missed. Correct means the case was genuinely below threshold.</a:t>
            </a:r>
          </a:p>
        </p:txBody>
      </p:sp>
      <p:sp>
        <p:nvSpPr>
          <p:cNvPr id="47" name="s9-sources">
            <a:extLst xmlns:a="http://schemas.openxmlformats.org/drawingml/2006/main">
              <a:ext uri="{FF2B5EF4-FFF2-40B4-BE49-F238E27FC236}">
                <a16:creationId xmlns:a16="http://schemas.microsoft.com/office/drawing/2014/main" id="{FFCB2669-668E-4BBB-B7D0-FC0AA5BD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B6C8"/>
                </a:solidFill>
                <a:latin typeface="Arial"/>
                <a:ea typeface="Arial"/>
                <a:cs typeface="Arial"/>
              </a:rPr>
              <a:t>At the 60% threshold: 62 hidden-capability cases, 22 genuinely below-threshold cases, five model families. LoRA used 128 / 256 steps.</a:t>
            </a:r>
          </a:p>
        </p:txBody>
      </p:sp>
      <p:sp>
        <p:nvSpPr>
          <p:cNvPr id="49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A2141FD4-F69B-44EF-BB50-899CF8C3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38095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38095"/>
                </a:solidFill>
                <a:latin typeface="Arial"/>
                <a:ea typeface="Arial"/>
                <a:cs typeface="Arial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5881254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B2342C2C-7DD6-4360-8D78-07BE129D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SYSTEM-CARD DISCLOSURE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029BF1-B35D-4FCF-998A-99EAF859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A system card should show the evidence behind each conclusion.</a:t>
            </a:r>
          </a:p>
        </p:txBody>
      </p:sp>
      <p:sp>
        <p:nvSpPr>
          <p:cNvPr id="3" name="footer-mark">
            <a:extLst xmlns:a="http://schemas.openxmlformats.org/drawingml/2006/main">
              <a:ext uri="{FF2B5EF4-FFF2-40B4-BE49-F238E27FC236}">
                <a16:creationId xmlns:a16="http://schemas.microsoft.com/office/drawing/2014/main" id="{67C218E4-D373-4A26-8C43-39B31A06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675" cy="666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8D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66BCE1B-DA12-4C34-B3E5-9DC31263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912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E5D9"/>
                </a:solidFill>
                <a:latin typeface="Arial"/>
                <a:ea typeface="Arial"/>
                <a:cs typeface="Arial"/>
              </a:rPr>
              <a:t>EvalBracket • Internal discussion draft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0FD0883-5AD4-4589-BCE8-48B0958E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9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entry-label">
            <a:extLst xmlns:a="http://schemas.openxmlformats.org/drawingml/2006/main">
              <a:ext uri="{FF2B5EF4-FFF2-40B4-BE49-F238E27FC236}">
                <a16:creationId xmlns:a16="http://schemas.microsoft.com/office/drawing/2014/main" id="{E88811DF-2621-4F1C-80AB-D5FD8B1A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EXAMPLE USING THE PAPER'S API-PROMPT RESULT</a:t>
            </a:r>
          </a:p>
        </p:txBody>
      </p:sp>
      <p:sp>
        <p:nvSpPr>
          <p:cNvPr id="7" name="field-0">
            <a:extLst xmlns:a="http://schemas.openxmlformats.org/drawingml/2006/main">
              <a:ext uri="{FF2B5EF4-FFF2-40B4-BE49-F238E27FC236}">
                <a16:creationId xmlns:a16="http://schemas.microsoft.com/office/drawing/2014/main" id="{FE2A94E8-949C-437F-8220-4340D5E9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334000" cy="55245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8" name="field-0-label">
            <a:extLst xmlns:a="http://schemas.openxmlformats.org/drawingml/2006/main">
              <a:ext uri="{FF2B5EF4-FFF2-40B4-BE49-F238E27FC236}">
                <a16:creationId xmlns:a16="http://schemas.microsoft.com/office/drawing/2014/main" id="{9E26D67F-4732-4588-B64A-873336A0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WHAT WAS TESTED | POLICY THRESHOLD</a:t>
            </a:r>
          </a:p>
        </p:txBody>
      </p:sp>
      <p:sp>
        <p:nvSpPr>
          <p:cNvPr id="9" name="field-0-value">
            <a:extLst xmlns:a="http://schemas.openxmlformats.org/drawingml/2006/main">
              <a:ext uri="{FF2B5EF4-FFF2-40B4-BE49-F238E27FC236}">
                <a16:creationId xmlns:a16="http://schemas.microsoft.com/office/drawing/2014/main" id="{3DB5873F-4B6D-441C-8E23-B34C7518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60% held-out accuracy (proxy)</a:t>
            </a:r>
          </a:p>
        </p:txBody>
      </p:sp>
      <p:sp>
        <p:nvSpPr>
          <p:cNvPr id="10" name="field-1">
            <a:extLst xmlns:a="http://schemas.openxmlformats.org/drawingml/2006/main">
              <a:ext uri="{FF2B5EF4-FFF2-40B4-BE49-F238E27FC236}">
                <a16:creationId xmlns:a16="http://schemas.microsoft.com/office/drawing/2014/main" id="{4F89D699-5F15-4EDB-922E-BC552778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5334000" cy="55245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1" name="field-1-label">
            <a:extLst xmlns:a="http://schemas.openxmlformats.org/drawingml/2006/main">
              <a:ext uri="{FF2B5EF4-FFF2-40B4-BE49-F238E27FC236}">
                <a16:creationId xmlns:a16="http://schemas.microsoft.com/office/drawing/2014/main" id="{58624DE5-FB4D-4B83-B4ED-0D582A69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ACCESS LEVEL</a:t>
            </a:r>
          </a:p>
        </p:txBody>
      </p:sp>
      <p:sp>
        <p:nvSpPr>
          <p:cNvPr id="12" name="field-1-value">
            <a:extLst xmlns:a="http://schemas.openxmlformats.org/drawingml/2006/main">
              <a:ext uri="{FF2B5EF4-FFF2-40B4-BE49-F238E27FC236}">
                <a16:creationId xmlns:a16="http://schemas.microsoft.com/office/drawing/2014/main" id="{E12078F5-E26F-4685-A2E7-A357CCD2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API access</a:t>
            </a:r>
          </a:p>
        </p:txBody>
      </p:sp>
      <p:sp>
        <p:nvSpPr>
          <p:cNvPr id="13" name="field-2">
            <a:extLst xmlns:a="http://schemas.openxmlformats.org/drawingml/2006/main">
              <a:ext uri="{FF2B5EF4-FFF2-40B4-BE49-F238E27FC236}">
                <a16:creationId xmlns:a16="http://schemas.microsoft.com/office/drawing/2014/main" id="{C86F5944-FFB4-4EA1-B5FE-190DE508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5334000" cy="55245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4" name="field-2-label">
            <a:extLst xmlns:a="http://schemas.openxmlformats.org/drawingml/2006/main">
              <a:ext uri="{FF2B5EF4-FFF2-40B4-BE49-F238E27FC236}">
                <a16:creationId xmlns:a16="http://schemas.microsoft.com/office/drawing/2014/main" id="{80BB97E1-DB45-42CB-8E08-572DC11B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FRONTIER-MODEL RESULT</a:t>
            </a:r>
          </a:p>
        </p:txBody>
      </p:sp>
      <p:sp>
        <p:nvSpPr>
          <p:cNvPr id="15" name="field-2-value">
            <a:extLst xmlns:a="http://schemas.openxmlformats.org/drawingml/2006/main">
              <a:ext uri="{FF2B5EF4-FFF2-40B4-BE49-F238E27FC236}">
                <a16:creationId xmlns:a16="http://schemas.microsoft.com/office/drawing/2014/main" id="{4737DD66-BA6A-48C8-B0CA-25E79DA7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Below threshold</a:t>
            </a:r>
          </a:p>
        </p:txBody>
      </p:sp>
      <p:sp>
        <p:nvSpPr>
          <p:cNvPr id="16" name="field-3">
            <a:extLst xmlns:a="http://schemas.openxmlformats.org/drawingml/2006/main">
              <a:ext uri="{FF2B5EF4-FFF2-40B4-BE49-F238E27FC236}">
                <a16:creationId xmlns:a16="http://schemas.microsoft.com/office/drawing/2014/main" id="{978E7265-BA4E-4878-8ADC-5143BE9A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5334000" cy="55245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17" name="field-3-label">
            <a:extLst xmlns:a="http://schemas.openxmlformats.org/drawingml/2006/main">
              <a:ext uri="{FF2B5EF4-FFF2-40B4-BE49-F238E27FC236}">
                <a16:creationId xmlns:a16="http://schemas.microsoft.com/office/drawing/2014/main" id="{05F79A9C-8D36-4E4A-B805-5C04C554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METHODS USED</a:t>
            </a:r>
          </a:p>
        </p:txBody>
      </p:sp>
      <p:sp>
        <p:nvSpPr>
          <p:cNvPr id="18" name="field-3-value">
            <a:extLst xmlns:a="http://schemas.openxmlformats.org/drawingml/2006/main">
              <a:ext uri="{FF2B5EF4-FFF2-40B4-BE49-F238E27FC236}">
                <a16:creationId xmlns:a16="http://schemas.microsoft.com/office/drawing/2014/main" id="{CBFF1510-6C34-446F-ABCC-1580B7BB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Expanded API prompts: six methods</a:t>
            </a:r>
          </a:p>
        </p:txBody>
      </p:sp>
      <p:sp>
        <p:nvSpPr>
          <p:cNvPr id="19" name="field-4">
            <a:extLst xmlns:a="http://schemas.openxmlformats.org/drawingml/2006/main">
              <a:ext uri="{FF2B5EF4-FFF2-40B4-BE49-F238E27FC236}">
                <a16:creationId xmlns:a16="http://schemas.microsoft.com/office/drawing/2014/main" id="{89C1C562-102D-4E36-B62E-F54653A8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5334000" cy="55245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0" name="field-4-label">
            <a:extLst xmlns:a="http://schemas.openxmlformats.org/drawingml/2006/main">
              <a:ext uri="{FF2B5EF4-FFF2-40B4-BE49-F238E27FC236}">
                <a16:creationId xmlns:a16="http://schemas.microsoft.com/office/drawing/2014/main" id="{075B9B14-4F72-4CAB-8A96-8AAF2280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CONTROL RECOVERY</a:t>
            </a:r>
          </a:p>
        </p:txBody>
      </p:sp>
      <p:sp>
        <p:nvSpPr>
          <p:cNvPr id="21" name="field-4-value">
            <a:extLst xmlns:a="http://schemas.openxmlformats.org/drawingml/2006/main">
              <a:ext uri="{FF2B5EF4-FFF2-40B4-BE49-F238E27FC236}">
                <a16:creationId xmlns:a16="http://schemas.microsoft.com/office/drawing/2014/main" id="{6509DF16-234C-4BCC-AFB7-64B55683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39.4% to 48.1%</a:t>
            </a:r>
          </a:p>
        </p:txBody>
      </p:sp>
      <p:sp>
        <p:nvSpPr>
          <p:cNvPr id="22" name="field-5">
            <a:extLst xmlns:a="http://schemas.openxmlformats.org/drawingml/2006/main">
              <a:ext uri="{FF2B5EF4-FFF2-40B4-BE49-F238E27FC236}">
                <a16:creationId xmlns:a16="http://schemas.microsoft.com/office/drawing/2014/main" id="{BA864D5C-DDBC-4C12-B9E8-BEEDB69E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54483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3" name="field-5-label">
            <a:extLst xmlns:a="http://schemas.openxmlformats.org/drawingml/2006/main">
              <a:ext uri="{FF2B5EF4-FFF2-40B4-BE49-F238E27FC236}">
                <a16:creationId xmlns:a16="http://schemas.microsoft.com/office/drawing/2014/main" id="{1E3EF06B-C8B3-42B0-88A2-4EECA62A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WHAT THE CONTROL CHECK SHOWED | CONSERVATIVE MINIMUM</a:t>
            </a:r>
          </a:p>
        </p:txBody>
      </p:sp>
      <p:sp>
        <p:nvSpPr>
          <p:cNvPr id="24" name="field-5-value">
            <a:extLst xmlns:a="http://schemas.openxmlformats.org/drawingml/2006/main">
              <a:ext uri="{FF2B5EF4-FFF2-40B4-BE49-F238E27FC236}">
                <a16:creationId xmlns:a16="http://schemas.microsoft.com/office/drawing/2014/main" id="{2B9C792C-3619-4357-AD01-6D130EF0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25.1% to 36.0%; below the 80% bar</a:t>
            </a:r>
          </a:p>
        </p:txBody>
      </p:sp>
      <p:sp>
        <p:nvSpPr>
          <p:cNvPr id="25" name="field-6">
            <a:extLst xmlns:a="http://schemas.openxmlformats.org/drawingml/2006/main">
              <a:ext uri="{FF2B5EF4-FFF2-40B4-BE49-F238E27FC236}">
                <a16:creationId xmlns:a16="http://schemas.microsoft.com/office/drawing/2014/main" id="{75DA853D-7DB6-43D7-B6CB-F6085EC4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4483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6" name="field-6-label">
            <a:extLst xmlns:a="http://schemas.openxmlformats.org/drawingml/2006/main">
              <a:ext uri="{FF2B5EF4-FFF2-40B4-BE49-F238E27FC236}">
                <a16:creationId xmlns:a16="http://schemas.microsoft.com/office/drawing/2014/main" id="{990D96E0-6519-43A5-8736-CA7CFE84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6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CONTROL COVERAGE</a:t>
            </a:r>
          </a:p>
        </p:txBody>
      </p:sp>
      <p:sp>
        <p:nvSpPr>
          <p:cNvPr id="27" name="field-6-value">
            <a:extLst xmlns:a="http://schemas.openxmlformats.org/drawingml/2006/main">
              <a:ext uri="{FF2B5EF4-FFF2-40B4-BE49-F238E27FC236}">
                <a16:creationId xmlns:a16="http://schemas.microsoft.com/office/drawing/2014/main" id="{C3B2DD06-A271-4289-81BE-D39C84EA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956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C"/>
                </a:solidFill>
                <a:latin typeface="Arial"/>
                <a:ea typeface="Arial"/>
                <a:cs typeface="Arial"/>
              </a:rPr>
              <a:t>Minimum coverage criteria met</a:t>
            </a:r>
          </a:p>
        </p:txBody>
      </p:sp>
      <p:sp>
        <p:nvSpPr>
          <p:cNvPr id="28" name="field-7">
            <a:extLst xmlns:a="http://schemas.openxmlformats.org/drawingml/2006/main">
              <a:ext uri="{FF2B5EF4-FFF2-40B4-BE49-F238E27FC236}">
                <a16:creationId xmlns:a16="http://schemas.microsoft.com/office/drawing/2014/main" id="{06DAC1FF-7A9F-443A-923C-03934AB2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4483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29" name="field-7-label">
            <a:extLst xmlns:a="http://schemas.openxmlformats.org/drawingml/2006/main">
              <a:ext uri="{FF2B5EF4-FFF2-40B4-BE49-F238E27FC236}">
                <a16:creationId xmlns:a16="http://schemas.microsoft.com/office/drawing/2014/main" id="{EC5C7D16-1CFB-4EAB-9AE2-F7DB3E4B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EVALBRACKET CONCLUSION</a:t>
            </a:r>
          </a:p>
        </p:txBody>
      </p:sp>
      <p:sp>
        <p:nvSpPr>
          <p:cNvPr id="30" name="field-7-value">
            <a:extLst xmlns:a="http://schemas.openxmlformats.org/drawingml/2006/main">
              <a:ext uri="{FF2B5EF4-FFF2-40B4-BE49-F238E27FC236}">
                <a16:creationId xmlns:a16="http://schemas.microsoft.com/office/drawing/2014/main" id="{F1EAB9EE-F4B3-4654-A6BD-E83C9BD3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Upper bound unknown</a:t>
            </a:r>
          </a:p>
        </p:txBody>
      </p:sp>
      <p:sp>
        <p:nvSpPr>
          <p:cNvPr id="31" name="field-8">
            <a:extLst xmlns:a="http://schemas.openxmlformats.org/drawingml/2006/main">
              <a:ext uri="{FF2B5EF4-FFF2-40B4-BE49-F238E27FC236}">
                <a16:creationId xmlns:a16="http://schemas.microsoft.com/office/drawing/2014/main" id="{E4ED4DF7-2E6E-4E1C-925C-723F53A5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54483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63445"/>
            </a:solidFill>
            <a:prstDash val="solid"/>
          </a:ln>
        </p:spPr>
      </p:sp>
      <p:sp>
        <p:nvSpPr>
          <p:cNvPr id="32" name="field-8-label">
            <a:extLst xmlns:a="http://schemas.openxmlformats.org/drawingml/2006/main">
              <a:ext uri="{FF2B5EF4-FFF2-40B4-BE49-F238E27FC236}">
                <a16:creationId xmlns:a16="http://schemas.microsoft.com/office/drawing/2014/main" id="{EF170128-68B8-4646-AD91-04064360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815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A8B6C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B6C8"/>
                </a:solidFill>
                <a:latin typeface="Arial"/>
                <a:ea typeface="Arial"/>
                <a:cs typeface="Arial"/>
              </a:rPr>
              <a:t>WHAT TO DO NEXT</a:t>
            </a:r>
          </a:p>
        </p:txBody>
      </p:sp>
      <p:sp>
        <p:nvSpPr>
          <p:cNvPr id="33" name="field-8-value">
            <a:extLst xmlns:a="http://schemas.openxmlformats.org/drawingml/2006/main">
              <a:ext uri="{FF2B5EF4-FFF2-40B4-BE49-F238E27FC236}">
                <a16:creationId xmlns:a16="http://schemas.microsoft.com/office/drawing/2014/main" id="{CE8CD87E-2C37-4AD7-A4E8-B7F1DB35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01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Do not claim below; strengthen the tests</a:t>
            </a:r>
          </a:p>
        </p:txBody>
      </p:sp>
      <p:sp>
        <p:nvSpPr>
          <p:cNvPr id="34" name="s10-note">
            <a:extLst xmlns:a="http://schemas.openxmlformats.org/drawingml/2006/main">
              <a:ext uri="{FF2B5EF4-FFF2-40B4-BE49-F238E27FC236}">
                <a16:creationId xmlns:a16="http://schemas.microsoft.com/office/drawing/2014/main" id="{BF6529FD-ABE6-48EB-BF43-35DFCDCC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69E5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9E5D9"/>
                </a:solidFill>
                <a:latin typeface="Arial"/>
                <a:ea typeface="Arial"/>
                <a:cs typeface="Arial"/>
              </a:rPr>
              <a:t>Report safeguards and the laboratory risk framework separately. EvalBracket complements both.</a:t>
            </a:r>
          </a:p>
        </p:txBody>
      </p:sp>
      <p:sp>
        <p:nvSpPr>
          <p:cNvPr id="36" name="page-number-v6">
            <a:extLst xmlns:a="http://schemas.openxmlformats.org/drawingml/2006/main">
              <a:ext uri="{FF2B5EF4-FFF2-40B4-BE49-F238E27FC236}">
                <a16:creationId xmlns:a16="http://schemas.microsoft.com/office/drawing/2014/main" id="{8661E099-DB37-47F3-9692-9A524A51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91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38095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38095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309806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2026-07-17T09:37:09.8880000Z</dcterms:created>
  <dcterms:modified xsi:type="dcterms:W3CDTF">2026-07-17T09:37:09.8880000Z</dcterms:modified>
</coreProperties>
</file>