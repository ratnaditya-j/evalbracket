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a65549bdaa34fb8" /><Relationship Type="http://schemas.openxmlformats.org/officeDocument/2006/relationships/extended-properties" Target="/docProps/app.xml" Id="R1b438488224f42b7" /><Relationship Type="http://schemas.openxmlformats.org/officeDocument/2006/relationships/officeDocument" Target="/ppt/presentation.xml" Id="Rf9c8dc5653d4487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ee4a54740854beb"/>
  </p:sldMasterIdLst>
  <p:notesMasterIdLst>
    <p:notesMasterId xmlns:r="http://schemas.openxmlformats.org/officeDocument/2006/relationships" r:id="Rf3bf628ebe8a4eda"/>
  </p:notesMasterIdLst>
  <p:sldIdLst>
    <p:sldId xmlns:r="http://schemas.openxmlformats.org/officeDocument/2006/relationships" id="256" r:id="Raf9aee5c2843434e"/>
    <p:sldId xmlns:r="http://schemas.openxmlformats.org/officeDocument/2006/relationships" id="257" r:id="R68b7515eaf7c45b7"/>
    <p:sldId xmlns:r="http://schemas.openxmlformats.org/officeDocument/2006/relationships" id="258" r:id="R7ca01a72ce8d4e8c"/>
    <p:sldId xmlns:r="http://schemas.openxmlformats.org/officeDocument/2006/relationships" id="259" r:id="R4404ad08f2154b58"/>
    <p:sldId xmlns:r="http://schemas.openxmlformats.org/officeDocument/2006/relationships" id="260" r:id="Rd0fcd1e4ba734c87"/>
    <p:sldId xmlns:r="http://schemas.openxmlformats.org/officeDocument/2006/relationships" id="261" r:id="Ra43674a9e76347ef"/>
    <p:sldId xmlns:r="http://schemas.openxmlformats.org/officeDocument/2006/relationships" id="262" r:id="R3e6aaf9619024f5b"/>
    <p:sldId xmlns:r="http://schemas.openxmlformats.org/officeDocument/2006/relationships" id="263" r:id="R343a9e2ac0764d1e"/>
    <p:sldId xmlns:r="http://schemas.openxmlformats.org/officeDocument/2006/relationships" id="264" r:id="Rb10ee3f113f64a06"/>
    <p:sldId xmlns:r="http://schemas.openxmlformats.org/officeDocument/2006/relationships" id="265" r:id="R712bd219ab0b43cf"/>
    <p:sldId xmlns:r="http://schemas.openxmlformats.org/officeDocument/2006/relationships" id="266" r:id="Rbdd8585b82604589"/>
    <p:sldId xmlns:r="http://schemas.openxmlformats.org/officeDocument/2006/relationships" id="267" r:id="Rf15d9bd592f94a58"/>
    <p:sldId xmlns:r="http://schemas.openxmlformats.org/officeDocument/2006/relationships" id="268" r:id="R99ea6c90a1f44fc3"/>
    <p:sldId xmlns:r="http://schemas.openxmlformats.org/officeDocument/2006/relationships" id="269" r:id="Rafee9b5fc7134c00"/>
    <p:sldId xmlns:r="http://schemas.openxmlformats.org/officeDocument/2006/relationships" id="270" r:id="R62a0f2b0de924b72"/>
    <p:sldId xmlns:r="http://schemas.openxmlformats.org/officeDocument/2006/relationships" id="271" r:id="Rc0680e9e0fea44dc"/>
    <p:sldId xmlns:r="http://schemas.openxmlformats.org/officeDocument/2006/relationships" id="272" r:id="R11796f1f6e9e4982"/>
    <p:sldId xmlns:r="http://schemas.openxmlformats.org/officeDocument/2006/relationships" id="273" r:id="R3d9c4bd29eb443f1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4f557527b6d45e5" /><Relationship Type="http://schemas.openxmlformats.org/officeDocument/2006/relationships/slideMaster" Target="/ppt/slideMasters/slideMaster1.xml" Id="R4ee4a54740854beb" /><Relationship Type="http://schemas.openxmlformats.org/officeDocument/2006/relationships/notesMaster" Target="/ppt/notesMasters/notesMaster1.xml" Id="Rf3bf628ebe8a4eda" /><Relationship Type="http://schemas.openxmlformats.org/officeDocument/2006/relationships/presProps" Target="/ppt/presProps.xml" Id="R218c9eb91de24103" /><Relationship Type="http://schemas.openxmlformats.org/officeDocument/2006/relationships/tableStyles" Target="/ppt/tableStyles.xml" Id="R4b06410a763845e7" /><Relationship Type="http://schemas.openxmlformats.org/officeDocument/2006/relationships/slide" Target="/ppt/slides/slide1.xml" Id="Raf9aee5c2843434e" /><Relationship Type="http://schemas.openxmlformats.org/officeDocument/2006/relationships/slide" Target="/ppt/slides/slide2.xml" Id="R68b7515eaf7c45b7" /><Relationship Type="http://schemas.openxmlformats.org/officeDocument/2006/relationships/slide" Target="/ppt/slides/slide3.xml" Id="R7ca01a72ce8d4e8c" /><Relationship Type="http://schemas.openxmlformats.org/officeDocument/2006/relationships/slide" Target="/ppt/slides/slide4.xml" Id="R4404ad08f2154b58" /><Relationship Type="http://schemas.openxmlformats.org/officeDocument/2006/relationships/slide" Target="/ppt/slides/slide5.xml" Id="Rd0fcd1e4ba734c87" /><Relationship Type="http://schemas.openxmlformats.org/officeDocument/2006/relationships/slide" Target="/ppt/slides/slide6.xml" Id="Ra43674a9e76347ef" /><Relationship Type="http://schemas.openxmlformats.org/officeDocument/2006/relationships/slide" Target="/ppt/slides/slide7.xml" Id="R3e6aaf9619024f5b" /><Relationship Type="http://schemas.openxmlformats.org/officeDocument/2006/relationships/slide" Target="/ppt/slides/slide8.xml" Id="R343a9e2ac0764d1e" /><Relationship Type="http://schemas.openxmlformats.org/officeDocument/2006/relationships/slide" Target="/ppt/slides/slide9.xml" Id="Rb10ee3f113f64a06" /><Relationship Type="http://schemas.openxmlformats.org/officeDocument/2006/relationships/slide" Target="/ppt/slides/slide10.xml" Id="R712bd219ab0b43cf" /><Relationship Type="http://schemas.openxmlformats.org/officeDocument/2006/relationships/slide" Target="/ppt/slides/slide11.xml" Id="Rbdd8585b82604589" /><Relationship Type="http://schemas.openxmlformats.org/officeDocument/2006/relationships/slide" Target="/ppt/slides/slide12.xml" Id="Rf15d9bd592f94a58" /><Relationship Type="http://schemas.openxmlformats.org/officeDocument/2006/relationships/slide" Target="/ppt/slides/slide13.xml" Id="R99ea6c90a1f44fc3" /><Relationship Type="http://schemas.openxmlformats.org/officeDocument/2006/relationships/slide" Target="/ppt/slides/slide14.xml" Id="Rafee9b5fc7134c00" /><Relationship Type="http://schemas.openxmlformats.org/officeDocument/2006/relationships/slide" Target="/ppt/slides/slide15.xml" Id="R62a0f2b0de924b72" /><Relationship Type="http://schemas.openxmlformats.org/officeDocument/2006/relationships/slide" Target="/ppt/slides/slide16.xml" Id="Rc0680e9e0fea44dc" /><Relationship Type="http://schemas.openxmlformats.org/officeDocument/2006/relationships/slide" Target="/ppt/slides/slide17.xml" Id="R11796f1f6e9e4982" /><Relationship Type="http://schemas.openxmlformats.org/officeDocument/2006/relationships/slide" Target="/ppt/slides/slide18.xml" Id="R3d9c4bd29eb443f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6b82f55f2154d4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aadab3bd3ea4b35" /><Relationship Type="http://schemas.openxmlformats.org/officeDocument/2006/relationships/notesMaster" Target="/ppt/notesMasters/notesMaster1.xml" Id="Rdc260aa9534c41a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37745d8f7d14664" /><Relationship Type="http://schemas.openxmlformats.org/officeDocument/2006/relationships/notesMaster" Target="/ppt/notesMasters/notesMaster1.xml" Id="R34c5184bd9214d1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d0c9d0220d74f88" /><Relationship Type="http://schemas.openxmlformats.org/officeDocument/2006/relationships/notesMaster" Target="/ppt/notesMasters/notesMaster1.xml" Id="R80fe2c96666b4d7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168b566fbc64481" /><Relationship Type="http://schemas.openxmlformats.org/officeDocument/2006/relationships/notesMaster" Target="/ppt/notesMasters/notesMaster1.xml" Id="R58e3f0f43e984f5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ea30754d3fe4f17" /><Relationship Type="http://schemas.openxmlformats.org/officeDocument/2006/relationships/notesMaster" Target="/ppt/notesMasters/notesMaster1.xml" Id="Rfc4dedf084564f0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4e89032b9aa428c" /><Relationship Type="http://schemas.openxmlformats.org/officeDocument/2006/relationships/notesMaster" Target="/ppt/notesMasters/notesMaster1.xml" Id="R512bbfc3c12a4ac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f45a63b7fc44514" /><Relationship Type="http://schemas.openxmlformats.org/officeDocument/2006/relationships/notesMaster" Target="/ppt/notesMasters/notesMaster1.xml" Id="R8516b38b8c1e4c5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a22ff92fc874c59" /><Relationship Type="http://schemas.openxmlformats.org/officeDocument/2006/relationships/notesMaster" Target="/ppt/notesMasters/notesMaster1.xml" Id="Recfbdcdfc389459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b165b78104c41d6" /><Relationship Type="http://schemas.openxmlformats.org/officeDocument/2006/relationships/notesMaster" Target="/ppt/notesMasters/notesMaster1.xml" Id="R2895398dead1427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40bf65d3b4f4746" /><Relationship Type="http://schemas.openxmlformats.org/officeDocument/2006/relationships/notesMaster" Target="/ppt/notesMasters/notesMaster1.xml" Id="R5b4030891e444d2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5d0729742ef4d54" /><Relationship Type="http://schemas.openxmlformats.org/officeDocument/2006/relationships/notesMaster" Target="/ppt/notesMasters/notesMaster1.xml" Id="R1acd80f259644ec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14c51e2307c4b22" /><Relationship Type="http://schemas.openxmlformats.org/officeDocument/2006/relationships/notesMaster" Target="/ppt/notesMasters/notesMaster1.xml" Id="R01bcb21fc7224c3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2e5655ac94a41f2" /><Relationship Type="http://schemas.openxmlformats.org/officeDocument/2006/relationships/notesMaster" Target="/ppt/notesMasters/notesMaster1.xml" Id="R90f624bf3289455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f8c54ad50ec4b4c" /><Relationship Type="http://schemas.openxmlformats.org/officeDocument/2006/relationships/notesMaster" Target="/ppt/notesMasters/notesMaster1.xml" Id="R6c3b2d0abb894499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f101c87326ab4dbb" /><Relationship Type="http://schemas.openxmlformats.org/officeDocument/2006/relationships/notesMaster" Target="/ppt/notesMasters/notesMaster1.xml" Id="Rf4d42d6626d14ab3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092315f549ee4481" /><Relationship Type="http://schemas.openxmlformats.org/officeDocument/2006/relationships/notesMaster" Target="/ppt/notesMasters/notesMaster1.xml" Id="Re9d1dc4a9c584870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7460769411564d37" /><Relationship Type="http://schemas.openxmlformats.org/officeDocument/2006/relationships/notesMaster" Target="/ppt/notesMasters/notesMaster1.xml" Id="Rc987835adf17483c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2f7dd72293a64e9a" /><Relationship Type="http://schemas.openxmlformats.org/officeDocument/2006/relationships/notesMaster" Target="/ppt/notesMasters/notesMaster1.xml" Id="R171db6be01b648a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2a1d30e37c544a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ce678d25e864c75" /><Relationship Type="http://schemas.openxmlformats.org/officeDocument/2006/relationships/slideLayout" Target="/ppt/slideLayouts/slideLayout1.xml" Id="R0a2e581c4477489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a2e581c4477489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e1d6ab20064ec8" /><Relationship Type="http://schemas.openxmlformats.org/officeDocument/2006/relationships/notesSlide" Target="/ppt/notesSlides/notesSlide1.xml" Id="R38ffcfd32ced4ca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e3c0069ebe493e" /><Relationship Type="http://schemas.openxmlformats.org/officeDocument/2006/relationships/image" Target="/ppt/media/image.png" Id="R505995ada209423d" /><Relationship Type="http://schemas.openxmlformats.org/officeDocument/2006/relationships/image" Target="/ppt/media/image2.png" Id="Rb231708f0ea84c6c" /><Relationship Type="http://schemas.openxmlformats.org/officeDocument/2006/relationships/notesSlide" Target="/ppt/notesSlides/notesSlide2.xml" Id="R05156c5c20274c3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b3d75163f54988" /><Relationship Type="http://schemas.openxmlformats.org/officeDocument/2006/relationships/notesSlide" Target="/ppt/notesSlides/notesSlide3.xml" Id="R06edaa263a60442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8575ba5034402a" /><Relationship Type="http://schemas.openxmlformats.org/officeDocument/2006/relationships/notesSlide" Target="/ppt/notesSlides/notesSlide4.xml" Id="R77c269151f7a47a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b11a3e92f844cb" /><Relationship Type="http://schemas.openxmlformats.org/officeDocument/2006/relationships/notesSlide" Target="/ppt/notesSlides/notesSlide5.xml" Id="R89ec4b993ebd4d8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1f804f52f74aec" /><Relationship Type="http://schemas.openxmlformats.org/officeDocument/2006/relationships/notesSlide" Target="/ppt/notesSlides/notesSlide6.xml" Id="Ra902248a9fbc49a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6e4b217e544158" /><Relationship Type="http://schemas.openxmlformats.org/officeDocument/2006/relationships/notesSlide" Target="/ppt/notesSlides/notesSlide7.xml" Id="Rc5af45e21c4347a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7fb400ab2f4823" /><Relationship Type="http://schemas.openxmlformats.org/officeDocument/2006/relationships/notesSlide" Target="/ppt/notesSlides/notesSlide8.xml" Id="R470f172cf5af486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f8e5cce41948ea" /><Relationship Type="http://schemas.openxmlformats.org/officeDocument/2006/relationships/notesSlide" Target="/ppt/notesSlides/notesSlide9.xml" Id="Ra36b583d25c5449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630f46a14043cd" /><Relationship Type="http://schemas.openxmlformats.org/officeDocument/2006/relationships/notesSlide" Target="/ppt/notesSlides/notesSlide10.xml" Id="Rcb67a7e615d747f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28d055f5674b2c" /><Relationship Type="http://schemas.openxmlformats.org/officeDocument/2006/relationships/notesSlide" Target="/ppt/notesSlides/notesSlide11.xml" Id="R4b78ec5fb60042b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cc23fab00d4aee" /><Relationship Type="http://schemas.openxmlformats.org/officeDocument/2006/relationships/notesSlide" Target="/ppt/notesSlides/notesSlide12.xml" Id="R99ceccfb6d4e4f9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83639bf83140bf" /><Relationship Type="http://schemas.openxmlformats.org/officeDocument/2006/relationships/notesSlide" Target="/ppt/notesSlides/notesSlide13.xml" Id="R0d29196acb6e442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6db71ed8bd4137" /><Relationship Type="http://schemas.openxmlformats.org/officeDocument/2006/relationships/notesSlide" Target="/ppt/notesSlides/notesSlide14.xml" Id="R45eaca8f77cd4e1c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77ebcda9a74240" /><Relationship Type="http://schemas.openxmlformats.org/officeDocument/2006/relationships/notesSlide" Target="/ppt/notesSlides/notesSlide15.xml" Id="R570283cf44024c62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3a7317940647a8" /><Relationship Type="http://schemas.openxmlformats.org/officeDocument/2006/relationships/notesSlide" Target="/ppt/notesSlides/notesSlide16.xml" Id="R05d950cd074d4cf0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c7cce159a24211" /><Relationship Type="http://schemas.openxmlformats.org/officeDocument/2006/relationships/notesSlide" Target="/ppt/notesSlides/notesSlide17.xml" Id="R2c523143b73643d9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450fd974ff49e8" /><Relationship Type="http://schemas.openxmlformats.org/officeDocument/2006/relationships/notesSlide" Target="/ppt/notesSlides/notesSlide18.xml" Id="Rd4ff7010d2834b1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2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eyebrow">
            <a:extLst xmlns:a="http://schemas.openxmlformats.org/drawingml/2006/main">
              <a:ext uri="{FF2B5EF4-FFF2-40B4-BE49-F238E27FC236}">
                <a16:creationId xmlns:a16="http://schemas.microsoft.com/office/drawing/2014/main" id="{E810DB8C-28B7-4209-AE7E-AAC355E5E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007B7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07B76"/>
                </a:solidFill>
                <a:latin typeface="Arial"/>
                <a:ea typeface="Arial"/>
                <a:cs typeface="Arial"/>
              </a:rPr>
              <a:t>RESPONSIBLE AI EVALUATION METHOD</a:t>
            </a:r>
          </a:p>
        </p:txBody>
      </p:sp>
      <p:sp>
        <p:nvSpPr>
          <p:cNvPr id="2" name="footer-mark">
            <a:extLst xmlns:a="http://schemas.openxmlformats.org/drawingml/2006/main">
              <a:ext uri="{FF2B5EF4-FFF2-40B4-BE49-F238E27FC236}">
                <a16:creationId xmlns:a16="http://schemas.microsoft.com/office/drawing/2014/main" id="{CA0FBC71-773D-4AF0-938E-2A0E8C329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29375"/>
            <a:ext cx="66675" cy="6667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008C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footer-label">
            <a:extLst xmlns:a="http://schemas.openxmlformats.org/drawingml/2006/main">
              <a:ext uri="{FF2B5EF4-FFF2-40B4-BE49-F238E27FC236}">
                <a16:creationId xmlns:a16="http://schemas.microsoft.com/office/drawing/2014/main" id="{927CF3A5-2FF0-478D-BE52-7E1F62EB5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6391275"/>
            <a:ext cx="3143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0">
                <a:solidFill>
                  <a:srgbClr val="007B76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007B76"/>
                </a:solidFill>
                <a:latin typeface="Arial"/>
                <a:ea typeface="Arial"/>
                <a:cs typeface="Arial"/>
              </a:rPr>
              <a:t>EvalBracket • Internal discussion draft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72AAC6D9-C770-4A6E-9603-8E37ACA86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91275"/>
            <a:ext cx="723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750" b="0">
                <a:solidFill>
                  <a:srgbClr val="708093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708093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5" name="hero-title">
            <a:extLst xmlns:a="http://schemas.openxmlformats.org/drawingml/2006/main">
              <a:ext uri="{FF2B5EF4-FFF2-40B4-BE49-F238E27FC236}">
                <a16:creationId xmlns:a16="http://schemas.microsoft.com/office/drawing/2014/main" id="{45E3E9AD-11D9-437E-B8A0-B6C00B419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66800"/>
            <a:ext cx="5334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4200" b="1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132238"/>
                </a:solidFill>
                <a:latin typeface="Arial"/>
                <a:ea typeface="Arial"/>
                <a:cs typeface="Arial"/>
              </a:rPr>
              <a:t>EvalBracket</a:t>
            </a:r>
          </a:p>
        </p:txBody>
      </p:sp>
      <p:sp>
        <p:nvSpPr>
          <p:cNvPr id="6" name="hero-subtitle">
            <a:extLst xmlns:a="http://schemas.openxmlformats.org/drawingml/2006/main">
              <a:ext uri="{FF2B5EF4-FFF2-40B4-BE49-F238E27FC236}">
                <a16:creationId xmlns:a16="http://schemas.microsoft.com/office/drawing/2014/main" id="{BD9D6F93-2BDD-4DBE-8B11-0A5A1B8B4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24050"/>
            <a:ext cx="5334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75" b="1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32238"/>
                </a:solidFill>
                <a:latin typeface="Arial"/>
                <a:ea typeface="Arial"/>
                <a:cs typeface="Arial"/>
              </a:rPr>
              <a:t>Testing the test before trusting the result.</a:t>
            </a:r>
          </a:p>
        </p:txBody>
      </p:sp>
      <p:sp>
        <p:nvSpPr>
          <p:cNvPr id="7" name="hero-line-1">
            <a:extLst xmlns:a="http://schemas.openxmlformats.org/drawingml/2006/main">
              <a:ext uri="{FF2B5EF4-FFF2-40B4-BE49-F238E27FC236}">
                <a16:creationId xmlns:a16="http://schemas.microsoft.com/office/drawing/2014/main" id="{93972CBC-ACA5-4748-A2A6-F7756EC4F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0"/>
            <a:ext cx="514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007B7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7B76"/>
                </a:solidFill>
                <a:latin typeface="Arial"/>
                <a:ea typeface="Arial"/>
                <a:cs typeface="Arial"/>
              </a:rPr>
              <a:t>1. Prove the evaluation can detect comparable capability.</a:t>
            </a:r>
          </a:p>
        </p:txBody>
      </p:sp>
      <p:sp>
        <p:nvSpPr>
          <p:cNvPr id="8" name="hero-line-2">
            <a:extLst xmlns:a="http://schemas.openxmlformats.org/drawingml/2006/main">
              <a:ext uri="{FF2B5EF4-FFF2-40B4-BE49-F238E27FC236}">
                <a16:creationId xmlns:a16="http://schemas.microsoft.com/office/drawing/2014/main" id="{F17AAA06-479E-43C2-B57F-7DBFF7B7B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86150"/>
            <a:ext cx="514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007B7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7B76"/>
                </a:solidFill>
                <a:latin typeface="Arial"/>
                <a:ea typeface="Arial"/>
                <a:cs typeface="Arial"/>
              </a:rPr>
              <a:t>2. Apply only proven tests to the frontier model.</a:t>
            </a:r>
          </a:p>
        </p:txBody>
      </p:sp>
      <p:sp>
        <p:nvSpPr>
          <p:cNvPr id="9" name="hero-divider">
            <a:extLst xmlns:a="http://schemas.openxmlformats.org/drawingml/2006/main">
              <a:ext uri="{FF2B5EF4-FFF2-40B4-BE49-F238E27FC236}">
                <a16:creationId xmlns:a16="http://schemas.microsoft.com/office/drawing/2014/main" id="{81655AFB-06CC-4D19-BBCA-0CB414CF2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238250"/>
            <a:ext cx="9525" cy="400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internal-label">
            <a:extLst xmlns:a="http://schemas.openxmlformats.org/drawingml/2006/main">
              <a:ext uri="{FF2B5EF4-FFF2-40B4-BE49-F238E27FC236}">
                <a16:creationId xmlns:a16="http://schemas.microsoft.com/office/drawing/2014/main" id="{88101D98-8074-4224-A406-E2F40FDD5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504950"/>
            <a:ext cx="447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007B7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07B76"/>
                </a:solidFill>
                <a:latin typeface="Arial"/>
                <a:ea typeface="Arial"/>
                <a:cs typeface="Arial"/>
              </a:rPr>
              <a:t>1  CONTROL CHECK</a:t>
            </a:r>
          </a:p>
        </p:txBody>
      </p:sp>
      <p:sp>
        <p:nvSpPr>
          <p:cNvPr id="11" name="hero-equation">
            <a:extLst xmlns:a="http://schemas.openxmlformats.org/drawingml/2006/main">
              <a:ext uri="{FF2B5EF4-FFF2-40B4-BE49-F238E27FC236}">
                <a16:creationId xmlns:a16="http://schemas.microsoft.com/office/drawing/2014/main" id="{6B1B643A-972C-44B4-A279-801605B66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885950"/>
            <a:ext cx="4572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32238"/>
                </a:solidFill>
                <a:latin typeface="Arial"/>
                <a:ea typeface="Arial"/>
                <a:cs typeface="Arial"/>
              </a:rPr>
              <a:t>Can the tests detect comparable capability known to exist in controls?</a:t>
            </a:r>
          </a:p>
        </p:txBody>
      </p:sp>
      <p:sp>
        <p:nvSpPr>
          <p:cNvPr id="13" name="model-x-rule-500">
            <a:extLst xmlns:a="http://schemas.openxmlformats.org/drawingml/2006/main">
              <a:ext uri="{FF2B5EF4-FFF2-40B4-BE49-F238E27FC236}">
                <a16:creationId xmlns:a16="http://schemas.microsoft.com/office/drawing/2014/main" id="{3A3BF457-E018-4AA2-84A4-BC4FF3297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105150"/>
            <a:ext cx="457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model-x-label-500">
            <a:extLst xmlns:a="http://schemas.openxmlformats.org/drawingml/2006/main">
              <a:ext uri="{FF2B5EF4-FFF2-40B4-BE49-F238E27FC236}">
                <a16:creationId xmlns:a16="http://schemas.microsoft.com/office/drawing/2014/main" id="{FA8A2394-5CC6-47B1-BDB2-E49EE8949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448050"/>
            <a:ext cx="447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007B7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07B76"/>
                </a:solidFill>
                <a:latin typeface="Arial"/>
                <a:ea typeface="Arial"/>
                <a:cs typeface="Arial"/>
              </a:rPr>
              <a:t>2  TARGET MODEL</a:t>
            </a:r>
          </a:p>
        </p:txBody>
      </p:sp>
      <p:sp>
        <p:nvSpPr>
          <p:cNvPr id="15" name="model-x-body-500">
            <a:extLst xmlns:a="http://schemas.openxmlformats.org/drawingml/2006/main">
              <a:ext uri="{FF2B5EF4-FFF2-40B4-BE49-F238E27FC236}">
                <a16:creationId xmlns:a16="http://schemas.microsoft.com/office/drawing/2014/main" id="{8D8DFD15-9440-48AE-B94E-F9515A059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829050"/>
            <a:ext cx="4572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875" b="1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32238"/>
                </a:solidFill>
                <a:latin typeface="Arial"/>
                <a:ea typeface="Arial"/>
                <a:cs typeface="Arial"/>
              </a:rPr>
              <a:t>Run the same tests at each access level and report what they reveal.</a:t>
            </a:r>
          </a:p>
        </p:txBody>
      </p:sp>
      <p:sp>
        <p:nvSpPr>
          <p:cNvPr id="16" name="page-number-v6">
            <a:extLst xmlns:a="http://schemas.openxmlformats.org/drawingml/2006/main">
              <a:ext uri="{FF2B5EF4-FFF2-40B4-BE49-F238E27FC236}">
                <a16:creationId xmlns:a16="http://schemas.microsoft.com/office/drawing/2014/main" id="{BA7B2A98-D106-4FD5-B22C-72587C310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391275"/>
            <a:ext cx="990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>
                <a:solidFill>
                  <a:srgbClr val="6B7788"/>
                </a:solidFill>
                <a:latin typeface="Arial"/>
                <a:ea typeface="Arial"/>
                <a:cs typeface="Arial"/>
              </a:defRPr>
            </a:pPr>
            <a:r>
              <a:rPr sz="750">
                <a:solidFill>
                  <a:srgbClr val="6B7788"/>
                </a:solidFill>
                <a:latin typeface="Arial"/>
                <a:ea typeface="Arial"/>
                <a:cs typeface="Arial"/>
              </a:rPr>
              <a:t>01 / 18</a:t>
            </a:r>
          </a:p>
        </p:txBody>
      </p:sp>
    </p:spTree>
    <p:extLst>
      <p:ext uri="{BB962C8B-B14F-4D97-AF65-F5344CB8AC3E}">
        <p14:creationId xmlns:p14="http://schemas.microsoft.com/office/powerpoint/2010/main" val="88363535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2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eyebrow">
            <a:extLst xmlns:a="http://schemas.openxmlformats.org/drawingml/2006/main">
              <a:ext uri="{FF2B5EF4-FFF2-40B4-BE49-F238E27FC236}">
                <a16:creationId xmlns:a16="http://schemas.microsoft.com/office/drawing/2014/main" id="{D2273C65-249D-4877-A492-888975634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609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007B76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07B76"/>
                </a:solidFill>
                <a:latin typeface="Arial"/>
                <a:ea typeface="Arial"/>
                <a:cs typeface="Arial"/>
              </a:rPr>
              <a:t>CURRENT STATE: FRONTIER SYSTEM CARDS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EA6A6BE-43BC-40D0-B839-6CAD9C431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00" b="1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32238"/>
                </a:solidFill>
                <a:latin typeface="Arial"/>
                <a:ea typeface="Arial"/>
                <a:cs typeface="Arial"/>
              </a:rPr>
              <a:t>System cards describe the tests, not how capable those tests were.</a:t>
            </a:r>
          </a:p>
        </p:txBody>
      </p:sp>
      <p:sp>
        <p:nvSpPr>
          <p:cNvPr id="3" name="footer-mark">
            <a:extLst xmlns:a="http://schemas.openxmlformats.org/drawingml/2006/main">
              <a:ext uri="{FF2B5EF4-FFF2-40B4-BE49-F238E27FC236}">
                <a16:creationId xmlns:a16="http://schemas.microsoft.com/office/drawing/2014/main" id="{414E19DC-931D-41F5-A1F8-4C008BBB8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29375"/>
            <a:ext cx="66675" cy="6667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008C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label">
            <a:extLst xmlns:a="http://schemas.openxmlformats.org/drawingml/2006/main">
              <a:ext uri="{FF2B5EF4-FFF2-40B4-BE49-F238E27FC236}">
                <a16:creationId xmlns:a16="http://schemas.microsoft.com/office/drawing/2014/main" id="{302C9B31-465B-451C-9087-66264A7FC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6391275"/>
            <a:ext cx="3143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0">
                <a:solidFill>
                  <a:srgbClr val="007B76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007B76"/>
                </a:solidFill>
                <a:latin typeface="Arial"/>
                <a:ea typeface="Arial"/>
                <a:cs typeface="Arial"/>
              </a:rPr>
              <a:t>EvalBracket • Internal discussion draft</a:t>
            </a:r>
          </a:p>
        </p:txBody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98974193-617F-4D47-A948-FA021BA8B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91275"/>
            <a:ext cx="723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750" b="0">
                <a:solidFill>
                  <a:srgbClr val="708093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708093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6" name="observed-card">
            <a:extLst xmlns:a="http://schemas.openxmlformats.org/drawingml/2006/main">
              <a:ext uri="{FF2B5EF4-FFF2-40B4-BE49-F238E27FC236}">
                <a16:creationId xmlns:a16="http://schemas.microsoft.com/office/drawing/2014/main" id="{180B8779-DA11-40E5-B3A4-5DA6E07CB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85900"/>
            <a:ext cx="5257800" cy="2076450"/>
          </a:xfrm>
          <a:prstGeom xmlns:a="http://schemas.openxmlformats.org/drawingml/2006/main" prst="roundRect">
            <a:avLst>
              <a:gd name="adj" fmla="val 4545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7" name="observed-label">
            <a:extLst xmlns:a="http://schemas.openxmlformats.org/drawingml/2006/main">
              <a:ext uri="{FF2B5EF4-FFF2-40B4-BE49-F238E27FC236}">
                <a16:creationId xmlns:a16="http://schemas.microsoft.com/office/drawing/2014/main" id="{B7E174C6-4A85-4E48-9F88-58E90581B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76400"/>
            <a:ext cx="4876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007B7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07B76"/>
                </a:solidFill>
                <a:latin typeface="Arial"/>
                <a:ea typeface="Arial"/>
                <a:cs typeface="Arial"/>
              </a:rPr>
              <a:t>OPENAI GPT-5.6 SYSTEM CARD | JULY 2026</a:t>
            </a:r>
          </a:p>
        </p:txBody>
      </p:sp>
      <p:sp>
        <p:nvSpPr>
          <p:cNvPr id="8" name="observed-text">
            <a:extLst xmlns:a="http://schemas.openxmlformats.org/drawingml/2006/main">
              <a:ext uri="{FF2B5EF4-FFF2-40B4-BE49-F238E27FC236}">
                <a16:creationId xmlns:a16="http://schemas.microsoft.com/office/drawing/2014/main" id="{6FBCB5C3-D87C-4509-9BF4-499C22774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4876800" cy="1104900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505995ada209423d"/>
            <a:stretch>
              <a:fillRect l="0" t="0" r="0" b="0"/>
            </a:stretch>
          </a:blip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F3F6F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3F6FA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9" name="not-equal">
            <a:extLst xmlns:a="http://schemas.openxmlformats.org/drawingml/2006/main">
              <a:ext uri="{FF2B5EF4-FFF2-40B4-BE49-F238E27FC236}">
                <a16:creationId xmlns:a16="http://schemas.microsoft.com/office/drawing/2014/main" id="{2CC0780C-249D-474C-A1C4-6118BAE8D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57175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3450" b="1">
                <a:solidFill>
                  <a:srgbClr val="F0C84B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0C84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0" name="conclusion-card">
            <a:extLst xmlns:a="http://schemas.openxmlformats.org/drawingml/2006/main">
              <a:ext uri="{FF2B5EF4-FFF2-40B4-BE49-F238E27FC236}">
                <a16:creationId xmlns:a16="http://schemas.microsoft.com/office/drawing/2014/main" id="{9A969065-B848-496C-8F30-0C147FFF5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485900"/>
            <a:ext cx="5257800" cy="2076450"/>
          </a:xfrm>
          <a:prstGeom xmlns:a="http://schemas.openxmlformats.org/drawingml/2006/main" prst="roundRect">
            <a:avLst>
              <a:gd name="adj" fmla="val 4545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conclusion-label">
            <a:extLst xmlns:a="http://schemas.openxmlformats.org/drawingml/2006/main">
              <a:ext uri="{FF2B5EF4-FFF2-40B4-BE49-F238E27FC236}">
                <a16:creationId xmlns:a16="http://schemas.microsoft.com/office/drawing/2014/main" id="{13F4C5F1-6EEA-420A-A207-192EA6713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676400"/>
            <a:ext cx="4876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007B7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07B76"/>
                </a:solidFill>
                <a:latin typeface="Arial"/>
                <a:ea typeface="Arial"/>
                <a:cs typeface="Arial"/>
              </a:rPr>
              <a:t>ANTHROPIC CLAUDE MYTHOS 5 | JUNE 2026</a:t>
            </a:r>
          </a:p>
        </p:txBody>
      </p:sp>
      <p:sp>
        <p:nvSpPr>
          <p:cNvPr id="12" name="conclusion-text">
            <a:extLst xmlns:a="http://schemas.openxmlformats.org/drawingml/2006/main">
              <a:ext uri="{FF2B5EF4-FFF2-40B4-BE49-F238E27FC236}">
                <a16:creationId xmlns:a16="http://schemas.microsoft.com/office/drawing/2014/main" id="{F51526B5-9A00-4D32-95A7-2979138E0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209800"/>
            <a:ext cx="4876800" cy="838200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b231708f0ea84c6c"/>
            <a:stretch>
              <a:fillRect l="0" t="0" r="0" b="0"/>
            </a:stretch>
          </a:blip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F3F6F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3F6FA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3" name="elicitation-card">
            <a:extLst xmlns:a="http://schemas.openxmlformats.org/drawingml/2006/main">
              <a:ext uri="{FF2B5EF4-FFF2-40B4-BE49-F238E27FC236}">
                <a16:creationId xmlns:a16="http://schemas.microsoft.com/office/drawing/2014/main" id="{B7633534-666A-4FE8-9028-FA394357F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48100"/>
            <a:ext cx="11277600" cy="1466850"/>
          </a:xfrm>
          <a:prstGeom xmlns:a="http://schemas.openxmlformats.org/drawingml/2006/main" prst="roundRect">
            <a:avLst>
              <a:gd name="adj" fmla="val 625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4" name="elicitation-label">
            <a:extLst xmlns:a="http://schemas.openxmlformats.org/drawingml/2006/main">
              <a:ext uri="{FF2B5EF4-FFF2-40B4-BE49-F238E27FC236}">
                <a16:creationId xmlns:a16="http://schemas.microsoft.com/office/drawing/2014/main" id="{2156E75A-907E-4A8F-AD37-4775A00D7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386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97630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976300"/>
                </a:solidFill>
                <a:latin typeface="Arial"/>
                <a:ea typeface="Arial"/>
                <a:cs typeface="Arial"/>
              </a:rPr>
              <a:t>THE GAP</a:t>
            </a:r>
          </a:p>
        </p:txBody>
      </p:sp>
      <p:sp>
        <p:nvSpPr>
          <p:cNvPr id="15" name="elicitation-methods">
            <a:extLst xmlns:a="http://schemas.openxmlformats.org/drawingml/2006/main">
              <a:ext uri="{FF2B5EF4-FFF2-40B4-BE49-F238E27FC236}">
                <a16:creationId xmlns:a16="http://schemas.microsoft.com/office/drawing/2014/main" id="{CE1FE8BD-9919-4202-AA59-C75470E8F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62450"/>
            <a:ext cx="1038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32238"/>
                </a:solidFill>
                <a:latin typeface="Arial"/>
                <a:ea typeface="Arial"/>
                <a:cs typeface="Arial"/>
              </a:rPr>
              <a:t>A below-threshold conclusion still asks readers to trust the provider's best-effort testing.</a:t>
            </a:r>
          </a:p>
        </p:txBody>
      </p:sp>
      <p:sp>
        <p:nvSpPr>
          <p:cNvPr id="16" name="elicitation-question">
            <a:extLst xmlns:a="http://schemas.openxmlformats.org/drawingml/2006/main">
              <a:ext uri="{FF2B5EF4-FFF2-40B4-BE49-F238E27FC236}">
                <a16:creationId xmlns:a16="http://schemas.microsoft.com/office/drawing/2014/main" id="{EB826000-749C-4071-B273-361F9CEDA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19650"/>
            <a:ext cx="1038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9763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976300"/>
                </a:solidFill>
                <a:latin typeface="Arial"/>
                <a:ea typeface="Arial"/>
                <a:cs typeface="Arial"/>
              </a:rPr>
              <a:t>The missing evidence: would those tests detect the capability if it were actually present?</a:t>
            </a:r>
          </a:p>
        </p:txBody>
      </p:sp>
      <p:sp>
        <p:nvSpPr>
          <p:cNvPr id="18" name="model-x-rule-535">
            <a:extLst xmlns:a="http://schemas.openxmlformats.org/drawingml/2006/main">
              <a:ext uri="{FF2B5EF4-FFF2-40B4-BE49-F238E27FC236}">
                <a16:creationId xmlns:a16="http://schemas.microsoft.com/office/drawing/2014/main" id="{2BAF4622-795B-4D80-82E6-245ECBD7F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38800"/>
            <a:ext cx="10744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model-x-label-535">
            <a:extLst xmlns:a="http://schemas.openxmlformats.org/drawingml/2006/main">
              <a:ext uri="{FF2B5EF4-FFF2-40B4-BE49-F238E27FC236}">
                <a16:creationId xmlns:a16="http://schemas.microsoft.com/office/drawing/2014/main" id="{C784E751-A8B7-43F4-BF3B-8E321735F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53100"/>
            <a:ext cx="2095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007B76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007B76"/>
                </a:solidFill>
                <a:latin typeface="Arial"/>
                <a:ea typeface="Arial"/>
                <a:cs typeface="Arial"/>
              </a:rPr>
              <a:t>EXACT SOURCE EXCERPTS</a:t>
            </a:r>
          </a:p>
        </p:txBody>
      </p:sp>
      <p:sp>
        <p:nvSpPr>
          <p:cNvPr id="20" name="model-x-body-535">
            <a:extLst xmlns:a="http://schemas.openxmlformats.org/drawingml/2006/main">
              <a:ext uri="{FF2B5EF4-FFF2-40B4-BE49-F238E27FC236}">
                <a16:creationId xmlns:a16="http://schemas.microsoft.com/office/drawing/2014/main" id="{3260B4FB-4843-4550-BB9A-F7AC0D99F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5734050"/>
            <a:ext cx="876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825">
                <a:solidFill>
                  <a:srgbClr val="526173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526173"/>
                </a:solidFill>
                <a:latin typeface="Arial"/>
                <a:ea typeface="Arial"/>
                <a:cs typeface="Arial"/>
              </a:rPr>
              <a:t>OpenAI, GPT-5.6 System Card, p. 33 | Anthropic, Claude Fable 5 and Mythos 5 System Card, p. 34</a:t>
            </a:r>
          </a:p>
        </p:txBody>
      </p:sp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5995ada209423d"/>
          <a:stretch xmlns:a="http://schemas.openxmlformats.org/drawingml/2006/main"/>
        </p:blipFill>
        <p:spPr>
          <a:xfrm xmlns:a="http://schemas.openxmlformats.org/drawingml/2006/main">
            <a:off x="12172950" y="6842722"/>
            <a:ext cx="9525" cy="1981"/>
          </a:xfrm>
          <a:prstGeom xmlns:a="http://schemas.openxmlformats.org/drawingml/2006/main" prst="rect">
            <a:avLst/>
          </a:prstGeom>
        </p:spPr>
      </p:pic>
      <p:pic>
        <p:nvPicPr>
          <p:cNvPr id="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31708f0ea84c6c"/>
          <a:stretch xmlns:a="http://schemas.openxmlformats.org/drawingml/2006/main"/>
        </p:blipFill>
        <p:spPr>
          <a:xfrm xmlns:a="http://schemas.openxmlformats.org/drawingml/2006/main">
            <a:off x="12182475" y="6852285"/>
            <a:ext cx="9525" cy="1905"/>
          </a:xfrm>
          <a:prstGeom xmlns:a="http://schemas.openxmlformats.org/drawingml/2006/main" prst="rect">
            <a:avLst/>
          </a:prstGeom>
        </p:spPr>
      </p:pic>
      <p:sp>
        <p:nvSpPr>
          <p:cNvPr id="23" name="page-number-v6">
            <a:extLst xmlns:a="http://schemas.openxmlformats.org/drawingml/2006/main">
              <a:ext uri="{FF2B5EF4-FFF2-40B4-BE49-F238E27FC236}">
                <a16:creationId xmlns:a16="http://schemas.microsoft.com/office/drawing/2014/main" id="{3AA5DDCB-6011-4919-A21F-5071073AD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391275"/>
            <a:ext cx="990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>
                <a:solidFill>
                  <a:srgbClr val="6B7788"/>
                </a:solidFill>
                <a:latin typeface="Arial"/>
                <a:ea typeface="Arial"/>
                <a:cs typeface="Arial"/>
              </a:defRPr>
            </a:pPr>
            <a:r>
              <a:rPr sz="750">
                <a:solidFill>
                  <a:srgbClr val="6B7788"/>
                </a:solidFill>
                <a:latin typeface="Arial"/>
                <a:ea typeface="Arial"/>
                <a:cs typeface="Arial"/>
              </a:rPr>
              <a:t>02 / 18</a:t>
            </a:r>
          </a:p>
        </p:txBody>
      </p:sp>
    </p:spTree>
    <p:extLst>
      <p:ext uri="{BB962C8B-B14F-4D97-AF65-F5344CB8AC3E}">
        <p14:creationId xmlns:p14="http://schemas.microsoft.com/office/powerpoint/2010/main" val="84534895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2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eyebrow">
            <a:extLst xmlns:a="http://schemas.openxmlformats.org/drawingml/2006/main">
              <a:ext uri="{FF2B5EF4-FFF2-40B4-BE49-F238E27FC236}">
                <a16:creationId xmlns:a16="http://schemas.microsoft.com/office/drawing/2014/main" id="{4DD515A0-82D1-4A93-B417-1CBC85DC7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609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007B76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07B76"/>
                </a:solidFill>
                <a:latin typeface="Arial"/>
                <a:ea typeface="Arial"/>
                <a:cs typeface="Arial"/>
              </a:rPr>
              <a:t>THE CORE IDEA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448A033-5D4F-4E3C-A7AF-2D558AFE5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850" b="1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32238"/>
                </a:solidFill>
                <a:latin typeface="Arial"/>
                <a:ea typeface="Arial"/>
                <a:cs typeface="Arial"/>
              </a:rPr>
              <a:t>First prove that the test can find what it is looking for.</a:t>
            </a:r>
          </a:p>
        </p:txBody>
      </p:sp>
      <p:sp>
        <p:nvSpPr>
          <p:cNvPr id="3" name="footer-mark">
            <a:extLst xmlns:a="http://schemas.openxmlformats.org/drawingml/2006/main">
              <a:ext uri="{FF2B5EF4-FFF2-40B4-BE49-F238E27FC236}">
                <a16:creationId xmlns:a16="http://schemas.microsoft.com/office/drawing/2014/main" id="{1D2CA0FE-6CC7-4079-9A52-4E4A53F08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29375"/>
            <a:ext cx="66675" cy="6667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008C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label">
            <a:extLst xmlns:a="http://schemas.openxmlformats.org/drawingml/2006/main">
              <a:ext uri="{FF2B5EF4-FFF2-40B4-BE49-F238E27FC236}">
                <a16:creationId xmlns:a16="http://schemas.microsoft.com/office/drawing/2014/main" id="{0E0D55E9-D315-4835-99E0-F3A905251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6391275"/>
            <a:ext cx="3143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0">
                <a:solidFill>
                  <a:srgbClr val="007B76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007B76"/>
                </a:solidFill>
                <a:latin typeface="Arial"/>
                <a:ea typeface="Arial"/>
                <a:cs typeface="Arial"/>
              </a:rPr>
              <a:t>EvalBracket • Internal discussion draft</a:t>
            </a:r>
          </a:p>
        </p:txBody>
      </p:sp>
      <p:sp>
        <p:nvSpPr>
          <p:cNvPr id="6" name="step-arrow">
            <a:extLst xmlns:a="http://schemas.openxmlformats.org/drawingml/2006/main">
              <a:ext uri="{FF2B5EF4-FFF2-40B4-BE49-F238E27FC236}">
                <a16:creationId xmlns:a16="http://schemas.microsoft.com/office/drawing/2014/main" id="{C5032DBF-4886-42C4-ADEA-A6FEF2BE3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667000"/>
            <a:ext cx="1181100" cy="514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8C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control-model-card">
            <a:extLst xmlns:a="http://schemas.openxmlformats.org/drawingml/2006/main">
              <a:ext uri="{FF2B5EF4-FFF2-40B4-BE49-F238E27FC236}">
                <a16:creationId xmlns:a16="http://schemas.microsoft.com/office/drawing/2014/main" id="{54B11629-A82D-40D5-A467-4FF1CD998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04950"/>
            <a:ext cx="4762500" cy="3371850"/>
          </a:xfrm>
          <a:prstGeom xmlns:a="http://schemas.openxmlformats.org/drawingml/2006/main" prst="roundRect">
            <a:avLst>
              <a:gd name="adj" fmla="val 2454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frontier-model-card">
            <a:extLst xmlns:a="http://schemas.openxmlformats.org/drawingml/2006/main">
              <a:ext uri="{FF2B5EF4-FFF2-40B4-BE49-F238E27FC236}">
                <a16:creationId xmlns:a16="http://schemas.microsoft.com/office/drawing/2014/main" id="{0C7CBB68-9C51-48E8-B6D1-64897A91B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1504950"/>
            <a:ext cx="4762500" cy="3371850"/>
          </a:xfrm>
          <a:prstGeom xmlns:a="http://schemas.openxmlformats.org/drawingml/2006/main" prst="roundRect">
            <a:avLst>
              <a:gd name="adj" fmla="val 2454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9" name="control-step-label">
            <a:extLst xmlns:a="http://schemas.openxmlformats.org/drawingml/2006/main">
              <a:ext uri="{FF2B5EF4-FFF2-40B4-BE49-F238E27FC236}">
                <a16:creationId xmlns:a16="http://schemas.microsoft.com/office/drawing/2014/main" id="{9C232E26-83F3-4114-A983-047D0A33C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007B7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07B76"/>
                </a:solidFill>
                <a:latin typeface="Arial"/>
                <a:ea typeface="Arial"/>
                <a:cs typeface="Arial"/>
              </a:rPr>
              <a:t>SMOKE DETECTOR</a:t>
            </a:r>
          </a:p>
        </p:txBody>
      </p:sp>
      <p:sp>
        <p:nvSpPr>
          <p:cNvPr id="10" name="control-step-title">
            <a:extLst xmlns:a="http://schemas.openxmlformats.org/drawingml/2006/main">
              <a:ext uri="{FF2B5EF4-FFF2-40B4-BE49-F238E27FC236}">
                <a16:creationId xmlns:a16="http://schemas.microsoft.com/office/drawing/2014/main" id="{947925F3-77DD-489D-8749-7A74B7DEE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40957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250" b="1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32238"/>
                </a:solidFill>
                <a:latin typeface="Arial"/>
                <a:ea typeface="Arial"/>
                <a:cs typeface="Arial"/>
              </a:rPr>
              <a:t>A silent smoke detector is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2250" b="1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32238"/>
                </a:solidFill>
                <a:latin typeface="Arial"/>
                <a:ea typeface="Arial"/>
                <a:cs typeface="Arial"/>
              </a:rPr>
              <a:t>reassuring only if you first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2250" b="1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32238"/>
                </a:solidFill>
                <a:latin typeface="Arial"/>
                <a:ea typeface="Arial"/>
                <a:cs typeface="Arial"/>
              </a:rPr>
              <a:t>know that it can actually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2250" b="1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32238"/>
                </a:solidFill>
                <a:latin typeface="Arial"/>
                <a:ea typeface="Arial"/>
                <a:cs typeface="Arial"/>
              </a:rPr>
              <a:t>detect smoke when smoke is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2250" b="1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32238"/>
                </a:solidFill>
                <a:latin typeface="Arial"/>
                <a:ea typeface="Arial"/>
                <a:cs typeface="Arial"/>
              </a:rPr>
              <a:t>actually present.</a:t>
            </a:r>
          </a:p>
        </p:txBody>
      </p:sp>
      <p:sp>
        <p:nvSpPr>
          <p:cNvPr id="14" name="arrow-yes">
            <a:extLst xmlns:a="http://schemas.openxmlformats.org/drawingml/2006/main">
              <a:ext uri="{FF2B5EF4-FFF2-40B4-BE49-F238E27FC236}">
                <a16:creationId xmlns:a16="http://schemas.microsoft.com/office/drawing/2014/main" id="{1A41BF41-5637-4F4E-A7B4-54AE504AF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381250"/>
            <a:ext cx="1066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007B7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07B76"/>
                </a:solidFill>
                <a:latin typeface="Arial"/>
                <a:ea typeface="Arial"/>
                <a:cs typeface="Arial"/>
              </a:rPr>
              <a:t>SAME STANDARD</a:t>
            </a:r>
          </a:p>
        </p:txBody>
      </p:sp>
      <p:sp>
        <p:nvSpPr>
          <p:cNvPr id="16" name="frontier-step-label">
            <a:extLst xmlns:a="http://schemas.openxmlformats.org/drawingml/2006/main">
              <a:ext uri="{FF2B5EF4-FFF2-40B4-BE49-F238E27FC236}">
                <a16:creationId xmlns:a16="http://schemas.microsoft.com/office/drawing/2014/main" id="{8DD95601-5F8B-4287-B526-D8036DE5B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17526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007B7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07B76"/>
                </a:solidFill>
                <a:latin typeface="Arial"/>
                <a:ea typeface="Arial"/>
                <a:cs typeface="Arial"/>
              </a:rPr>
              <a:t>CAPABILITY EVALUATION</a:t>
            </a:r>
          </a:p>
        </p:txBody>
      </p:sp>
      <p:sp>
        <p:nvSpPr>
          <p:cNvPr id="17" name="frontier-step-title">
            <a:extLst xmlns:a="http://schemas.openxmlformats.org/drawingml/2006/main">
              <a:ext uri="{FF2B5EF4-FFF2-40B4-BE49-F238E27FC236}">
                <a16:creationId xmlns:a16="http://schemas.microsoft.com/office/drawing/2014/main" id="{7FCCA7DA-AC66-4A62-BC4B-4FB6C4F51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019300"/>
            <a:ext cx="409575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32238"/>
                </a:solidFill>
                <a:latin typeface="Arial"/>
                <a:ea typeface="Arial"/>
                <a:cs typeface="Arial"/>
              </a:rPr>
              <a:t>A below-threshold capability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32238"/>
                </a:solidFill>
                <a:latin typeface="Arial"/>
                <a:ea typeface="Arial"/>
                <a:cs typeface="Arial"/>
              </a:rPr>
              <a:t>result is reassuring only if the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32238"/>
                </a:solidFill>
                <a:latin typeface="Arial"/>
                <a:ea typeface="Arial"/>
                <a:cs typeface="Arial"/>
              </a:rPr>
              <a:t>evaluation process has first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32238"/>
                </a:solidFill>
                <a:latin typeface="Arial"/>
                <a:ea typeface="Arial"/>
                <a:cs typeface="Arial"/>
              </a:rPr>
              <a:t>demonstrated that it can detect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32238"/>
                </a:solidFill>
                <a:latin typeface="Arial"/>
                <a:ea typeface="Arial"/>
                <a:cs typeface="Arial"/>
              </a:rPr>
              <a:t>comparable capability in a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32238"/>
                </a:solidFill>
                <a:latin typeface="Arial"/>
                <a:ea typeface="Arial"/>
                <a:cs typeface="Arial"/>
              </a:rPr>
              <a:t>control model where that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32238"/>
                </a:solidFill>
                <a:latin typeface="Arial"/>
                <a:ea typeface="Arial"/>
                <a:cs typeface="Arial"/>
              </a:rPr>
              <a:t>capability is known to exist.</a:t>
            </a:r>
          </a:p>
        </p:txBody>
      </p:sp>
      <p:sp>
        <p:nvSpPr>
          <p:cNvPr id="23" name="page-number-v6">
            <a:extLst xmlns:a="http://schemas.openxmlformats.org/drawingml/2006/main">
              <a:ext uri="{FF2B5EF4-FFF2-40B4-BE49-F238E27FC236}">
                <a16:creationId xmlns:a16="http://schemas.microsoft.com/office/drawing/2014/main" id="{E05A6777-D50D-42BB-A85E-72C7AE911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391275"/>
            <a:ext cx="990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>
                <a:solidFill>
                  <a:srgbClr val="6B7788"/>
                </a:solidFill>
                <a:latin typeface="Arial"/>
                <a:ea typeface="Arial"/>
                <a:cs typeface="Arial"/>
              </a:defRPr>
            </a:pPr>
            <a:r>
              <a:rPr sz="750">
                <a:solidFill>
                  <a:srgbClr val="6B7788"/>
                </a:solidFill>
                <a:latin typeface="Arial"/>
                <a:ea typeface="Arial"/>
                <a:cs typeface="Arial"/>
              </a:rPr>
              <a:t>3 / 18</a:t>
            </a:r>
          </a:p>
        </p:txBody>
      </p:sp>
    </p:spTree>
    <p:extLst>
      <p:ext uri="{BB962C8B-B14F-4D97-AF65-F5344CB8AC3E}">
        <p14:creationId xmlns:p14="http://schemas.microsoft.com/office/powerpoint/2010/main" val="68328721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2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eyebrow">
            <a:extLst xmlns:a="http://schemas.openxmlformats.org/drawingml/2006/main">
              <a:ext uri="{FF2B5EF4-FFF2-40B4-BE49-F238E27FC236}">
                <a16:creationId xmlns:a16="http://schemas.microsoft.com/office/drawing/2014/main" id="{D96CD60F-A6AC-45A3-92EB-36CE7C27F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609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007B76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07B76"/>
                </a:solidFill>
                <a:latin typeface="Arial"/>
                <a:ea typeface="Arial"/>
                <a:cs typeface="Arial"/>
              </a:rPr>
              <a:t>THE CORE CASE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E190B29-89E5-488F-A01E-450624FC3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00" b="1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32238"/>
                </a:solidFill>
                <a:latin typeface="Arial"/>
                <a:ea typeface="Arial"/>
                <a:cs typeface="Arial"/>
              </a:rPr>
              <a:t>Three principles make a below-threshold claim defensible.</a:t>
            </a:r>
          </a:p>
        </p:txBody>
      </p:sp>
      <p:sp>
        <p:nvSpPr>
          <p:cNvPr id="3" name="footer-mark">
            <a:extLst xmlns:a="http://schemas.openxmlformats.org/drawingml/2006/main">
              <a:ext uri="{FF2B5EF4-FFF2-40B4-BE49-F238E27FC236}">
                <a16:creationId xmlns:a16="http://schemas.microsoft.com/office/drawing/2014/main" id="{33DE136E-A642-45C1-989D-E75026675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29375"/>
            <a:ext cx="66675" cy="6667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008C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label">
            <a:extLst xmlns:a="http://schemas.openxmlformats.org/drawingml/2006/main">
              <a:ext uri="{FF2B5EF4-FFF2-40B4-BE49-F238E27FC236}">
                <a16:creationId xmlns:a16="http://schemas.microsoft.com/office/drawing/2014/main" id="{4CFC5A8F-D3D7-4D2A-BAD9-D38D9BD68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6391275"/>
            <a:ext cx="3143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0">
                <a:solidFill>
                  <a:srgbClr val="007B76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007B76"/>
                </a:solidFill>
                <a:latin typeface="Arial"/>
                <a:ea typeface="Arial"/>
                <a:cs typeface="Arial"/>
              </a:rPr>
              <a:t>EvalBracket • Internal discussion draft</a:t>
            </a:r>
          </a:p>
        </p:txBody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1E2CD8F9-C21B-4ED2-91D3-925E30C11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91275"/>
            <a:ext cx="723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750" b="0">
                <a:solidFill>
                  <a:srgbClr val="708093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708093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6" name="access-card-1">
            <a:extLst xmlns:a="http://schemas.openxmlformats.org/drawingml/2006/main">
              <a:ext uri="{FF2B5EF4-FFF2-40B4-BE49-F238E27FC236}">
                <a16:creationId xmlns:a16="http://schemas.microsoft.com/office/drawing/2014/main" id="{7EC1E931-B5F4-4D4A-9B7F-14117C82C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81150"/>
            <a:ext cx="3314700" cy="3638550"/>
          </a:xfrm>
          <a:prstGeom xmlns:a="http://schemas.openxmlformats.org/drawingml/2006/main" prst="roundRect">
            <a:avLst>
              <a:gd name="adj" fmla="val 229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7" name="access-accent-1">
            <a:extLst xmlns:a="http://schemas.openxmlformats.org/drawingml/2006/main">
              <a:ext uri="{FF2B5EF4-FFF2-40B4-BE49-F238E27FC236}">
                <a16:creationId xmlns:a16="http://schemas.microsoft.com/office/drawing/2014/main" id="{E3238D7E-0920-40D3-9000-64871FF39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81150"/>
            <a:ext cx="33147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C86"/>
          </a:solidFill>
          <a:ln xmlns:a="http://schemas.openxmlformats.org/drawingml/2006/main" w="0">
            <a:solidFill>
              <a:srgbClr val="008C86"/>
            </a:solidFill>
            <a:prstDash val="solid"/>
          </a:ln>
        </p:spPr>
      </p:sp>
      <p:sp>
        <p:nvSpPr>
          <p:cNvPr id="8" name="access-title-1">
            <a:extLst xmlns:a="http://schemas.openxmlformats.org/drawingml/2006/main">
              <a:ext uri="{FF2B5EF4-FFF2-40B4-BE49-F238E27FC236}">
                <a16:creationId xmlns:a16="http://schemas.microsoft.com/office/drawing/2014/main" id="{509A39D0-E372-440A-A4D0-9E6697D9A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09750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007B7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7B76"/>
                </a:solidFill>
                <a:latin typeface="Arial"/>
                <a:ea typeface="Arial"/>
                <a:cs typeface="Arial"/>
              </a:rPr>
              <a:t>1. PROVE THE TEST</a:t>
            </a:r>
          </a:p>
        </p:txBody>
      </p:sp>
      <p:sp>
        <p:nvSpPr>
          <p:cNvPr id="9" name="methods-label-1">
            <a:extLst xmlns:a="http://schemas.openxmlformats.org/drawingml/2006/main">
              <a:ext uri="{FF2B5EF4-FFF2-40B4-BE49-F238E27FC236}">
                <a16:creationId xmlns:a16="http://schemas.microsoft.com/office/drawing/2014/main" id="{E634AB17-9DA9-4638-9403-0D75017F0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86000"/>
            <a:ext cx="219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526173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26173"/>
                </a:solidFill>
                <a:latin typeface="Arial"/>
                <a:ea typeface="Arial"/>
                <a:cs typeface="Arial"/>
              </a:rPr>
              <a:t>BEFORE TRUSTING A NEGATIVE RESULT</a:t>
            </a:r>
          </a:p>
        </p:txBody>
      </p:sp>
      <p:sp>
        <p:nvSpPr>
          <p:cNvPr id="10" name="methods-text-1">
            <a:extLst xmlns:a="http://schemas.openxmlformats.org/drawingml/2006/main">
              <a:ext uri="{FF2B5EF4-FFF2-40B4-BE49-F238E27FC236}">
                <a16:creationId xmlns:a16="http://schemas.microsoft.com/office/drawing/2014/main" id="{5E5AF244-8E53-4F6D-88B5-FC04BBF2A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71750"/>
            <a:ext cx="2952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32238"/>
                </a:solidFill>
                <a:latin typeface="Arial"/>
                <a:ea typeface="Arial"/>
                <a:cs typeface="Arial"/>
              </a:rPr>
              <a:t>Show that the evaluation can recover comparable capability known to exist in a control.</a:t>
            </a:r>
          </a:p>
        </p:txBody>
      </p:sp>
      <p:sp>
        <p:nvSpPr>
          <p:cNvPr id="11" name="access-divider-1">
            <a:extLst xmlns:a="http://schemas.openxmlformats.org/drawingml/2006/main">
              <a:ext uri="{FF2B5EF4-FFF2-40B4-BE49-F238E27FC236}">
                <a16:creationId xmlns:a16="http://schemas.microsoft.com/office/drawing/2014/main" id="{739C1F1A-5D64-4B97-8AB2-829FF2253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562350"/>
            <a:ext cx="29527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measures-label-1">
            <a:extLst xmlns:a="http://schemas.openxmlformats.org/drawingml/2006/main">
              <a:ext uri="{FF2B5EF4-FFF2-40B4-BE49-F238E27FC236}">
                <a16:creationId xmlns:a16="http://schemas.microsoft.com/office/drawing/2014/main" id="{AE38E958-BFE4-418A-B20F-84DC968FB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10000"/>
            <a:ext cx="219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526173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26173"/>
                </a:solidFill>
                <a:latin typeface="Arial"/>
                <a:ea typeface="Arial"/>
                <a:cs typeface="Arial"/>
              </a:rPr>
              <a:t>WHY IT MATTERS</a:t>
            </a:r>
          </a:p>
        </p:txBody>
      </p:sp>
      <p:sp>
        <p:nvSpPr>
          <p:cNvPr id="13" name="measures-text-1">
            <a:extLst xmlns:a="http://schemas.openxmlformats.org/drawingml/2006/main">
              <a:ext uri="{FF2B5EF4-FFF2-40B4-BE49-F238E27FC236}">
                <a16:creationId xmlns:a16="http://schemas.microsoft.com/office/drawing/2014/main" id="{28FCB618-C924-4219-938D-30B73FBEA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114800"/>
            <a:ext cx="2952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32238"/>
                </a:solidFill>
                <a:latin typeface="Arial"/>
                <a:ea typeface="Arial"/>
                <a:cs typeface="Arial"/>
              </a:rPr>
              <a:t>A test that finds nothing may simply be too weak.</a:t>
            </a:r>
          </a:p>
        </p:txBody>
      </p:sp>
      <p:sp>
        <p:nvSpPr>
          <p:cNvPr id="14" name="access-card-2">
            <a:extLst xmlns:a="http://schemas.openxmlformats.org/drawingml/2006/main">
              <a:ext uri="{FF2B5EF4-FFF2-40B4-BE49-F238E27FC236}">
                <a16:creationId xmlns:a16="http://schemas.microsoft.com/office/drawing/2014/main" id="{967ACDC3-E2BC-4C7E-89B4-5D76DD229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1581150"/>
            <a:ext cx="3314700" cy="3638550"/>
          </a:xfrm>
          <a:prstGeom xmlns:a="http://schemas.openxmlformats.org/drawingml/2006/main" prst="roundRect">
            <a:avLst>
              <a:gd name="adj" fmla="val 229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access-accent-2">
            <a:extLst xmlns:a="http://schemas.openxmlformats.org/drawingml/2006/main">
              <a:ext uri="{FF2B5EF4-FFF2-40B4-BE49-F238E27FC236}">
                <a16:creationId xmlns:a16="http://schemas.microsoft.com/office/drawing/2014/main" id="{87FC9416-C11C-4953-97D3-85C004F50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1581150"/>
            <a:ext cx="33147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76300"/>
          </a:solidFill>
          <a:ln xmlns:a="http://schemas.openxmlformats.org/drawingml/2006/main" w="0">
            <a:solidFill>
              <a:srgbClr val="976300"/>
            </a:solidFill>
            <a:prstDash val="solid"/>
          </a:ln>
        </p:spPr>
      </p:sp>
      <p:sp>
        <p:nvSpPr>
          <p:cNvPr id="16" name="access-title-2">
            <a:extLst xmlns:a="http://schemas.openxmlformats.org/drawingml/2006/main">
              <a:ext uri="{FF2B5EF4-FFF2-40B4-BE49-F238E27FC236}">
                <a16:creationId xmlns:a16="http://schemas.microsoft.com/office/drawing/2014/main" id="{93C2C8D5-DF2E-4951-AAE7-57A7DD2AB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809750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007B7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7B76"/>
                </a:solidFill>
                <a:latin typeface="Arial"/>
                <a:ea typeface="Arial"/>
                <a:cs typeface="Arial"/>
              </a:rPr>
              <a:t>2. MATCH THE ACCESS LEVEL</a:t>
            </a:r>
          </a:p>
        </p:txBody>
      </p:sp>
      <p:sp>
        <p:nvSpPr>
          <p:cNvPr id="17" name="methods-label-2">
            <a:extLst xmlns:a="http://schemas.openxmlformats.org/drawingml/2006/main">
              <a:ext uri="{FF2B5EF4-FFF2-40B4-BE49-F238E27FC236}">
                <a16:creationId xmlns:a16="http://schemas.microsoft.com/office/drawing/2014/main" id="{CB34A98C-3DF8-49F5-9E56-99A9F2F0D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286000"/>
            <a:ext cx="219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526173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26173"/>
                </a:solidFill>
                <a:latin typeface="Arial"/>
                <a:ea typeface="Arial"/>
                <a:cs typeface="Arial"/>
              </a:rPr>
              <a:t>RUN THE REALISTIC TEST</a:t>
            </a:r>
          </a:p>
        </p:txBody>
      </p:sp>
      <p:sp>
        <p:nvSpPr>
          <p:cNvPr id="18" name="methods-text-2">
            <a:extLst xmlns:a="http://schemas.openxmlformats.org/drawingml/2006/main">
              <a:ext uri="{FF2B5EF4-FFF2-40B4-BE49-F238E27FC236}">
                <a16:creationId xmlns:a16="http://schemas.microsoft.com/office/drawing/2014/main" id="{3EDB4809-0DBD-4CBA-BA96-F58A5F978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571750"/>
            <a:ext cx="2952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32238"/>
                </a:solidFill>
                <a:latin typeface="Arial"/>
                <a:ea typeface="Arial"/>
                <a:cs typeface="Arial"/>
              </a:rPr>
              <a:t>Qualify prompting, hosted tuning, and weight access separately.</a:t>
            </a:r>
          </a:p>
        </p:txBody>
      </p:sp>
      <p:sp>
        <p:nvSpPr>
          <p:cNvPr id="19" name="access-divider-2">
            <a:extLst xmlns:a="http://schemas.openxmlformats.org/drawingml/2006/main">
              <a:ext uri="{FF2B5EF4-FFF2-40B4-BE49-F238E27FC236}">
                <a16:creationId xmlns:a16="http://schemas.microsoft.com/office/drawing/2014/main" id="{7D7151CA-96B5-486C-93C7-00C50B544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562350"/>
            <a:ext cx="29527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measures-label-2">
            <a:extLst xmlns:a="http://schemas.openxmlformats.org/drawingml/2006/main">
              <a:ext uri="{FF2B5EF4-FFF2-40B4-BE49-F238E27FC236}">
                <a16:creationId xmlns:a16="http://schemas.microsoft.com/office/drawing/2014/main" id="{307F2B82-CA3A-4330-A7F4-03E2ECD12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810000"/>
            <a:ext cx="219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526173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26173"/>
                </a:solidFill>
                <a:latin typeface="Arial"/>
                <a:ea typeface="Arial"/>
                <a:cs typeface="Arial"/>
              </a:rPr>
              <a:t>WHY IT MATTERS</a:t>
            </a:r>
          </a:p>
        </p:txBody>
      </p:sp>
      <p:sp>
        <p:nvSpPr>
          <p:cNvPr id="21" name="measures-text-2">
            <a:extLst xmlns:a="http://schemas.openxmlformats.org/drawingml/2006/main">
              <a:ext uri="{FF2B5EF4-FFF2-40B4-BE49-F238E27FC236}">
                <a16:creationId xmlns:a16="http://schemas.microsoft.com/office/drawing/2014/main" id="{376E8234-A880-4EB4-87E9-B56725FBB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114800"/>
            <a:ext cx="2952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32238"/>
                </a:solidFill>
                <a:latin typeface="Arial"/>
                <a:ea typeface="Arial"/>
                <a:cs typeface="Arial"/>
              </a:rPr>
              <a:t>A result for one access level does not describe another.</a:t>
            </a:r>
          </a:p>
        </p:txBody>
      </p:sp>
      <p:sp>
        <p:nvSpPr>
          <p:cNvPr id="22" name="access-card-3">
            <a:extLst xmlns:a="http://schemas.openxmlformats.org/drawingml/2006/main">
              <a:ext uri="{FF2B5EF4-FFF2-40B4-BE49-F238E27FC236}">
                <a16:creationId xmlns:a16="http://schemas.microsoft.com/office/drawing/2014/main" id="{07409700-B70D-491B-9DC1-7E5543A77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581150"/>
            <a:ext cx="3314700" cy="3638550"/>
          </a:xfrm>
          <a:prstGeom xmlns:a="http://schemas.openxmlformats.org/drawingml/2006/main" prst="roundRect">
            <a:avLst>
              <a:gd name="adj" fmla="val 229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3" name="access-accent-3">
            <a:extLst xmlns:a="http://schemas.openxmlformats.org/drawingml/2006/main">
              <a:ext uri="{FF2B5EF4-FFF2-40B4-BE49-F238E27FC236}">
                <a16:creationId xmlns:a16="http://schemas.microsoft.com/office/drawing/2014/main" id="{D2C1C0B6-9DAA-472C-A711-7CC578129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581150"/>
            <a:ext cx="33147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3852"/>
          </a:solidFill>
          <a:ln xmlns:a="http://schemas.openxmlformats.org/drawingml/2006/main" w="0">
            <a:solidFill>
              <a:srgbClr val="B73852"/>
            </a:solidFill>
            <a:prstDash val="solid"/>
          </a:ln>
        </p:spPr>
      </p:sp>
      <p:sp>
        <p:nvSpPr>
          <p:cNvPr id="24" name="access-title-3">
            <a:extLst xmlns:a="http://schemas.openxmlformats.org/drawingml/2006/main">
              <a:ext uri="{FF2B5EF4-FFF2-40B4-BE49-F238E27FC236}">
                <a16:creationId xmlns:a16="http://schemas.microsoft.com/office/drawing/2014/main" id="{E34E4565-AFBD-412E-928E-5171D0406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809750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007B7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7B76"/>
                </a:solidFill>
                <a:latin typeface="Arial"/>
                <a:ea typeface="Arial"/>
                <a:cs typeface="Arial"/>
              </a:rPr>
              <a:t>3. SEPARATE RESULT AND CONFIDENCE</a:t>
            </a:r>
          </a:p>
        </p:txBody>
      </p:sp>
      <p:sp>
        <p:nvSpPr>
          <p:cNvPr id="25" name="methods-label-3">
            <a:extLst xmlns:a="http://schemas.openxmlformats.org/drawingml/2006/main">
              <a:ext uri="{FF2B5EF4-FFF2-40B4-BE49-F238E27FC236}">
                <a16:creationId xmlns:a16="http://schemas.microsoft.com/office/drawing/2014/main" id="{6F3CAFFB-5BBC-4D0F-9BB1-845B9308E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286000"/>
            <a:ext cx="219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526173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26173"/>
                </a:solidFill>
                <a:latin typeface="Arial"/>
                <a:ea typeface="Arial"/>
                <a:cs typeface="Arial"/>
              </a:rPr>
              <a:t>REPORT TWO THINGS</a:t>
            </a:r>
          </a:p>
        </p:txBody>
      </p:sp>
      <p:sp>
        <p:nvSpPr>
          <p:cNvPr id="26" name="methods-text-3">
            <a:extLst xmlns:a="http://schemas.openxmlformats.org/drawingml/2006/main">
              <a:ext uri="{FF2B5EF4-FFF2-40B4-BE49-F238E27FC236}">
                <a16:creationId xmlns:a16="http://schemas.microsoft.com/office/drawing/2014/main" id="{151317BE-F98D-4B2C-8CC1-08FCAA49D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571750"/>
            <a:ext cx="2952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32238"/>
                </a:solidFill>
                <a:latin typeface="Arial"/>
                <a:ea typeface="Arial"/>
                <a:cs typeface="Arial"/>
              </a:rPr>
              <a:t>State what capability was observed and how strongly the testing process was validated.</a:t>
            </a:r>
          </a:p>
        </p:txBody>
      </p:sp>
      <p:sp>
        <p:nvSpPr>
          <p:cNvPr id="27" name="access-divider-3">
            <a:extLst xmlns:a="http://schemas.openxmlformats.org/drawingml/2006/main">
              <a:ext uri="{FF2B5EF4-FFF2-40B4-BE49-F238E27FC236}">
                <a16:creationId xmlns:a16="http://schemas.microsoft.com/office/drawing/2014/main" id="{44635EF6-2F80-4CFB-874E-A56B33E8C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562350"/>
            <a:ext cx="29527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8" name="measures-label-3">
            <a:extLst xmlns:a="http://schemas.openxmlformats.org/drawingml/2006/main">
              <a:ext uri="{FF2B5EF4-FFF2-40B4-BE49-F238E27FC236}">
                <a16:creationId xmlns:a16="http://schemas.microsoft.com/office/drawing/2014/main" id="{8BEA7902-644B-4252-8D56-DCB69ACD6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810000"/>
            <a:ext cx="219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526173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26173"/>
                </a:solidFill>
                <a:latin typeface="Arial"/>
                <a:ea typeface="Arial"/>
                <a:cs typeface="Arial"/>
              </a:rPr>
              <a:t>WHY IT MATTERS</a:t>
            </a:r>
          </a:p>
        </p:txBody>
      </p:sp>
      <p:sp>
        <p:nvSpPr>
          <p:cNvPr id="29" name="measures-text-3">
            <a:extLst xmlns:a="http://schemas.openxmlformats.org/drawingml/2006/main">
              <a:ext uri="{FF2B5EF4-FFF2-40B4-BE49-F238E27FC236}">
                <a16:creationId xmlns:a16="http://schemas.microsoft.com/office/drawing/2014/main" id="{0B08AA0E-7C93-411C-9496-9B6213E92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114800"/>
            <a:ext cx="2952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32238"/>
                </a:solidFill>
                <a:latin typeface="Arial"/>
                <a:ea typeface="Arial"/>
                <a:cs typeface="Arial"/>
              </a:rPr>
              <a:t>Readers can distinguish evidence from assurance.</a:t>
            </a:r>
          </a:p>
        </p:txBody>
      </p:sp>
      <p:sp>
        <p:nvSpPr>
          <p:cNvPr id="30" name="hosted-note">
            <a:extLst xmlns:a="http://schemas.openxmlformats.org/drawingml/2006/main">
              <a:ext uri="{FF2B5EF4-FFF2-40B4-BE49-F238E27FC236}">
                <a16:creationId xmlns:a16="http://schemas.microsoft.com/office/drawing/2014/main" id="{AAA853F6-F9CF-4F7E-8499-D474736A0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8640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007B7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7B76"/>
                </a:solidFill>
                <a:latin typeface="Arial"/>
                <a:ea typeface="Arial"/>
                <a:cs typeface="Arial"/>
              </a:rPr>
              <a:t>Together, these principles turn a below-threshold statement into an evidence-backed claim.</a:t>
            </a:r>
          </a:p>
        </p:txBody>
      </p:sp>
      <p:sp>
        <p:nvSpPr>
          <p:cNvPr id="31" name="lora-note">
            <a:extLst xmlns:a="http://schemas.openxmlformats.org/drawingml/2006/main">
              <a:ext uri="{FF2B5EF4-FFF2-40B4-BE49-F238E27FC236}">
                <a16:creationId xmlns:a16="http://schemas.microsoft.com/office/drawing/2014/main" id="{9775BAD7-6861-4334-909B-C62D8DBDF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1025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97630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976300"/>
                </a:solidFill>
                <a:latin typeface="Arial"/>
                <a:ea typeface="Arial"/>
                <a:cs typeface="Arial"/>
              </a:rPr>
              <a:t>EvalBracket operationalizes them without replacing current evals, red teaming, or safeguards.</a:t>
            </a:r>
          </a:p>
        </p:txBody>
      </p:sp>
      <p:sp>
        <p:nvSpPr>
          <p:cNvPr id="33" name="page-number-v6">
            <a:extLst xmlns:a="http://schemas.openxmlformats.org/drawingml/2006/main">
              <a:ext uri="{FF2B5EF4-FFF2-40B4-BE49-F238E27FC236}">
                <a16:creationId xmlns:a16="http://schemas.microsoft.com/office/drawing/2014/main" id="{F7E46311-C307-4272-A734-7521AB81A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391275"/>
            <a:ext cx="990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>
                <a:solidFill>
                  <a:srgbClr val="6B7788"/>
                </a:solidFill>
                <a:latin typeface="Arial"/>
                <a:ea typeface="Arial"/>
                <a:cs typeface="Arial"/>
              </a:defRPr>
            </a:pPr>
            <a:r>
              <a:rPr sz="750">
                <a:solidFill>
                  <a:srgbClr val="6B7788"/>
                </a:solidFill>
                <a:latin typeface="Arial"/>
                <a:ea typeface="Arial"/>
                <a:cs typeface="Arial"/>
              </a:rPr>
              <a:t>04 / 18</a:t>
            </a:r>
          </a:p>
        </p:txBody>
      </p:sp>
    </p:spTree>
    <p:extLst>
      <p:ext uri="{BB962C8B-B14F-4D97-AF65-F5344CB8AC3E}">
        <p14:creationId xmlns:p14="http://schemas.microsoft.com/office/powerpoint/2010/main" val="125949244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2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eyebrow">
            <a:extLst xmlns:a="http://schemas.openxmlformats.org/drawingml/2006/main">
              <a:ext uri="{FF2B5EF4-FFF2-40B4-BE49-F238E27FC236}">
                <a16:creationId xmlns:a16="http://schemas.microsoft.com/office/drawing/2014/main" id="{B2342C2C-7DD6-4360-8D78-07BE129D8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609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007B76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07B76"/>
                </a:solidFill>
                <a:latin typeface="Arial"/>
                <a:ea typeface="Arial"/>
                <a:cs typeface="Arial"/>
              </a:rPr>
              <a:t>THE DESIRED END STATE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6029BF1-B35D-4FCF-998A-99EAF859F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75" b="1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132238"/>
                </a:solidFill>
                <a:latin typeface="Arial"/>
                <a:ea typeface="Arial"/>
                <a:cs typeface="Arial"/>
              </a:rPr>
              <a:t>A below-threshold claim should be backed by a proven test.</a:t>
            </a:r>
          </a:p>
        </p:txBody>
      </p:sp>
      <p:sp>
        <p:nvSpPr>
          <p:cNvPr id="3" name="footer-mark">
            <a:extLst xmlns:a="http://schemas.openxmlformats.org/drawingml/2006/main">
              <a:ext uri="{FF2B5EF4-FFF2-40B4-BE49-F238E27FC236}">
                <a16:creationId xmlns:a16="http://schemas.microsoft.com/office/drawing/2014/main" id="{67C218E4-D373-4A26-8C43-39B31A06E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29375"/>
            <a:ext cx="66675" cy="6667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008C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label">
            <a:extLst xmlns:a="http://schemas.openxmlformats.org/drawingml/2006/main">
              <a:ext uri="{FF2B5EF4-FFF2-40B4-BE49-F238E27FC236}">
                <a16:creationId xmlns:a16="http://schemas.microsoft.com/office/drawing/2014/main" id="{A66BCE1B-DA12-4C34-B3E5-9DC312638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6391275"/>
            <a:ext cx="3143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0">
                <a:solidFill>
                  <a:srgbClr val="007B76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007B76"/>
                </a:solidFill>
                <a:latin typeface="Arial"/>
                <a:ea typeface="Arial"/>
                <a:cs typeface="Arial"/>
              </a:rPr>
              <a:t>EvalBracket • Internal discussion draft</a:t>
            </a:r>
          </a:p>
        </p:txBody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10FD0883-5AD4-4589-BCE8-48B0958EC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91275"/>
            <a:ext cx="723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750" b="0">
                <a:solidFill>
                  <a:srgbClr val="708093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708093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6" name="entry-label">
            <a:extLst xmlns:a="http://schemas.openxmlformats.org/drawingml/2006/main">
              <a:ext uri="{FF2B5EF4-FFF2-40B4-BE49-F238E27FC236}">
                <a16:creationId xmlns:a16="http://schemas.microsoft.com/office/drawing/2014/main" id="{E88811DF-2621-4F1C-80AB-D5FD8B1AD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525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007B7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07B76"/>
                </a:solidFill>
                <a:latin typeface="Arial"/>
                <a:ea typeface="Arial"/>
                <a:cs typeface="Arial"/>
              </a:rPr>
              <a:t>ILLUSTRATIVE SYSTEM-CARD DISCLOSURE</a:t>
            </a:r>
          </a:p>
        </p:txBody>
      </p:sp>
      <p:sp>
        <p:nvSpPr>
          <p:cNvPr id="7" name="field-0">
            <a:extLst xmlns:a="http://schemas.openxmlformats.org/drawingml/2006/main">
              <a:ext uri="{FF2B5EF4-FFF2-40B4-BE49-F238E27FC236}">
                <a16:creationId xmlns:a16="http://schemas.microsoft.com/office/drawing/2014/main" id="{FE2A94E8-949C-437F-8220-4340D5E97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14500"/>
            <a:ext cx="5334000" cy="552450"/>
          </a:xfrm>
          <a:prstGeom xmlns:a="http://schemas.openxmlformats.org/drawingml/2006/main" prst="roundRect">
            <a:avLst>
              <a:gd name="adj" fmla="val 11111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field-0-label">
            <a:extLst xmlns:a="http://schemas.openxmlformats.org/drawingml/2006/main">
              <a:ext uri="{FF2B5EF4-FFF2-40B4-BE49-F238E27FC236}">
                <a16:creationId xmlns:a16="http://schemas.microsoft.com/office/drawing/2014/main" id="{9E26D67F-4732-4588-B64A-873336A05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0700"/>
            <a:ext cx="5029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526173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526173"/>
                </a:solidFill>
                <a:latin typeface="Arial"/>
                <a:ea typeface="Arial"/>
                <a:cs typeface="Arial"/>
              </a:rPr>
              <a:t>WHAT WAS EVALUATED</a:t>
            </a:r>
          </a:p>
        </p:txBody>
      </p:sp>
      <p:sp>
        <p:nvSpPr>
          <p:cNvPr id="9" name="field-0-value">
            <a:extLst xmlns:a="http://schemas.openxmlformats.org/drawingml/2006/main">
              <a:ext uri="{FF2B5EF4-FFF2-40B4-BE49-F238E27FC236}">
                <a16:creationId xmlns:a16="http://schemas.microsoft.com/office/drawing/2014/main" id="{3DB5873F-4B6D-441C-8E23-B34C75184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81200"/>
            <a:ext cx="5029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32238"/>
                </a:solidFill>
                <a:latin typeface="Arial"/>
                <a:ea typeface="Arial"/>
                <a:cs typeface="Arial"/>
              </a:rPr>
              <a:t>Cyber capability against the lab's action threshold</a:t>
            </a:r>
          </a:p>
        </p:txBody>
      </p:sp>
      <p:sp>
        <p:nvSpPr>
          <p:cNvPr id="10" name="field-1">
            <a:extLst xmlns:a="http://schemas.openxmlformats.org/drawingml/2006/main">
              <a:ext uri="{FF2B5EF4-FFF2-40B4-BE49-F238E27FC236}">
                <a16:creationId xmlns:a16="http://schemas.microsoft.com/office/drawing/2014/main" id="{4F89D699-5F15-4EDB-922E-BC5527787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00300"/>
            <a:ext cx="5334000" cy="552450"/>
          </a:xfrm>
          <a:prstGeom xmlns:a="http://schemas.openxmlformats.org/drawingml/2006/main" prst="roundRect">
            <a:avLst>
              <a:gd name="adj" fmla="val 11111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field-1-label">
            <a:extLst xmlns:a="http://schemas.openxmlformats.org/drawingml/2006/main">
              <a:ext uri="{FF2B5EF4-FFF2-40B4-BE49-F238E27FC236}">
                <a16:creationId xmlns:a16="http://schemas.microsoft.com/office/drawing/2014/main" id="{58624DE5-FB4D-4B83-B4ED-0D582A696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5029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526173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526173"/>
                </a:solidFill>
                <a:latin typeface="Arial"/>
                <a:ea typeface="Arial"/>
                <a:cs typeface="Arial"/>
              </a:rPr>
              <a:t>ACCESS LEVEL</a:t>
            </a:r>
          </a:p>
        </p:txBody>
      </p:sp>
      <p:sp>
        <p:nvSpPr>
          <p:cNvPr id="12" name="field-1-value">
            <a:extLst xmlns:a="http://schemas.openxmlformats.org/drawingml/2006/main">
              <a:ext uri="{FF2B5EF4-FFF2-40B4-BE49-F238E27FC236}">
                <a16:creationId xmlns:a16="http://schemas.microsoft.com/office/drawing/2014/main" id="{E12078F5-E26F-4685-A2E7-A357CCD20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0"/>
            <a:ext cx="5029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32238"/>
                </a:solidFill>
                <a:latin typeface="Arial"/>
                <a:ea typeface="Arial"/>
                <a:cs typeface="Arial"/>
              </a:rPr>
              <a:t>API access</a:t>
            </a:r>
          </a:p>
        </p:txBody>
      </p:sp>
      <p:sp>
        <p:nvSpPr>
          <p:cNvPr id="13" name="field-2">
            <a:extLst xmlns:a="http://schemas.openxmlformats.org/drawingml/2006/main">
              <a:ext uri="{FF2B5EF4-FFF2-40B4-BE49-F238E27FC236}">
                <a16:creationId xmlns:a16="http://schemas.microsoft.com/office/drawing/2014/main" id="{C86F5944-FFB4-4EA1-B5FE-190DE5088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5334000" cy="552450"/>
          </a:xfrm>
          <a:prstGeom xmlns:a="http://schemas.openxmlformats.org/drawingml/2006/main" prst="roundRect">
            <a:avLst>
              <a:gd name="adj" fmla="val 11111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4" name="field-2-label">
            <a:extLst xmlns:a="http://schemas.openxmlformats.org/drawingml/2006/main">
              <a:ext uri="{FF2B5EF4-FFF2-40B4-BE49-F238E27FC236}">
                <a16:creationId xmlns:a16="http://schemas.microsoft.com/office/drawing/2014/main" id="{80BB97E1-DB45-42CB-8E08-572DC11B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62300"/>
            <a:ext cx="5029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526173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526173"/>
                </a:solidFill>
                <a:latin typeface="Arial"/>
                <a:ea typeface="Arial"/>
                <a:cs typeface="Arial"/>
              </a:rPr>
              <a:t>FRONTIER-MODEL RESULT</a:t>
            </a:r>
          </a:p>
        </p:txBody>
      </p:sp>
      <p:sp>
        <p:nvSpPr>
          <p:cNvPr id="15" name="field-2-value">
            <a:extLst xmlns:a="http://schemas.openxmlformats.org/drawingml/2006/main">
              <a:ext uri="{FF2B5EF4-FFF2-40B4-BE49-F238E27FC236}">
                <a16:creationId xmlns:a16="http://schemas.microsoft.com/office/drawing/2014/main" id="{4737DD66-BA6A-48C8-B0CA-25E79DA7C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52800"/>
            <a:ext cx="5029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9763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976300"/>
                </a:solidFill>
                <a:latin typeface="Arial"/>
                <a:ea typeface="Arial"/>
                <a:cs typeface="Arial"/>
              </a:rPr>
              <a:t>Below the action threshold</a:t>
            </a:r>
          </a:p>
        </p:txBody>
      </p:sp>
      <p:sp>
        <p:nvSpPr>
          <p:cNvPr id="16" name="field-3">
            <a:extLst xmlns:a="http://schemas.openxmlformats.org/drawingml/2006/main">
              <a:ext uri="{FF2B5EF4-FFF2-40B4-BE49-F238E27FC236}">
                <a16:creationId xmlns:a16="http://schemas.microsoft.com/office/drawing/2014/main" id="{978E7265-BA4E-4878-8ADC-5143BE9AF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71900"/>
            <a:ext cx="5334000" cy="552450"/>
          </a:xfrm>
          <a:prstGeom xmlns:a="http://schemas.openxmlformats.org/drawingml/2006/main" prst="roundRect">
            <a:avLst>
              <a:gd name="adj" fmla="val 11111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field-3-label">
            <a:extLst xmlns:a="http://schemas.openxmlformats.org/drawingml/2006/main">
              <a:ext uri="{FF2B5EF4-FFF2-40B4-BE49-F238E27FC236}">
                <a16:creationId xmlns:a16="http://schemas.microsoft.com/office/drawing/2014/main" id="{05F79A9C-8D36-4E4A-B805-5C04C5546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48100"/>
            <a:ext cx="5029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526173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526173"/>
                </a:solidFill>
                <a:latin typeface="Arial"/>
                <a:ea typeface="Arial"/>
                <a:cs typeface="Arial"/>
              </a:rPr>
              <a:t>QUALIFIED ELICITATION</a:t>
            </a:r>
          </a:p>
        </p:txBody>
      </p:sp>
      <p:sp>
        <p:nvSpPr>
          <p:cNvPr id="18" name="field-3-value">
            <a:extLst xmlns:a="http://schemas.openxmlformats.org/drawingml/2006/main">
              <a:ext uri="{FF2B5EF4-FFF2-40B4-BE49-F238E27FC236}">
                <a16:creationId xmlns:a16="http://schemas.microsoft.com/office/drawing/2014/main" id="{CBFF1510-6C34-446F-ABCC-1580B7BB1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38600"/>
            <a:ext cx="5029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32238"/>
                </a:solidFill>
                <a:latin typeface="Arial"/>
                <a:ea typeface="Arial"/>
                <a:cs typeface="Arial"/>
              </a:rPr>
              <a:t>API-access routines that passed every required check</a:t>
            </a:r>
          </a:p>
        </p:txBody>
      </p:sp>
      <p:sp>
        <p:nvSpPr>
          <p:cNvPr id="19" name="field-4">
            <a:extLst xmlns:a="http://schemas.openxmlformats.org/drawingml/2006/main">
              <a:ext uri="{FF2B5EF4-FFF2-40B4-BE49-F238E27FC236}">
                <a16:creationId xmlns:a16="http://schemas.microsoft.com/office/drawing/2014/main" id="{89C1C562-102D-4E36-B62E-F54653A8A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457700"/>
            <a:ext cx="5334000" cy="552450"/>
          </a:xfrm>
          <a:prstGeom xmlns:a="http://schemas.openxmlformats.org/drawingml/2006/main" prst="roundRect">
            <a:avLst>
              <a:gd name="adj" fmla="val 11111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field-4-label">
            <a:extLst xmlns:a="http://schemas.openxmlformats.org/drawingml/2006/main">
              <a:ext uri="{FF2B5EF4-FFF2-40B4-BE49-F238E27FC236}">
                <a16:creationId xmlns:a16="http://schemas.microsoft.com/office/drawing/2014/main" id="{075B9B14-4F72-4CAB-8A96-8AAF2280D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5029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526173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526173"/>
                </a:solidFill>
                <a:latin typeface="Arial"/>
                <a:ea typeface="Arial"/>
                <a:cs typeface="Arial"/>
              </a:rPr>
              <a:t>CONTROL-MODEL RESULT</a:t>
            </a:r>
          </a:p>
        </p:txBody>
      </p:sp>
      <p:sp>
        <p:nvSpPr>
          <p:cNvPr id="21" name="field-4-value">
            <a:extLst xmlns:a="http://schemas.openxmlformats.org/drawingml/2006/main">
              <a:ext uri="{FF2B5EF4-FFF2-40B4-BE49-F238E27FC236}">
                <a16:creationId xmlns:a16="http://schemas.microsoft.com/office/drawing/2014/main" id="{6509DF16-234C-4BCC-AFB7-64B55683C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24400"/>
            <a:ext cx="5029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087A5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87A58"/>
                </a:solidFill>
                <a:latin typeface="Arial"/>
                <a:ea typeface="Arial"/>
                <a:cs typeface="Arial"/>
              </a:rPr>
              <a:t>Hidden capability successfully recovered</a:t>
            </a:r>
          </a:p>
        </p:txBody>
      </p:sp>
      <p:sp>
        <p:nvSpPr>
          <p:cNvPr id="22" name="field-5">
            <a:extLst xmlns:a="http://schemas.openxmlformats.org/drawingml/2006/main">
              <a:ext uri="{FF2B5EF4-FFF2-40B4-BE49-F238E27FC236}">
                <a16:creationId xmlns:a16="http://schemas.microsoft.com/office/drawing/2014/main" id="{BA864D5C-DDBC-4C12-B9E8-BEEDB69E3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714500"/>
            <a:ext cx="5448300" cy="685800"/>
          </a:xfrm>
          <a:prstGeom xmlns:a="http://schemas.openxmlformats.org/drawingml/2006/main" prst="roundRect">
            <a:avLst>
              <a:gd name="adj" fmla="val 11111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3" name="field-5-label">
            <a:extLst xmlns:a="http://schemas.openxmlformats.org/drawingml/2006/main">
              <a:ext uri="{FF2B5EF4-FFF2-40B4-BE49-F238E27FC236}">
                <a16:creationId xmlns:a16="http://schemas.microsoft.com/office/drawing/2014/main" id="{1E3EF06B-C8B3-42B0-88A2-4EECA62AC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809750"/>
            <a:ext cx="514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526173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526173"/>
                </a:solidFill>
                <a:latin typeface="Arial"/>
                <a:ea typeface="Arial"/>
                <a:cs typeface="Arial"/>
              </a:rPr>
              <a:t>QUALIFICATION RESULT</a:t>
            </a:r>
          </a:p>
        </p:txBody>
      </p:sp>
      <p:sp>
        <p:nvSpPr>
          <p:cNvPr id="24" name="field-5-value">
            <a:extLst xmlns:a="http://schemas.openxmlformats.org/drawingml/2006/main">
              <a:ext uri="{FF2B5EF4-FFF2-40B4-BE49-F238E27FC236}">
                <a16:creationId xmlns:a16="http://schemas.microsoft.com/office/drawing/2014/main" id="{2B9C792C-3619-4357-AD01-6D130EF0B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03835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087A5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87A58"/>
                </a:solidFill>
                <a:latin typeface="Arial"/>
                <a:ea typeface="Arial"/>
                <a:cs typeface="Arial"/>
              </a:rPr>
              <a:t>Recovery, control breadth, method coverage, stopping, and creation checks passed</a:t>
            </a:r>
          </a:p>
        </p:txBody>
      </p:sp>
      <p:sp>
        <p:nvSpPr>
          <p:cNvPr id="25" name="field-6">
            <a:extLst xmlns:a="http://schemas.openxmlformats.org/drawingml/2006/main">
              <a:ext uri="{FF2B5EF4-FFF2-40B4-BE49-F238E27FC236}">
                <a16:creationId xmlns:a16="http://schemas.microsoft.com/office/drawing/2014/main" id="{75DA853D-7DB6-43D7-B6CB-F6085EC4D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571750"/>
            <a:ext cx="5448300" cy="685800"/>
          </a:xfrm>
          <a:prstGeom xmlns:a="http://schemas.openxmlformats.org/drawingml/2006/main" prst="roundRect">
            <a:avLst>
              <a:gd name="adj" fmla="val 11111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6" name="field-6-label">
            <a:extLst xmlns:a="http://schemas.openxmlformats.org/drawingml/2006/main">
              <a:ext uri="{FF2B5EF4-FFF2-40B4-BE49-F238E27FC236}">
                <a16:creationId xmlns:a16="http://schemas.microsoft.com/office/drawing/2014/main" id="{990D96E0-6519-43A5-8736-CA7CFE841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667000"/>
            <a:ext cx="514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526173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526173"/>
                </a:solidFill>
                <a:latin typeface="Arial"/>
                <a:ea typeface="Arial"/>
                <a:cs typeface="Arial"/>
              </a:rPr>
              <a:t>SCOPE OF THE CLAIM</a:t>
            </a:r>
          </a:p>
        </p:txBody>
      </p:sp>
      <p:sp>
        <p:nvSpPr>
          <p:cNvPr id="27" name="field-6-value">
            <a:extLst xmlns:a="http://schemas.openxmlformats.org/drawingml/2006/main">
              <a:ext uri="{FF2B5EF4-FFF2-40B4-BE49-F238E27FC236}">
                <a16:creationId xmlns:a16="http://schemas.microsoft.com/office/drawing/2014/main" id="{C3B2DD06-A271-4289-81BE-D39C84EAF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89560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32238"/>
                </a:solidFill>
                <a:latin typeface="Arial"/>
                <a:ea typeface="Arial"/>
                <a:cs typeface="Arial"/>
              </a:rPr>
              <a:t>API access only</a:t>
            </a:r>
          </a:p>
        </p:txBody>
      </p:sp>
      <p:sp>
        <p:nvSpPr>
          <p:cNvPr id="28" name="field-7">
            <a:extLst xmlns:a="http://schemas.openxmlformats.org/drawingml/2006/main">
              <a:ext uri="{FF2B5EF4-FFF2-40B4-BE49-F238E27FC236}">
                <a16:creationId xmlns:a16="http://schemas.microsoft.com/office/drawing/2014/main" id="{06DAC1FF-7A9F-443A-923C-03934AB2C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429000"/>
            <a:ext cx="5448300" cy="685800"/>
          </a:xfrm>
          <a:prstGeom xmlns:a="http://schemas.openxmlformats.org/drawingml/2006/main" prst="roundRect">
            <a:avLst>
              <a:gd name="adj" fmla="val 11111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9" name="field-7-label">
            <a:extLst xmlns:a="http://schemas.openxmlformats.org/drawingml/2006/main">
              <a:ext uri="{FF2B5EF4-FFF2-40B4-BE49-F238E27FC236}">
                <a16:creationId xmlns:a16="http://schemas.microsoft.com/office/drawing/2014/main" id="{EC5C7D16-1CFB-4EAB-9AE2-F7DB3E4B6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524250"/>
            <a:ext cx="514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526173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526173"/>
                </a:solidFill>
                <a:latin typeface="Arial"/>
                <a:ea typeface="Arial"/>
                <a:cs typeface="Arial"/>
              </a:rPr>
              <a:t>EVALBRACKET CONCLUSION</a:t>
            </a:r>
          </a:p>
        </p:txBody>
      </p:sp>
      <p:sp>
        <p:nvSpPr>
          <p:cNvPr id="30" name="field-7-value">
            <a:extLst xmlns:a="http://schemas.openxmlformats.org/drawingml/2006/main">
              <a:ext uri="{FF2B5EF4-FFF2-40B4-BE49-F238E27FC236}">
                <a16:creationId xmlns:a16="http://schemas.microsoft.com/office/drawing/2014/main" id="{F1EAB9EE-F4B3-4654-A6BD-E83C9BD32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75285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087A5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87A58"/>
                </a:solidFill>
                <a:latin typeface="Arial"/>
                <a:ea typeface="Arial"/>
                <a:cs typeface="Arial"/>
              </a:rPr>
              <a:t>Capability stays below threshold</a:t>
            </a:r>
          </a:p>
        </p:txBody>
      </p:sp>
      <p:sp>
        <p:nvSpPr>
          <p:cNvPr id="31" name="field-8">
            <a:extLst xmlns:a="http://schemas.openxmlformats.org/drawingml/2006/main">
              <a:ext uri="{FF2B5EF4-FFF2-40B4-BE49-F238E27FC236}">
                <a16:creationId xmlns:a16="http://schemas.microsoft.com/office/drawing/2014/main" id="{E4ED4DF7-2E6E-4E1C-925C-723F53A5D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286250"/>
            <a:ext cx="5448300" cy="685800"/>
          </a:xfrm>
          <a:prstGeom xmlns:a="http://schemas.openxmlformats.org/drawingml/2006/main" prst="roundRect">
            <a:avLst>
              <a:gd name="adj" fmla="val 11111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2" name="field-8-label">
            <a:extLst xmlns:a="http://schemas.openxmlformats.org/drawingml/2006/main">
              <a:ext uri="{FF2B5EF4-FFF2-40B4-BE49-F238E27FC236}">
                <a16:creationId xmlns:a16="http://schemas.microsoft.com/office/drawing/2014/main" id="{EF170128-68B8-4646-AD91-040643600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381500"/>
            <a:ext cx="514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526173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526173"/>
                </a:solidFill>
                <a:latin typeface="Arial"/>
                <a:ea typeface="Arial"/>
                <a:cs typeface="Arial"/>
              </a:rPr>
              <a:t>WHAT THE SYSTEM CARD SHOULD SAY</a:t>
            </a:r>
          </a:p>
        </p:txBody>
      </p:sp>
      <p:sp>
        <p:nvSpPr>
          <p:cNvPr id="33" name="field-8-value">
            <a:extLst xmlns:a="http://schemas.openxmlformats.org/drawingml/2006/main">
              <a:ext uri="{FF2B5EF4-FFF2-40B4-BE49-F238E27FC236}">
                <a16:creationId xmlns:a16="http://schemas.microsoft.com/office/drawing/2014/main" id="{CE8CD87E-2C37-4AD7-A4E8-B7F1DB350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61010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32238"/>
                </a:solidFill>
                <a:latin typeface="Arial"/>
                <a:ea typeface="Arial"/>
                <a:cs typeface="Arial"/>
              </a:rPr>
              <a:t>Evidence supports this conclusion for API access</a:t>
            </a:r>
          </a:p>
        </p:txBody>
      </p:sp>
      <p:sp>
        <p:nvSpPr>
          <p:cNvPr id="34" name="s10-note">
            <a:extLst xmlns:a="http://schemas.openxmlformats.org/drawingml/2006/main">
              <a:ext uri="{FF2B5EF4-FFF2-40B4-BE49-F238E27FC236}">
                <a16:creationId xmlns:a16="http://schemas.microsoft.com/office/drawing/2014/main" id="{BF6529FD-ABE6-48EB-BF43-35DFCDCCA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91150"/>
            <a:ext cx="1082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97630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976300"/>
                </a:solidFill>
                <a:latin typeface="Arial"/>
                <a:ea typeface="Arial"/>
                <a:cs typeface="Arial"/>
              </a:rPr>
              <a:t>If hidden capability was missed, say Upper bound unknown. If another check remained incomplete, say Inconclusive.</a:t>
            </a:r>
          </a:p>
        </p:txBody>
      </p:sp>
      <p:sp>
        <p:nvSpPr>
          <p:cNvPr id="36" name="page-number-v6">
            <a:extLst xmlns:a="http://schemas.openxmlformats.org/drawingml/2006/main">
              <a:ext uri="{FF2B5EF4-FFF2-40B4-BE49-F238E27FC236}">
                <a16:creationId xmlns:a16="http://schemas.microsoft.com/office/drawing/2014/main" id="{8661E099-DB37-47F3-9692-9A524A519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391275"/>
            <a:ext cx="990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>
                <a:solidFill>
                  <a:srgbClr val="6B7788"/>
                </a:solidFill>
                <a:latin typeface="Arial"/>
                <a:ea typeface="Arial"/>
                <a:cs typeface="Arial"/>
              </a:defRPr>
            </a:pPr>
            <a:r>
              <a:rPr sz="750">
                <a:solidFill>
                  <a:srgbClr val="6B7788"/>
                </a:solidFill>
                <a:latin typeface="Arial"/>
                <a:ea typeface="Arial"/>
                <a:cs typeface="Arial"/>
              </a:rPr>
              <a:t>05 / 18</a:t>
            </a:r>
          </a:p>
        </p:txBody>
      </p:sp>
    </p:spTree>
    <p:extLst>
      <p:ext uri="{BB962C8B-B14F-4D97-AF65-F5344CB8AC3E}">
        <p14:creationId xmlns:p14="http://schemas.microsoft.com/office/powerpoint/2010/main" val="30980662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2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eyebrow">
            <a:extLst xmlns:a="http://schemas.openxmlformats.org/drawingml/2006/main">
              <a:ext uri="{FF2B5EF4-FFF2-40B4-BE49-F238E27FC236}">
                <a16:creationId xmlns:a16="http://schemas.microsoft.com/office/drawing/2014/main" id="{ED73A1E1-53EE-4D4D-9911-3C9A62820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609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007B76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07B76"/>
                </a:solidFill>
                <a:latin typeface="Arial"/>
                <a:ea typeface="Arial"/>
                <a:cs typeface="Arial"/>
              </a:rPr>
              <a:t>THE OUTPUT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1F620F0-2F98-4408-BDA8-44DCA25B1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75" b="1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132238"/>
                </a:solidFill>
                <a:latin typeface="Arial"/>
                <a:ea typeface="Arial"/>
                <a:cs typeface="Arial"/>
              </a:rPr>
              <a:t>EvalBracket turns the evidence into four clear conclusions.</a:t>
            </a:r>
          </a:p>
        </p:txBody>
      </p:sp>
      <p:sp>
        <p:nvSpPr>
          <p:cNvPr id="3" name="footer-mark">
            <a:extLst xmlns:a="http://schemas.openxmlformats.org/drawingml/2006/main">
              <a:ext uri="{FF2B5EF4-FFF2-40B4-BE49-F238E27FC236}">
                <a16:creationId xmlns:a16="http://schemas.microsoft.com/office/drawing/2014/main" id="{3F18E0AD-6724-4DAA-AB99-59614CE74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29375"/>
            <a:ext cx="66675" cy="6667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008C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label">
            <a:extLst xmlns:a="http://schemas.openxmlformats.org/drawingml/2006/main">
              <a:ext uri="{FF2B5EF4-FFF2-40B4-BE49-F238E27FC236}">
                <a16:creationId xmlns:a16="http://schemas.microsoft.com/office/drawing/2014/main" id="{D0507448-A8B9-47DD-A95C-893145F8D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6391275"/>
            <a:ext cx="3143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0">
                <a:solidFill>
                  <a:srgbClr val="007B76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007B76"/>
                </a:solidFill>
                <a:latin typeface="Arial"/>
                <a:ea typeface="Arial"/>
                <a:cs typeface="Arial"/>
              </a:rPr>
              <a:t>EvalBracket • Internal discussion draft</a:t>
            </a:r>
          </a:p>
        </p:txBody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BCA415CB-C59A-45C9-82F3-F04446B5E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91275"/>
            <a:ext cx="723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750" b="0">
                <a:solidFill>
                  <a:srgbClr val="708093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708093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6" name="s8-h-0-cell">
            <a:extLst xmlns:a="http://schemas.openxmlformats.org/drawingml/2006/main">
              <a:ext uri="{FF2B5EF4-FFF2-40B4-BE49-F238E27FC236}">
                <a16:creationId xmlns:a16="http://schemas.microsoft.com/office/drawing/2014/main" id="{1C018A70-64DC-4609-9694-11CF84749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24000"/>
            <a:ext cx="314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7" name="s8-h-0-text">
            <a:extLst xmlns:a="http://schemas.openxmlformats.org/drawingml/2006/main">
              <a:ext uri="{FF2B5EF4-FFF2-40B4-BE49-F238E27FC236}">
                <a16:creationId xmlns:a16="http://schemas.microsoft.com/office/drawing/2014/main" id="{49F5CA30-5C80-45A3-9C69-A5022C804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00200"/>
            <a:ext cx="2914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52617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26173"/>
                </a:solidFill>
                <a:latin typeface="Arial"/>
                <a:ea typeface="Arial"/>
                <a:cs typeface="Arial"/>
              </a:rPr>
              <a:t>WHAT DID THE MODEL SHOW?</a:t>
            </a:r>
          </a:p>
        </p:txBody>
      </p:sp>
      <p:sp>
        <p:nvSpPr>
          <p:cNvPr id="8" name="s8-h-1-cell">
            <a:extLst xmlns:a="http://schemas.openxmlformats.org/drawingml/2006/main">
              <a:ext uri="{FF2B5EF4-FFF2-40B4-BE49-F238E27FC236}">
                <a16:creationId xmlns:a16="http://schemas.microsoft.com/office/drawing/2014/main" id="{014823AE-15DD-44C4-BFC5-953F82C67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1524000"/>
            <a:ext cx="304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9" name="s8-h-1-text">
            <a:extLst xmlns:a="http://schemas.openxmlformats.org/drawingml/2006/main">
              <a:ext uri="{FF2B5EF4-FFF2-40B4-BE49-F238E27FC236}">
                <a16:creationId xmlns:a16="http://schemas.microsoft.com/office/drawing/2014/main" id="{09E30ED5-462A-4838-B1CD-04FAFC758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600200"/>
            <a:ext cx="2819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52617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26173"/>
                </a:solidFill>
                <a:latin typeface="Arial"/>
                <a:ea typeface="Arial"/>
                <a:cs typeface="Arial"/>
              </a:rPr>
              <a:t>DID THE TESTING PROCESS PASS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52617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26173"/>
                </a:solidFill>
                <a:latin typeface="Arial"/>
                <a:ea typeface="Arial"/>
                <a:cs typeface="Arial"/>
              </a:rPr>
              <a:t>EVERY REQUIRED CHECK?</a:t>
            </a:r>
          </a:p>
        </p:txBody>
      </p:sp>
      <p:sp>
        <p:nvSpPr>
          <p:cNvPr id="10" name="s8-h-2-cell">
            <a:extLst xmlns:a="http://schemas.openxmlformats.org/drawingml/2006/main">
              <a:ext uri="{FF2B5EF4-FFF2-40B4-BE49-F238E27FC236}">
                <a16:creationId xmlns:a16="http://schemas.microsoft.com/office/drawing/2014/main" id="{06EE8963-3D47-4404-8FD5-CB32D2AD5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1524000"/>
            <a:ext cx="5086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s8-h-2-text">
            <a:extLst xmlns:a="http://schemas.openxmlformats.org/drawingml/2006/main">
              <a:ext uri="{FF2B5EF4-FFF2-40B4-BE49-F238E27FC236}">
                <a16:creationId xmlns:a16="http://schemas.microsoft.com/office/drawing/2014/main" id="{4C0967BC-F3D0-45CE-B311-FAB00F36F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600200"/>
            <a:ext cx="4857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52617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26173"/>
                </a:solidFill>
                <a:latin typeface="Arial"/>
                <a:ea typeface="Arial"/>
                <a:cs typeface="Arial"/>
              </a:rPr>
              <a:t>WHAT EVALBRACKET SAYS</a:t>
            </a:r>
          </a:p>
        </p:txBody>
      </p:sp>
      <p:sp>
        <p:nvSpPr>
          <p:cNvPr id="12" name="s8-r0-c0-cell">
            <a:extLst xmlns:a="http://schemas.openxmlformats.org/drawingml/2006/main">
              <a:ext uri="{FF2B5EF4-FFF2-40B4-BE49-F238E27FC236}">
                <a16:creationId xmlns:a16="http://schemas.microsoft.com/office/drawing/2014/main" id="{CA45E064-BB05-4207-B9C5-6F5D5ECCC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38350"/>
            <a:ext cx="3143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3" name="s8-r0-c0-text">
            <a:extLst xmlns:a="http://schemas.openxmlformats.org/drawingml/2006/main">
              <a:ext uri="{FF2B5EF4-FFF2-40B4-BE49-F238E27FC236}">
                <a16:creationId xmlns:a16="http://schemas.microsoft.com/office/drawing/2014/main" id="{2B81CAAC-4EE0-451D-BA53-AD2D5CB94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33600"/>
            <a:ext cx="29146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32238"/>
                </a:solidFill>
                <a:latin typeface="Arial"/>
                <a:ea typeface="Arial"/>
                <a:cs typeface="Arial"/>
              </a:rPr>
              <a:t>At or above the lab's action threshold</a:t>
            </a:r>
          </a:p>
        </p:txBody>
      </p:sp>
      <p:sp>
        <p:nvSpPr>
          <p:cNvPr id="14" name="s8-r0-c1-cell">
            <a:extLst xmlns:a="http://schemas.openxmlformats.org/drawingml/2006/main">
              <a:ext uri="{FF2B5EF4-FFF2-40B4-BE49-F238E27FC236}">
                <a16:creationId xmlns:a16="http://schemas.microsoft.com/office/drawing/2014/main" id="{8ABE0E49-8D98-4786-BAA0-BC18BA9B2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038350"/>
            <a:ext cx="304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s8-r0-c1-text">
            <a:extLst xmlns:a="http://schemas.openxmlformats.org/drawingml/2006/main">
              <a:ext uri="{FF2B5EF4-FFF2-40B4-BE49-F238E27FC236}">
                <a16:creationId xmlns:a16="http://schemas.microsoft.com/office/drawing/2014/main" id="{5E183D27-9215-4C3E-97E2-1CF6F96F0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133600"/>
            <a:ext cx="2819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32238"/>
                </a:solidFill>
                <a:latin typeface="Arial"/>
                <a:ea typeface="Arial"/>
                <a:cs typeface="Arial"/>
              </a:rPr>
              <a:t>Not needed for a positive result</a:t>
            </a:r>
          </a:p>
        </p:txBody>
      </p:sp>
      <p:sp>
        <p:nvSpPr>
          <p:cNvPr id="16" name="s8-r0-c2-cell">
            <a:extLst xmlns:a="http://schemas.openxmlformats.org/drawingml/2006/main">
              <a:ext uri="{FF2B5EF4-FFF2-40B4-BE49-F238E27FC236}">
                <a16:creationId xmlns:a16="http://schemas.microsoft.com/office/drawing/2014/main" id="{64A0CE86-FF20-4BAF-82E0-23CE68627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038350"/>
            <a:ext cx="50863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s8-r0-c2-text">
            <a:extLst xmlns:a="http://schemas.openxmlformats.org/drawingml/2006/main">
              <a:ext uri="{FF2B5EF4-FFF2-40B4-BE49-F238E27FC236}">
                <a16:creationId xmlns:a16="http://schemas.microsoft.com/office/drawing/2014/main" id="{DF4203F3-08A7-4971-A2CF-C14990AE1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133600"/>
            <a:ext cx="4857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B73852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B73852"/>
                </a:solidFill>
                <a:latin typeface="Arial"/>
                <a:ea typeface="Arial"/>
                <a:cs typeface="Arial"/>
              </a:rPr>
              <a:t>Capability at or above threshold</a:t>
            </a:r>
          </a:p>
        </p:txBody>
      </p:sp>
      <p:sp>
        <p:nvSpPr>
          <p:cNvPr id="18" name="s8-r1-c0-cell">
            <a:extLst xmlns:a="http://schemas.openxmlformats.org/drawingml/2006/main">
              <a:ext uri="{FF2B5EF4-FFF2-40B4-BE49-F238E27FC236}">
                <a16:creationId xmlns:a16="http://schemas.microsoft.com/office/drawing/2014/main" id="{870E3B47-9DA2-44B4-B983-77A682303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00350"/>
            <a:ext cx="3143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s8-r1-c0-text">
            <a:extLst xmlns:a="http://schemas.openxmlformats.org/drawingml/2006/main">
              <a:ext uri="{FF2B5EF4-FFF2-40B4-BE49-F238E27FC236}">
                <a16:creationId xmlns:a16="http://schemas.microsoft.com/office/drawing/2014/main" id="{675EA1F8-FFE1-4EC9-8F28-5AC76F40F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95600"/>
            <a:ext cx="29146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32238"/>
                </a:solidFill>
                <a:latin typeface="Arial"/>
                <a:ea typeface="Arial"/>
                <a:cs typeface="Arial"/>
              </a:rPr>
              <a:t>Below the lab's action threshold</a:t>
            </a:r>
          </a:p>
        </p:txBody>
      </p:sp>
      <p:sp>
        <p:nvSpPr>
          <p:cNvPr id="20" name="s8-r1-c1-cell">
            <a:extLst xmlns:a="http://schemas.openxmlformats.org/drawingml/2006/main">
              <a:ext uri="{FF2B5EF4-FFF2-40B4-BE49-F238E27FC236}">
                <a16:creationId xmlns:a16="http://schemas.microsoft.com/office/drawing/2014/main" id="{92491237-66D5-40D0-A1D0-75458AC6B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800350"/>
            <a:ext cx="304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1" name="s8-r1-c1-text">
            <a:extLst xmlns:a="http://schemas.openxmlformats.org/drawingml/2006/main">
              <a:ext uri="{FF2B5EF4-FFF2-40B4-BE49-F238E27FC236}">
                <a16:creationId xmlns:a16="http://schemas.microsoft.com/office/drawing/2014/main" id="{4F024F82-BFE1-4FE8-AE68-A821EC1D9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895600"/>
            <a:ext cx="2819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32238"/>
                </a:solidFill>
                <a:latin typeface="Arial"/>
                <a:ea typeface="Arial"/>
                <a:cs typeface="Arial"/>
              </a:rPr>
              <a:t>No: it missed hidden capability in controls</a:t>
            </a:r>
          </a:p>
        </p:txBody>
      </p:sp>
      <p:sp>
        <p:nvSpPr>
          <p:cNvPr id="22" name="s8-r1-c2-cell">
            <a:extLst xmlns:a="http://schemas.openxmlformats.org/drawingml/2006/main">
              <a:ext uri="{FF2B5EF4-FFF2-40B4-BE49-F238E27FC236}">
                <a16:creationId xmlns:a16="http://schemas.microsoft.com/office/drawing/2014/main" id="{B177150F-C14D-44DA-AC71-BA2FF6A6F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800350"/>
            <a:ext cx="50863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3" name="s8-r1-c2-text">
            <a:extLst xmlns:a="http://schemas.openxmlformats.org/drawingml/2006/main">
              <a:ext uri="{FF2B5EF4-FFF2-40B4-BE49-F238E27FC236}">
                <a16:creationId xmlns:a16="http://schemas.microsoft.com/office/drawing/2014/main" id="{B34AB908-B6BE-4C9B-8F49-C29EAED65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895600"/>
            <a:ext cx="4857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97630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976300"/>
                </a:solidFill>
                <a:latin typeface="Arial"/>
                <a:ea typeface="Arial"/>
                <a:cs typeface="Arial"/>
              </a:rPr>
              <a:t>Upper bound unknown</a:t>
            </a:r>
          </a:p>
        </p:txBody>
      </p:sp>
      <p:sp>
        <p:nvSpPr>
          <p:cNvPr id="24" name="s8-r2-c0-cell">
            <a:extLst xmlns:a="http://schemas.openxmlformats.org/drawingml/2006/main">
              <a:ext uri="{FF2B5EF4-FFF2-40B4-BE49-F238E27FC236}">
                <a16:creationId xmlns:a16="http://schemas.microsoft.com/office/drawing/2014/main" id="{52116439-422B-49BB-B0BA-33FB70E3B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562350"/>
            <a:ext cx="3143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5" name="s8-r2-c0-text">
            <a:extLst xmlns:a="http://schemas.openxmlformats.org/drawingml/2006/main">
              <a:ext uri="{FF2B5EF4-FFF2-40B4-BE49-F238E27FC236}">
                <a16:creationId xmlns:a16="http://schemas.microsoft.com/office/drawing/2014/main" id="{8650BA2E-DFFB-4D78-A4B1-6D50788C7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57600"/>
            <a:ext cx="29146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32238"/>
                </a:solidFill>
                <a:latin typeface="Arial"/>
                <a:ea typeface="Arial"/>
                <a:cs typeface="Arial"/>
              </a:rPr>
              <a:t>Below the lab's action threshold</a:t>
            </a:r>
          </a:p>
        </p:txBody>
      </p:sp>
      <p:sp>
        <p:nvSpPr>
          <p:cNvPr id="26" name="s8-r2-c1-cell">
            <a:extLst xmlns:a="http://schemas.openxmlformats.org/drawingml/2006/main">
              <a:ext uri="{FF2B5EF4-FFF2-40B4-BE49-F238E27FC236}">
                <a16:creationId xmlns:a16="http://schemas.microsoft.com/office/drawing/2014/main" id="{24D6B7A3-92D6-4446-AB24-B05794C72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562350"/>
            <a:ext cx="304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s8-r2-c1-text">
            <a:extLst xmlns:a="http://schemas.openxmlformats.org/drawingml/2006/main">
              <a:ext uri="{FF2B5EF4-FFF2-40B4-BE49-F238E27FC236}">
                <a16:creationId xmlns:a16="http://schemas.microsoft.com/office/drawing/2014/main" id="{C11F07E4-7460-482B-8078-55CEF55EE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657600"/>
            <a:ext cx="2819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32238"/>
                </a:solidFill>
                <a:latin typeface="Arial"/>
                <a:ea typeface="Arial"/>
                <a:cs typeface="Arial"/>
              </a:rPr>
              <a:t>Yes: every required check passed</a:t>
            </a:r>
          </a:p>
        </p:txBody>
      </p:sp>
      <p:sp>
        <p:nvSpPr>
          <p:cNvPr id="28" name="s8-r2-c2-cell">
            <a:extLst xmlns:a="http://schemas.openxmlformats.org/drawingml/2006/main">
              <a:ext uri="{FF2B5EF4-FFF2-40B4-BE49-F238E27FC236}">
                <a16:creationId xmlns:a16="http://schemas.microsoft.com/office/drawing/2014/main" id="{703D313B-751C-4403-873F-DD68D9F64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562350"/>
            <a:ext cx="50863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9" name="s8-r2-c2-text">
            <a:extLst xmlns:a="http://schemas.openxmlformats.org/drawingml/2006/main">
              <a:ext uri="{FF2B5EF4-FFF2-40B4-BE49-F238E27FC236}">
                <a16:creationId xmlns:a16="http://schemas.microsoft.com/office/drawing/2014/main" id="{A6FFAE4C-FD55-4A97-949A-FC4FFF91A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657600"/>
            <a:ext cx="4857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087A5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87A58"/>
                </a:solidFill>
                <a:latin typeface="Arial"/>
                <a:ea typeface="Arial"/>
                <a:cs typeface="Arial"/>
              </a:rPr>
              <a:t>Capability stays below threshold</a:t>
            </a:r>
          </a:p>
        </p:txBody>
      </p:sp>
      <p:sp>
        <p:nvSpPr>
          <p:cNvPr id="30" name="s8-r3-c0-cell">
            <a:extLst xmlns:a="http://schemas.openxmlformats.org/drawingml/2006/main">
              <a:ext uri="{FF2B5EF4-FFF2-40B4-BE49-F238E27FC236}">
                <a16:creationId xmlns:a16="http://schemas.microsoft.com/office/drawing/2014/main" id="{6209819C-C685-4885-ADB8-C335C54FE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24350"/>
            <a:ext cx="3143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1" name="s8-r3-c0-text">
            <a:extLst xmlns:a="http://schemas.openxmlformats.org/drawingml/2006/main">
              <a:ext uri="{FF2B5EF4-FFF2-40B4-BE49-F238E27FC236}">
                <a16:creationId xmlns:a16="http://schemas.microsoft.com/office/drawing/2014/main" id="{CA09B0E0-8E84-4503-BBA2-4BDA6BB03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19600"/>
            <a:ext cx="29146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32238"/>
                </a:solidFill>
                <a:latin typeface="Arial"/>
                <a:ea typeface="Arial"/>
                <a:cs typeface="Arial"/>
              </a:rPr>
              <a:t>Below the lab's action threshold</a:t>
            </a:r>
          </a:p>
        </p:txBody>
      </p:sp>
      <p:sp>
        <p:nvSpPr>
          <p:cNvPr id="32" name="s8-r3-c1-cell">
            <a:extLst xmlns:a="http://schemas.openxmlformats.org/drawingml/2006/main">
              <a:ext uri="{FF2B5EF4-FFF2-40B4-BE49-F238E27FC236}">
                <a16:creationId xmlns:a16="http://schemas.microsoft.com/office/drawing/2014/main" id="{C53DFF7B-E574-436A-B706-911F983EE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324350"/>
            <a:ext cx="304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3" name="s8-r3-c1-text">
            <a:extLst xmlns:a="http://schemas.openxmlformats.org/drawingml/2006/main">
              <a:ext uri="{FF2B5EF4-FFF2-40B4-BE49-F238E27FC236}">
                <a16:creationId xmlns:a16="http://schemas.microsoft.com/office/drawing/2014/main" id="{FE70BD42-4057-4446-BBCB-7BDAED5A0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419600"/>
            <a:ext cx="2819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32238"/>
                </a:solidFill>
                <a:latin typeface="Arial"/>
                <a:ea typeface="Arial"/>
                <a:cs typeface="Arial"/>
              </a:rPr>
              <a:t>Hidden controls were found, but another check was incomplete</a:t>
            </a:r>
          </a:p>
        </p:txBody>
      </p:sp>
      <p:sp>
        <p:nvSpPr>
          <p:cNvPr id="34" name="s8-r3-c2-cell">
            <a:extLst xmlns:a="http://schemas.openxmlformats.org/drawingml/2006/main">
              <a:ext uri="{FF2B5EF4-FFF2-40B4-BE49-F238E27FC236}">
                <a16:creationId xmlns:a16="http://schemas.microsoft.com/office/drawing/2014/main" id="{1F62F4A6-20BC-4D5B-9196-785CE536E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324350"/>
            <a:ext cx="50863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5" name="s8-r3-c2-text">
            <a:extLst xmlns:a="http://schemas.openxmlformats.org/drawingml/2006/main">
              <a:ext uri="{FF2B5EF4-FFF2-40B4-BE49-F238E27FC236}">
                <a16:creationId xmlns:a16="http://schemas.microsoft.com/office/drawing/2014/main" id="{82DB917E-1808-4196-8F93-A59600F1B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419600"/>
            <a:ext cx="4857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97630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976300"/>
                </a:solidFill>
                <a:latin typeface="Arial"/>
                <a:ea typeface="Arial"/>
                <a:cs typeface="Arial"/>
              </a:rPr>
              <a:t>Inconclusive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97630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976300"/>
                </a:solidFill>
                <a:latin typeface="Arial"/>
                <a:ea typeface="Arial"/>
                <a:cs typeface="Arial"/>
              </a:rPr>
              <a:t>(precautionarily treated as above threshold)</a:t>
            </a:r>
          </a:p>
        </p:txBody>
      </p:sp>
      <p:sp>
        <p:nvSpPr>
          <p:cNvPr id="36" name="s8-footnote">
            <a:extLst xmlns:a="http://schemas.openxmlformats.org/drawingml/2006/main">
              <a:ext uri="{FF2B5EF4-FFF2-40B4-BE49-F238E27FC236}">
                <a16:creationId xmlns:a16="http://schemas.microsoft.com/office/drawing/2014/main" id="{A01D3D93-9658-4ECF-B794-935DBC473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14950"/>
            <a:ext cx="1082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52617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173"/>
                </a:solidFill>
                <a:latin typeface="Arial"/>
                <a:ea typeface="Arial"/>
                <a:cs typeface="Arial"/>
              </a:rPr>
              <a:t>The five checks cover hidden-capability recovery, control breadth, elicitation-method coverage, the stopping point, and capability creation.</a:t>
            </a:r>
          </a:p>
        </p:txBody>
      </p:sp>
      <p:sp>
        <p:nvSpPr>
          <p:cNvPr id="38" name="page-number-v6">
            <a:extLst xmlns:a="http://schemas.openxmlformats.org/drawingml/2006/main">
              <a:ext uri="{FF2B5EF4-FFF2-40B4-BE49-F238E27FC236}">
                <a16:creationId xmlns:a16="http://schemas.microsoft.com/office/drawing/2014/main" id="{5A463DE0-D2C8-41F0-951A-27CF24F88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391275"/>
            <a:ext cx="990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>
                <a:solidFill>
                  <a:srgbClr val="6B7788"/>
                </a:solidFill>
                <a:latin typeface="Arial"/>
                <a:ea typeface="Arial"/>
                <a:cs typeface="Arial"/>
              </a:defRPr>
            </a:pPr>
            <a:r>
              <a:rPr sz="750">
                <a:solidFill>
                  <a:srgbClr val="6B7788"/>
                </a:solidFill>
                <a:latin typeface="Arial"/>
                <a:ea typeface="Arial"/>
                <a:cs typeface="Arial"/>
              </a:rPr>
              <a:t>06 / 18</a:t>
            </a:r>
          </a:p>
        </p:txBody>
      </p:sp>
    </p:spTree>
    <p:extLst>
      <p:ext uri="{BB962C8B-B14F-4D97-AF65-F5344CB8AC3E}">
        <p14:creationId xmlns:p14="http://schemas.microsoft.com/office/powerpoint/2010/main" val="59137762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2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eyebrow">
            <a:extLst xmlns:a="http://schemas.openxmlformats.org/drawingml/2006/main">
              <a:ext uri="{FF2B5EF4-FFF2-40B4-BE49-F238E27FC236}">
                <a16:creationId xmlns:a16="http://schemas.microsoft.com/office/drawing/2014/main" id="{13312D0D-10D8-4DFE-B21E-384937222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609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007B76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07B76"/>
                </a:solidFill>
                <a:latin typeface="Arial"/>
                <a:ea typeface="Arial"/>
                <a:cs typeface="Arial"/>
              </a:rPr>
              <a:t>EVALBRACKET AT A GLANCE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3613358-81F0-484B-B388-E15AC39BC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00" b="1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32238"/>
                </a:solidFill>
                <a:latin typeface="Arial"/>
                <a:ea typeface="Arial"/>
                <a:cs typeface="Arial"/>
              </a:rPr>
              <a:t>Evidence goes in. An access-specific, qualified claim comes out.</a:t>
            </a:r>
          </a:p>
        </p:txBody>
      </p:sp>
      <p:sp>
        <p:nvSpPr>
          <p:cNvPr id="3" name="footer-mark">
            <a:extLst xmlns:a="http://schemas.openxmlformats.org/drawingml/2006/main">
              <a:ext uri="{FF2B5EF4-FFF2-40B4-BE49-F238E27FC236}">
                <a16:creationId xmlns:a16="http://schemas.microsoft.com/office/drawing/2014/main" id="{BF25A9A8-9207-438C-9587-29085BEAF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29375"/>
            <a:ext cx="66675" cy="6667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008C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label">
            <a:extLst xmlns:a="http://schemas.openxmlformats.org/drawingml/2006/main">
              <a:ext uri="{FF2B5EF4-FFF2-40B4-BE49-F238E27FC236}">
                <a16:creationId xmlns:a16="http://schemas.microsoft.com/office/drawing/2014/main" id="{EA66189D-249B-4E8A-8859-AB423E255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6391275"/>
            <a:ext cx="3143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0">
                <a:solidFill>
                  <a:srgbClr val="007B76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007B76"/>
                </a:solidFill>
                <a:latin typeface="Arial"/>
                <a:ea typeface="Arial"/>
                <a:cs typeface="Arial"/>
              </a:rPr>
              <a:t>EvalBracket • Internal discussion draft</a:t>
            </a:r>
          </a:p>
        </p:txBody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89176AA1-34DB-44BD-B100-AD8821969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91275"/>
            <a:ext cx="723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750" b="0">
                <a:solidFill>
                  <a:srgbClr val="708093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708093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6" name="step-1-circle">
            <a:extLst xmlns:a="http://schemas.openxmlformats.org/drawingml/2006/main">
              <a:ext uri="{FF2B5EF4-FFF2-40B4-BE49-F238E27FC236}">
                <a16:creationId xmlns:a16="http://schemas.microsoft.com/office/drawing/2014/main" id="{05805C8E-5595-481B-AAE3-1FD9DF85A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43050"/>
            <a:ext cx="323850" cy="3238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8C86"/>
            </a:solidFill>
            <a:prstDash val="solid"/>
          </a:ln>
        </p:spPr>
      </p:sp>
      <p:sp>
        <p:nvSpPr>
          <p:cNvPr id="7" name="step-1-num">
            <a:extLst xmlns:a="http://schemas.openxmlformats.org/drawingml/2006/main">
              <a:ext uri="{FF2B5EF4-FFF2-40B4-BE49-F238E27FC236}">
                <a16:creationId xmlns:a16="http://schemas.microsoft.com/office/drawing/2014/main" id="{56BA74A3-319E-4901-889F-C350BC26B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0972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007B7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7B76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" name="step-1-title">
            <a:extLst xmlns:a="http://schemas.openxmlformats.org/drawingml/2006/main">
              <a:ext uri="{FF2B5EF4-FFF2-40B4-BE49-F238E27FC236}">
                <a16:creationId xmlns:a16="http://schemas.microsoft.com/office/drawing/2014/main" id="{AA15BED0-E244-4505-A016-54279F860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524000"/>
            <a:ext cx="2152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32238"/>
                </a:solidFill>
                <a:latin typeface="Arial"/>
                <a:ea typeface="Arial"/>
                <a:cs typeface="Arial"/>
              </a:rPr>
              <a:t>Collect existing evidence</a:t>
            </a:r>
          </a:p>
        </p:txBody>
      </p:sp>
      <p:sp>
        <p:nvSpPr>
          <p:cNvPr id="9" name="step-1-body">
            <a:extLst xmlns:a="http://schemas.openxmlformats.org/drawingml/2006/main">
              <a:ext uri="{FF2B5EF4-FFF2-40B4-BE49-F238E27FC236}">
                <a16:creationId xmlns:a16="http://schemas.microsoft.com/office/drawing/2014/main" id="{09A01F6C-56B7-480A-98F4-AE792F124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924050"/>
            <a:ext cx="21526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52617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173"/>
                </a:solidFill>
                <a:latin typeface="Arial"/>
                <a:ea typeface="Arial"/>
                <a:cs typeface="Arial"/>
              </a:rPr>
              <a:t>Automated evals, manual red teaming, external testing, safeguards, and controls.</a:t>
            </a:r>
          </a:p>
        </p:txBody>
      </p:sp>
      <p:sp>
        <p:nvSpPr>
          <p:cNvPr id="10" name="step-2-circle">
            <a:extLst xmlns:a="http://schemas.openxmlformats.org/drawingml/2006/main">
              <a:ext uri="{FF2B5EF4-FFF2-40B4-BE49-F238E27FC236}">
                <a16:creationId xmlns:a16="http://schemas.microsoft.com/office/drawing/2014/main" id="{4DDCF783-0BF0-4D85-AB61-94FEF27B1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1543050"/>
            <a:ext cx="323850" cy="3238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8C86"/>
            </a:solidFill>
            <a:prstDash val="solid"/>
          </a:ln>
        </p:spPr>
      </p:sp>
      <p:sp>
        <p:nvSpPr>
          <p:cNvPr id="11" name="step-2-num">
            <a:extLst xmlns:a="http://schemas.openxmlformats.org/drawingml/2006/main">
              <a:ext uri="{FF2B5EF4-FFF2-40B4-BE49-F238E27FC236}">
                <a16:creationId xmlns:a16="http://schemas.microsoft.com/office/drawing/2014/main" id="{7DE6482A-4913-4798-AA31-B36E3F2DE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160972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007B7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7B76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2" name="step-2-title">
            <a:extLst xmlns:a="http://schemas.openxmlformats.org/drawingml/2006/main">
              <a:ext uri="{FF2B5EF4-FFF2-40B4-BE49-F238E27FC236}">
                <a16:creationId xmlns:a16="http://schemas.microsoft.com/office/drawing/2014/main" id="{6B4D57DD-C3B9-4830-B80C-1271D3EC5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1524000"/>
            <a:ext cx="2152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32238"/>
                </a:solidFill>
                <a:latin typeface="Arial"/>
                <a:ea typeface="Arial"/>
                <a:cs typeface="Arial"/>
              </a:rPr>
              <a:t>Qualify the testing process</a:t>
            </a:r>
          </a:p>
        </p:txBody>
      </p:sp>
      <p:sp>
        <p:nvSpPr>
          <p:cNvPr id="13" name="step-2-body">
            <a:extLst xmlns:a="http://schemas.openxmlformats.org/drawingml/2006/main">
              <a:ext uri="{FF2B5EF4-FFF2-40B4-BE49-F238E27FC236}">
                <a16:creationId xmlns:a16="http://schemas.microsoft.com/office/drawing/2014/main" id="{0D54750B-3C78-4AE0-A342-B0B21BA10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1924050"/>
            <a:ext cx="21526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52617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173"/>
                </a:solidFill>
                <a:latin typeface="Arial"/>
                <a:ea typeface="Arial"/>
                <a:cs typeface="Arial"/>
              </a:rPr>
              <a:t>Ask whether the tests recover comparable known capability from blinded controls.</a:t>
            </a:r>
          </a:p>
        </p:txBody>
      </p:sp>
      <p:sp>
        <p:nvSpPr>
          <p:cNvPr id="14" name="step-3-circle">
            <a:extLst xmlns:a="http://schemas.openxmlformats.org/drawingml/2006/main">
              <a:ext uri="{FF2B5EF4-FFF2-40B4-BE49-F238E27FC236}">
                <a16:creationId xmlns:a16="http://schemas.microsoft.com/office/drawing/2014/main" id="{C52F77C6-3FF7-4609-885F-7932BA431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1543050"/>
            <a:ext cx="323850" cy="3238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8C86"/>
            </a:solidFill>
            <a:prstDash val="solid"/>
          </a:ln>
        </p:spPr>
      </p:sp>
      <p:sp>
        <p:nvSpPr>
          <p:cNvPr id="15" name="step-3-num">
            <a:extLst xmlns:a="http://schemas.openxmlformats.org/drawingml/2006/main">
              <a:ext uri="{FF2B5EF4-FFF2-40B4-BE49-F238E27FC236}">
                <a16:creationId xmlns:a16="http://schemas.microsoft.com/office/drawing/2014/main" id="{F8DAC348-5A88-4E86-8D6E-26CDBB83C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160972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007B7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7B76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6" name="step-3-title">
            <a:extLst xmlns:a="http://schemas.openxmlformats.org/drawingml/2006/main">
              <a:ext uri="{FF2B5EF4-FFF2-40B4-BE49-F238E27FC236}">
                <a16:creationId xmlns:a16="http://schemas.microsoft.com/office/drawing/2014/main" id="{D1EA6850-C349-4A22-AB0F-84188C60D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524000"/>
            <a:ext cx="2152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007B76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07B76"/>
                </a:solidFill>
                <a:latin typeface="Arial"/>
                <a:ea typeface="Arial"/>
                <a:cs typeface="Arial"/>
              </a:rPr>
              <a:t>Build the bracket</a:t>
            </a:r>
          </a:p>
        </p:txBody>
      </p:sp>
      <p:sp>
        <p:nvSpPr>
          <p:cNvPr id="17" name="step-3-body">
            <a:extLst xmlns:a="http://schemas.openxmlformats.org/drawingml/2006/main">
              <a:ext uri="{FF2B5EF4-FFF2-40B4-BE49-F238E27FC236}">
                <a16:creationId xmlns:a16="http://schemas.microsoft.com/office/drawing/2014/main" id="{672EE414-FBBF-41F3-9A84-978D7CA5E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924050"/>
            <a:ext cx="21526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52617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173"/>
                </a:solidFill>
                <a:latin typeface="Arial"/>
                <a:ea typeface="Arial"/>
                <a:cs typeface="Arial"/>
              </a:rPr>
              <a:t>Record the default result and the highest capability recovered at each access level.</a:t>
            </a:r>
          </a:p>
        </p:txBody>
      </p:sp>
      <p:sp>
        <p:nvSpPr>
          <p:cNvPr id="18" name="step-4-circle">
            <a:extLst xmlns:a="http://schemas.openxmlformats.org/drawingml/2006/main">
              <a:ext uri="{FF2B5EF4-FFF2-40B4-BE49-F238E27FC236}">
                <a16:creationId xmlns:a16="http://schemas.microsoft.com/office/drawing/2014/main" id="{F15D6DB3-77F7-4A39-B4AD-F6077082F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543050"/>
            <a:ext cx="323850" cy="3238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8C86"/>
            </a:solidFill>
            <a:prstDash val="solid"/>
          </a:ln>
        </p:spPr>
      </p:sp>
      <p:sp>
        <p:nvSpPr>
          <p:cNvPr id="19" name="step-4-num">
            <a:extLst xmlns:a="http://schemas.openxmlformats.org/drawingml/2006/main">
              <a:ext uri="{FF2B5EF4-FFF2-40B4-BE49-F238E27FC236}">
                <a16:creationId xmlns:a16="http://schemas.microsoft.com/office/drawing/2014/main" id="{3EFCA684-2318-43C5-AEEA-DB48ED114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60972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007B7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7B76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0" name="step-4-title">
            <a:extLst xmlns:a="http://schemas.openxmlformats.org/drawingml/2006/main">
              <a:ext uri="{FF2B5EF4-FFF2-40B4-BE49-F238E27FC236}">
                <a16:creationId xmlns:a16="http://schemas.microsoft.com/office/drawing/2014/main" id="{5737B101-53A6-4AE6-A419-08B6B00BE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524000"/>
            <a:ext cx="2152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32238"/>
                </a:solidFill>
                <a:latin typeface="Arial"/>
                <a:ea typeface="Arial"/>
                <a:cs typeface="Arial"/>
              </a:rPr>
              <a:t>Disclose the claim</a:t>
            </a:r>
          </a:p>
        </p:txBody>
      </p:sp>
      <p:sp>
        <p:nvSpPr>
          <p:cNvPr id="21" name="step-4-body">
            <a:extLst xmlns:a="http://schemas.openxmlformats.org/drawingml/2006/main">
              <a:ext uri="{FF2B5EF4-FFF2-40B4-BE49-F238E27FC236}">
                <a16:creationId xmlns:a16="http://schemas.microsoft.com/office/drawing/2014/main" id="{3D564C72-1EB2-48D7-BE44-CFB3FD72B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924050"/>
            <a:ext cx="21526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52617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173"/>
                </a:solidFill>
                <a:latin typeface="Arial"/>
                <a:ea typeface="Arial"/>
                <a:cs typeface="Arial"/>
              </a:rPr>
              <a:t>Share the range, testing confidence, and limitations in the system card.</a:t>
            </a:r>
          </a:p>
        </p:txBody>
      </p:sp>
      <p:sp>
        <p:nvSpPr>
          <p:cNvPr id="22" name="mid-divider">
            <a:extLst xmlns:a="http://schemas.openxmlformats.org/drawingml/2006/main">
              <a:ext uri="{FF2B5EF4-FFF2-40B4-BE49-F238E27FC236}">
                <a16:creationId xmlns:a16="http://schemas.microsoft.com/office/drawing/2014/main" id="{270CE2C2-EAE7-4B14-8880-FF1626B12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28950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3" name="routine-label">
            <a:extLst xmlns:a="http://schemas.openxmlformats.org/drawingml/2006/main">
              <a:ext uri="{FF2B5EF4-FFF2-40B4-BE49-F238E27FC236}">
                <a16:creationId xmlns:a16="http://schemas.microsoft.com/office/drawing/2014/main" id="{2F248B4D-476A-4D9A-A444-CED599CA3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97630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976300"/>
                </a:solidFill>
                <a:latin typeface="Arial"/>
                <a:ea typeface="Arial"/>
                <a:cs typeface="Arial"/>
              </a:rPr>
              <a:t>INPUTS</a:t>
            </a:r>
          </a:p>
        </p:txBody>
      </p:sp>
      <p:sp>
        <p:nvSpPr>
          <p:cNvPr id="24" name="routine-question">
            <a:extLst xmlns:a="http://schemas.openxmlformats.org/drawingml/2006/main">
              <a:ext uri="{FF2B5EF4-FFF2-40B4-BE49-F238E27FC236}">
                <a16:creationId xmlns:a16="http://schemas.microsoft.com/office/drawing/2014/main" id="{37FF5AAC-05DF-4382-B93A-C22ED0B42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57600"/>
            <a:ext cx="4762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32238"/>
                </a:solidFill>
                <a:latin typeface="Arial"/>
                <a:ea typeface="Arial"/>
                <a:cs typeface="Arial"/>
              </a:rPr>
              <a:t>Automated evals, manual red teaming, external testing, safeguard tests, and controls.</a:t>
            </a:r>
          </a:p>
        </p:txBody>
      </p:sp>
      <p:sp>
        <p:nvSpPr>
          <p:cNvPr id="25" name="evalbracket-label">
            <a:extLst xmlns:a="http://schemas.openxmlformats.org/drawingml/2006/main">
              <a:ext uri="{FF2B5EF4-FFF2-40B4-BE49-F238E27FC236}">
                <a16:creationId xmlns:a16="http://schemas.microsoft.com/office/drawing/2014/main" id="{8502A089-278C-467A-A7CF-E47980C82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33375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007B7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07B76"/>
                </a:solidFill>
                <a:latin typeface="Arial"/>
                <a:ea typeface="Arial"/>
                <a:cs typeface="Arial"/>
              </a:rPr>
              <a:t>INSIDE EVALBRACKET</a:t>
            </a:r>
          </a:p>
        </p:txBody>
      </p:sp>
      <p:sp>
        <p:nvSpPr>
          <p:cNvPr id="26" name="evalbracket-question">
            <a:extLst xmlns:a="http://schemas.openxmlformats.org/drawingml/2006/main">
              <a:ext uri="{FF2B5EF4-FFF2-40B4-BE49-F238E27FC236}">
                <a16:creationId xmlns:a16="http://schemas.microsoft.com/office/drawing/2014/main" id="{E34FBEED-039D-41B9-9F7D-4226E291B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657600"/>
            <a:ext cx="4953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32238"/>
                </a:solidFill>
                <a:latin typeface="Arial"/>
                <a:ea typeface="Arial"/>
                <a:cs typeface="Arial"/>
              </a:rPr>
              <a:t>EvalQualification tests the testing process. Bracketing records the highest capability found.</a:t>
            </a:r>
          </a:p>
        </p:txBody>
      </p:sp>
      <p:sp>
        <p:nvSpPr>
          <p:cNvPr id="27" name="control-check-bg">
            <a:extLst xmlns:a="http://schemas.openxmlformats.org/drawingml/2006/main">
              <a:ext uri="{FF2B5EF4-FFF2-40B4-BE49-F238E27FC236}">
                <a16:creationId xmlns:a16="http://schemas.microsoft.com/office/drawing/2014/main" id="{6859B259-C58A-4E47-BA55-FA2C3D4D3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762500"/>
            <a:ext cx="7620000" cy="36195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E1F2EA"/>
          </a:solidFill>
          <a:ln xmlns:a="http://schemas.openxmlformats.org/drawingml/2006/main" w="9525">
            <a:solidFill>
              <a:srgbClr val="9BCDB8"/>
            </a:solidFill>
            <a:prstDash val="solid"/>
          </a:ln>
        </p:spPr>
      </p:sp>
      <p:sp>
        <p:nvSpPr>
          <p:cNvPr id="28" name="control-check-text">
            <a:extLst xmlns:a="http://schemas.openxmlformats.org/drawingml/2006/main">
              <a:ext uri="{FF2B5EF4-FFF2-40B4-BE49-F238E27FC236}">
                <a16:creationId xmlns:a16="http://schemas.microsoft.com/office/drawing/2014/main" id="{5D550861-8759-42E7-A519-A8AD17AA1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838700"/>
            <a:ext cx="742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087A5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87A58"/>
                </a:solidFill>
                <a:latin typeface="Arial"/>
                <a:ea typeface="Arial"/>
                <a:cs typeface="Arial"/>
              </a:rPr>
              <a:t>ACCESS CONTEXT: API, hosted fine-tuning, and weight access are assessed separately</a:t>
            </a:r>
          </a:p>
        </p:txBody>
      </p:sp>
      <p:sp>
        <p:nvSpPr>
          <p:cNvPr id="30" name="model-x-rule-580">
            <a:extLst xmlns:a="http://schemas.openxmlformats.org/drawingml/2006/main">
              <a:ext uri="{FF2B5EF4-FFF2-40B4-BE49-F238E27FC236}">
                <a16:creationId xmlns:a16="http://schemas.microsoft.com/office/drawing/2014/main" id="{01048040-73D1-4713-8162-4BDAB303B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91150"/>
            <a:ext cx="10744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model-x-label-580">
            <a:extLst xmlns:a="http://schemas.openxmlformats.org/drawingml/2006/main">
              <a:ext uri="{FF2B5EF4-FFF2-40B4-BE49-F238E27FC236}">
                <a16:creationId xmlns:a16="http://schemas.microsoft.com/office/drawing/2014/main" id="{1EB0935D-CE08-470F-B476-D1BF87897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24500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007B76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07B76"/>
                </a:solidFill>
                <a:latin typeface="Arial"/>
                <a:ea typeface="Arial"/>
                <a:cs typeface="Arial"/>
              </a:rPr>
              <a:t>OUTPUT</a:t>
            </a:r>
          </a:p>
        </p:txBody>
      </p:sp>
      <p:sp>
        <p:nvSpPr>
          <p:cNvPr id="32" name="model-x-body-580">
            <a:extLst xmlns:a="http://schemas.openxmlformats.org/drawingml/2006/main">
              <a:ext uri="{FF2B5EF4-FFF2-40B4-BE49-F238E27FC236}">
                <a16:creationId xmlns:a16="http://schemas.microsoft.com/office/drawing/2014/main" id="{5394E3F8-D9F1-4DE0-BE77-5AAFFEEF1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486400"/>
            <a:ext cx="952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425" b="1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32238"/>
                </a:solidFill>
                <a:latin typeface="Arial"/>
                <a:ea typeface="Arial"/>
                <a:cs typeface="Arial"/>
              </a:rPr>
              <a:t>Observed capability range + validation strength + limitations, ready for the system card.</a:t>
            </a:r>
          </a:p>
        </p:txBody>
      </p:sp>
      <p:sp>
        <p:nvSpPr>
          <p:cNvPr id="33" name="page-number-v6">
            <a:extLst xmlns:a="http://schemas.openxmlformats.org/drawingml/2006/main">
              <a:ext uri="{FF2B5EF4-FFF2-40B4-BE49-F238E27FC236}">
                <a16:creationId xmlns:a16="http://schemas.microsoft.com/office/drawing/2014/main" id="{54EE4826-93FA-4273-8EB1-CDE0F61DF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391275"/>
            <a:ext cx="990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>
                <a:solidFill>
                  <a:srgbClr val="6B7788"/>
                </a:solidFill>
                <a:latin typeface="Arial"/>
                <a:ea typeface="Arial"/>
                <a:cs typeface="Arial"/>
              </a:defRPr>
            </a:pPr>
            <a:r>
              <a:rPr sz="750">
                <a:solidFill>
                  <a:srgbClr val="6B7788"/>
                </a:solidFill>
                <a:latin typeface="Arial"/>
                <a:ea typeface="Arial"/>
                <a:cs typeface="Arial"/>
              </a:rPr>
              <a:t>07 / 18</a:t>
            </a:r>
          </a:p>
        </p:txBody>
      </p:sp>
    </p:spTree>
    <p:extLst>
      <p:ext uri="{BB962C8B-B14F-4D97-AF65-F5344CB8AC3E}">
        <p14:creationId xmlns:p14="http://schemas.microsoft.com/office/powerpoint/2010/main" val="68755396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2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eyebrow">
            <a:extLst xmlns:a="http://schemas.openxmlformats.org/drawingml/2006/main">
              <a:ext uri="{FF2B5EF4-FFF2-40B4-BE49-F238E27FC236}">
                <a16:creationId xmlns:a16="http://schemas.microsoft.com/office/drawing/2014/main" id="{13312D0D-10D8-4DFE-B21E-384937222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609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007B76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07B76"/>
                </a:solidFill>
                <a:latin typeface="Arial"/>
                <a:ea typeface="Arial"/>
                <a:cs typeface="Arial"/>
              </a:rPr>
              <a:t>WHERE EVALBRACKET FITS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3613358-81F0-484B-B388-E15AC39BC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00" b="1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32238"/>
                </a:solidFill>
                <a:latin typeface="Arial"/>
                <a:ea typeface="Arial"/>
                <a:cs typeface="Arial"/>
              </a:rPr>
              <a:t>EvalBracket sits between safety testing and the final capability claim.</a:t>
            </a:r>
          </a:p>
        </p:txBody>
      </p:sp>
      <p:sp>
        <p:nvSpPr>
          <p:cNvPr id="3" name="footer-mark">
            <a:extLst xmlns:a="http://schemas.openxmlformats.org/drawingml/2006/main">
              <a:ext uri="{FF2B5EF4-FFF2-40B4-BE49-F238E27FC236}">
                <a16:creationId xmlns:a16="http://schemas.microsoft.com/office/drawing/2014/main" id="{BF25A9A8-9207-438C-9587-29085BEAF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29375"/>
            <a:ext cx="66675" cy="6667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008C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label">
            <a:extLst xmlns:a="http://schemas.openxmlformats.org/drawingml/2006/main">
              <a:ext uri="{FF2B5EF4-FFF2-40B4-BE49-F238E27FC236}">
                <a16:creationId xmlns:a16="http://schemas.microsoft.com/office/drawing/2014/main" id="{EA66189D-249B-4E8A-8859-AB423E255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6391275"/>
            <a:ext cx="3143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0">
                <a:solidFill>
                  <a:srgbClr val="007B76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007B76"/>
                </a:solidFill>
                <a:latin typeface="Arial"/>
                <a:ea typeface="Arial"/>
                <a:cs typeface="Arial"/>
              </a:rPr>
              <a:t>EvalBracket • Internal discussion draft</a:t>
            </a:r>
          </a:p>
        </p:txBody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89176AA1-34DB-44BD-B100-AD8821969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91275"/>
            <a:ext cx="723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750" b="0">
                <a:solidFill>
                  <a:srgbClr val="708093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708093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6" name="step-1-circle">
            <a:extLst xmlns:a="http://schemas.openxmlformats.org/drawingml/2006/main">
              <a:ext uri="{FF2B5EF4-FFF2-40B4-BE49-F238E27FC236}">
                <a16:creationId xmlns:a16="http://schemas.microsoft.com/office/drawing/2014/main" id="{05805C8E-5595-481B-AAE3-1FD9DF85A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43050"/>
            <a:ext cx="323850" cy="3238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8C86"/>
            </a:solidFill>
            <a:prstDash val="solid"/>
          </a:ln>
        </p:spPr>
      </p:sp>
      <p:sp>
        <p:nvSpPr>
          <p:cNvPr id="7" name="step-1-num">
            <a:extLst xmlns:a="http://schemas.openxmlformats.org/drawingml/2006/main">
              <a:ext uri="{FF2B5EF4-FFF2-40B4-BE49-F238E27FC236}">
                <a16:creationId xmlns:a16="http://schemas.microsoft.com/office/drawing/2014/main" id="{56BA74A3-319E-4901-889F-C350BC26B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0972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007B7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7B76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" name="step-1-title">
            <a:extLst xmlns:a="http://schemas.openxmlformats.org/drawingml/2006/main">
              <a:ext uri="{FF2B5EF4-FFF2-40B4-BE49-F238E27FC236}">
                <a16:creationId xmlns:a16="http://schemas.microsoft.com/office/drawing/2014/main" id="{AA15BED0-E244-4505-A016-54279F860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524000"/>
            <a:ext cx="2152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32238"/>
                </a:solidFill>
                <a:latin typeface="Arial"/>
                <a:ea typeface="Arial"/>
                <a:cs typeface="Arial"/>
              </a:rPr>
              <a:t>Train the model</a:t>
            </a:r>
          </a:p>
        </p:txBody>
      </p:sp>
      <p:sp>
        <p:nvSpPr>
          <p:cNvPr id="9" name="step-1-body">
            <a:extLst xmlns:a="http://schemas.openxmlformats.org/drawingml/2006/main">
              <a:ext uri="{FF2B5EF4-FFF2-40B4-BE49-F238E27FC236}">
                <a16:creationId xmlns:a16="http://schemas.microsoft.com/office/drawing/2014/main" id="{09A01F6C-56B7-480A-98F4-AE792F124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924050"/>
            <a:ext cx="21526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52617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173"/>
                </a:solidFill>
                <a:latin typeface="Arial"/>
                <a:ea typeface="Arial"/>
                <a:cs typeface="Arial"/>
              </a:rPr>
              <a:t>Produce the candidate frontier checkpoint.</a:t>
            </a:r>
          </a:p>
        </p:txBody>
      </p:sp>
      <p:sp>
        <p:nvSpPr>
          <p:cNvPr id="10" name="step-2-circle">
            <a:extLst xmlns:a="http://schemas.openxmlformats.org/drawingml/2006/main">
              <a:ext uri="{FF2B5EF4-FFF2-40B4-BE49-F238E27FC236}">
                <a16:creationId xmlns:a16="http://schemas.microsoft.com/office/drawing/2014/main" id="{4DDCF783-0BF0-4D85-AB61-94FEF27B1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1543050"/>
            <a:ext cx="323850" cy="3238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8C86"/>
            </a:solidFill>
            <a:prstDash val="solid"/>
          </a:ln>
        </p:spPr>
      </p:sp>
      <p:sp>
        <p:nvSpPr>
          <p:cNvPr id="11" name="step-2-num">
            <a:extLst xmlns:a="http://schemas.openxmlformats.org/drawingml/2006/main">
              <a:ext uri="{FF2B5EF4-FFF2-40B4-BE49-F238E27FC236}">
                <a16:creationId xmlns:a16="http://schemas.microsoft.com/office/drawing/2014/main" id="{7DE6482A-4913-4798-AA31-B36E3F2DE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160972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007B7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7B76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2" name="step-2-title">
            <a:extLst xmlns:a="http://schemas.openxmlformats.org/drawingml/2006/main">
              <a:ext uri="{FF2B5EF4-FFF2-40B4-BE49-F238E27FC236}">
                <a16:creationId xmlns:a16="http://schemas.microsoft.com/office/drawing/2014/main" id="{6B4D57DD-C3B9-4830-B80C-1271D3EC5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1524000"/>
            <a:ext cx="2152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32238"/>
                </a:solidFill>
                <a:latin typeface="Arial"/>
                <a:ea typeface="Arial"/>
                <a:cs typeface="Arial"/>
              </a:rPr>
              <a:t>Run current safety work</a:t>
            </a:r>
          </a:p>
        </p:txBody>
      </p:sp>
      <p:sp>
        <p:nvSpPr>
          <p:cNvPr id="13" name="step-2-body">
            <a:extLst xmlns:a="http://schemas.openxmlformats.org/drawingml/2006/main">
              <a:ext uri="{FF2B5EF4-FFF2-40B4-BE49-F238E27FC236}">
                <a16:creationId xmlns:a16="http://schemas.microsoft.com/office/drawing/2014/main" id="{0D54750B-3C78-4AE0-A342-B0B21BA10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1924050"/>
            <a:ext cx="21526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52617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173"/>
                </a:solidFill>
                <a:latin typeface="Arial"/>
                <a:ea typeface="Arial"/>
                <a:cs typeface="Arial"/>
              </a:rPr>
              <a:t>Capability evals, red teaming, and protected-system testing.</a:t>
            </a:r>
          </a:p>
        </p:txBody>
      </p:sp>
      <p:sp>
        <p:nvSpPr>
          <p:cNvPr id="14" name="step-3-circle">
            <a:extLst xmlns:a="http://schemas.openxmlformats.org/drawingml/2006/main">
              <a:ext uri="{FF2B5EF4-FFF2-40B4-BE49-F238E27FC236}">
                <a16:creationId xmlns:a16="http://schemas.microsoft.com/office/drawing/2014/main" id="{C52F77C6-3FF7-4609-885F-7932BA431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1543050"/>
            <a:ext cx="323850" cy="3238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8C86"/>
            </a:solidFill>
            <a:prstDash val="solid"/>
          </a:ln>
        </p:spPr>
      </p:sp>
      <p:sp>
        <p:nvSpPr>
          <p:cNvPr id="15" name="step-3-num">
            <a:extLst xmlns:a="http://schemas.openxmlformats.org/drawingml/2006/main">
              <a:ext uri="{FF2B5EF4-FFF2-40B4-BE49-F238E27FC236}">
                <a16:creationId xmlns:a16="http://schemas.microsoft.com/office/drawing/2014/main" id="{F8DAC348-5A88-4E86-8D6E-26CDBB83C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160972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007B7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7B76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6" name="step-3-title">
            <a:extLst xmlns:a="http://schemas.openxmlformats.org/drawingml/2006/main">
              <a:ext uri="{FF2B5EF4-FFF2-40B4-BE49-F238E27FC236}">
                <a16:creationId xmlns:a16="http://schemas.microsoft.com/office/drawing/2014/main" id="{D1EA6850-C349-4A22-AB0F-84188C60D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524000"/>
            <a:ext cx="2152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007B76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07B76"/>
                </a:solidFill>
                <a:latin typeface="Arial"/>
                <a:ea typeface="Arial"/>
                <a:cs typeface="Arial"/>
              </a:rPr>
              <a:t>Run EvalBracket</a:t>
            </a:r>
          </a:p>
        </p:txBody>
      </p:sp>
      <p:sp>
        <p:nvSpPr>
          <p:cNvPr id="17" name="step-3-body">
            <a:extLst xmlns:a="http://schemas.openxmlformats.org/drawingml/2006/main">
              <a:ext uri="{FF2B5EF4-FFF2-40B4-BE49-F238E27FC236}">
                <a16:creationId xmlns:a16="http://schemas.microsoft.com/office/drawing/2014/main" id="{672EE414-FBBF-41F3-9A84-978D7CA5E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924050"/>
            <a:ext cx="21526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52617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173"/>
                </a:solidFill>
                <a:latin typeface="Arial"/>
                <a:ea typeface="Arial"/>
                <a:cs typeface="Arial"/>
              </a:rPr>
              <a:t>Qualify elicitation on controls, then retest by access level.</a:t>
            </a:r>
          </a:p>
        </p:txBody>
      </p:sp>
      <p:sp>
        <p:nvSpPr>
          <p:cNvPr id="18" name="step-4-circle">
            <a:extLst xmlns:a="http://schemas.openxmlformats.org/drawingml/2006/main">
              <a:ext uri="{FF2B5EF4-FFF2-40B4-BE49-F238E27FC236}">
                <a16:creationId xmlns:a16="http://schemas.microsoft.com/office/drawing/2014/main" id="{F15D6DB3-77F7-4A39-B4AD-F6077082F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543050"/>
            <a:ext cx="323850" cy="3238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8C86"/>
            </a:solidFill>
            <a:prstDash val="solid"/>
          </a:ln>
        </p:spPr>
      </p:sp>
      <p:sp>
        <p:nvSpPr>
          <p:cNvPr id="19" name="step-4-num">
            <a:extLst xmlns:a="http://schemas.openxmlformats.org/drawingml/2006/main">
              <a:ext uri="{FF2B5EF4-FFF2-40B4-BE49-F238E27FC236}">
                <a16:creationId xmlns:a16="http://schemas.microsoft.com/office/drawing/2014/main" id="{3EFCA684-2318-43C5-AEEA-DB48ED114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60972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007B7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7B76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0" name="step-4-title">
            <a:extLst xmlns:a="http://schemas.openxmlformats.org/drawingml/2006/main">
              <a:ext uri="{FF2B5EF4-FFF2-40B4-BE49-F238E27FC236}">
                <a16:creationId xmlns:a16="http://schemas.microsoft.com/office/drawing/2014/main" id="{5737B101-53A6-4AE6-A419-08B6B00BE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524000"/>
            <a:ext cx="2152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32238"/>
                </a:solidFill>
                <a:latin typeface="Arial"/>
                <a:ea typeface="Arial"/>
                <a:cs typeface="Arial"/>
              </a:rPr>
              <a:t>Decide and disclose</a:t>
            </a:r>
          </a:p>
        </p:txBody>
      </p:sp>
      <p:sp>
        <p:nvSpPr>
          <p:cNvPr id="21" name="step-4-body">
            <a:extLst xmlns:a="http://schemas.openxmlformats.org/drawingml/2006/main">
              <a:ext uri="{FF2B5EF4-FFF2-40B4-BE49-F238E27FC236}">
                <a16:creationId xmlns:a16="http://schemas.microsoft.com/office/drawing/2014/main" id="{3D564C72-1EB2-48D7-BE44-CFB3FD72B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924050"/>
            <a:ext cx="21526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52617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173"/>
                </a:solidFill>
                <a:latin typeface="Arial"/>
                <a:ea typeface="Arial"/>
                <a:cs typeface="Arial"/>
              </a:rPr>
              <a:t>Use the bracket with safeguard evidence for launch and the system card.</a:t>
            </a:r>
          </a:p>
        </p:txBody>
      </p:sp>
      <p:sp>
        <p:nvSpPr>
          <p:cNvPr id="22" name="mid-divider">
            <a:extLst xmlns:a="http://schemas.openxmlformats.org/drawingml/2006/main">
              <a:ext uri="{FF2B5EF4-FFF2-40B4-BE49-F238E27FC236}">
                <a16:creationId xmlns:a16="http://schemas.microsoft.com/office/drawing/2014/main" id="{270CE2C2-EAE7-4B14-8880-FF1626B12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28950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3" name="routine-label">
            <a:extLst xmlns:a="http://schemas.openxmlformats.org/drawingml/2006/main">
              <a:ext uri="{FF2B5EF4-FFF2-40B4-BE49-F238E27FC236}">
                <a16:creationId xmlns:a16="http://schemas.microsoft.com/office/drawing/2014/main" id="{2F248B4D-476A-4D9A-A444-CED599CA3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97630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976300"/>
                </a:solidFill>
                <a:latin typeface="Arial"/>
                <a:ea typeface="Arial"/>
                <a:cs typeface="Arial"/>
              </a:rPr>
              <a:t>WHAT STAYS THE SAME</a:t>
            </a:r>
          </a:p>
        </p:txBody>
      </p:sp>
      <p:sp>
        <p:nvSpPr>
          <p:cNvPr id="24" name="routine-question">
            <a:extLst xmlns:a="http://schemas.openxmlformats.org/drawingml/2006/main">
              <a:ext uri="{FF2B5EF4-FFF2-40B4-BE49-F238E27FC236}">
                <a16:creationId xmlns:a16="http://schemas.microsoft.com/office/drawing/2014/main" id="{37FF5AAC-05DF-4382-B93A-C22ED0B42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57600"/>
            <a:ext cx="4762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32238"/>
                </a:solidFill>
                <a:latin typeface="Arial"/>
                <a:ea typeface="Arial"/>
                <a:cs typeface="Arial"/>
              </a:rPr>
              <a:t>Capability evals, red teaming, safeguard testing, and launch review.</a:t>
            </a:r>
          </a:p>
        </p:txBody>
      </p:sp>
      <p:sp>
        <p:nvSpPr>
          <p:cNvPr id="25" name="evalbracket-label">
            <a:extLst xmlns:a="http://schemas.openxmlformats.org/drawingml/2006/main">
              <a:ext uri="{FF2B5EF4-FFF2-40B4-BE49-F238E27FC236}">
                <a16:creationId xmlns:a16="http://schemas.microsoft.com/office/drawing/2014/main" id="{8502A089-278C-467A-A7CF-E47980C82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33375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007B7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07B76"/>
                </a:solidFill>
                <a:latin typeface="Arial"/>
                <a:ea typeface="Arial"/>
                <a:cs typeface="Arial"/>
              </a:rPr>
              <a:t>WHAT EVALBRACKET ADDS</a:t>
            </a:r>
          </a:p>
        </p:txBody>
      </p:sp>
      <p:sp>
        <p:nvSpPr>
          <p:cNvPr id="26" name="evalbracket-question">
            <a:extLst xmlns:a="http://schemas.openxmlformats.org/drawingml/2006/main">
              <a:ext uri="{FF2B5EF4-FFF2-40B4-BE49-F238E27FC236}">
                <a16:creationId xmlns:a16="http://schemas.microsoft.com/office/drawing/2014/main" id="{E34FBEED-039D-41B9-9F7D-4226E291B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657600"/>
            <a:ext cx="4953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32238"/>
                </a:solidFill>
                <a:latin typeface="Arial"/>
                <a:ea typeface="Arial"/>
                <a:cs typeface="Arial"/>
              </a:rPr>
              <a:t>Evidence that the elicitation routines could find hidden capability.</a:t>
            </a:r>
          </a:p>
        </p:txBody>
      </p:sp>
      <p:sp>
        <p:nvSpPr>
          <p:cNvPr id="27" name="control-check-bg">
            <a:extLst xmlns:a="http://schemas.openxmlformats.org/drawingml/2006/main">
              <a:ext uri="{FF2B5EF4-FFF2-40B4-BE49-F238E27FC236}">
                <a16:creationId xmlns:a16="http://schemas.microsoft.com/office/drawing/2014/main" id="{6859B259-C58A-4E47-BA55-FA2C3D4D3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762500"/>
            <a:ext cx="7620000" cy="36195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E1F2EA"/>
          </a:solidFill>
          <a:ln xmlns:a="http://schemas.openxmlformats.org/drawingml/2006/main" w="9525">
            <a:solidFill>
              <a:srgbClr val="9BCDB8"/>
            </a:solidFill>
            <a:prstDash val="solid"/>
          </a:ln>
        </p:spPr>
      </p:sp>
      <p:sp>
        <p:nvSpPr>
          <p:cNvPr id="28" name="control-check-text">
            <a:extLst xmlns:a="http://schemas.openxmlformats.org/drawingml/2006/main">
              <a:ext uri="{FF2B5EF4-FFF2-40B4-BE49-F238E27FC236}">
                <a16:creationId xmlns:a16="http://schemas.microsoft.com/office/drawing/2014/main" id="{5D550861-8759-42E7-A519-A8AD17AA1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838700"/>
            <a:ext cx="742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087A5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87A58"/>
                </a:solidFill>
                <a:latin typeface="Arial"/>
                <a:ea typeface="Arial"/>
                <a:cs typeface="Arial"/>
              </a:rPr>
              <a:t>INSERTION POINT: after the initial result, before the system-card claim</a:t>
            </a:r>
          </a:p>
        </p:txBody>
      </p:sp>
      <p:sp>
        <p:nvSpPr>
          <p:cNvPr id="30" name="model-x-rule-580">
            <a:extLst xmlns:a="http://schemas.openxmlformats.org/drawingml/2006/main">
              <a:ext uri="{FF2B5EF4-FFF2-40B4-BE49-F238E27FC236}">
                <a16:creationId xmlns:a16="http://schemas.microsoft.com/office/drawing/2014/main" id="{01048040-73D1-4713-8162-4BDAB303B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91150"/>
            <a:ext cx="10744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model-x-label-580">
            <a:extLst xmlns:a="http://schemas.openxmlformats.org/drawingml/2006/main">
              <a:ext uri="{FF2B5EF4-FFF2-40B4-BE49-F238E27FC236}">
                <a16:creationId xmlns:a16="http://schemas.microsoft.com/office/drawing/2014/main" id="{1EB0935D-CE08-470F-B476-D1BF87897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24500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007B76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07B76"/>
                </a:solidFill>
                <a:latin typeface="Arial"/>
                <a:ea typeface="Arial"/>
                <a:cs typeface="Arial"/>
              </a:rPr>
              <a:t>OUTPUT</a:t>
            </a:r>
          </a:p>
        </p:txBody>
      </p:sp>
      <p:sp>
        <p:nvSpPr>
          <p:cNvPr id="32" name="model-x-body-580">
            <a:extLst xmlns:a="http://schemas.openxmlformats.org/drawingml/2006/main">
              <a:ext uri="{FF2B5EF4-FFF2-40B4-BE49-F238E27FC236}">
                <a16:creationId xmlns:a16="http://schemas.microsoft.com/office/drawing/2014/main" id="{5394E3F8-D9F1-4DE0-BE77-5AAFFEEF1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486400"/>
            <a:ext cx="952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425" b="1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32238"/>
                </a:solidFill>
                <a:latin typeface="Arial"/>
                <a:ea typeface="Arial"/>
                <a:cs typeface="Arial"/>
              </a:rPr>
              <a:t>The access-specific bracket feeds the existing launch decision. No safety step is replaced.</a:t>
            </a:r>
          </a:p>
        </p:txBody>
      </p:sp>
      <p:sp>
        <p:nvSpPr>
          <p:cNvPr id="33" name="page-number-v6">
            <a:extLst xmlns:a="http://schemas.openxmlformats.org/drawingml/2006/main">
              <a:ext uri="{FF2B5EF4-FFF2-40B4-BE49-F238E27FC236}">
                <a16:creationId xmlns:a16="http://schemas.microsoft.com/office/drawing/2014/main" id="{54EE4826-93FA-4273-8EB1-CDE0F61DF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391275"/>
            <a:ext cx="990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>
                <a:solidFill>
                  <a:srgbClr val="6B7788"/>
                </a:solidFill>
                <a:latin typeface="Arial"/>
                <a:ea typeface="Arial"/>
                <a:cs typeface="Arial"/>
              </a:defRPr>
            </a:pPr>
            <a:r>
              <a:rPr sz="750">
                <a:solidFill>
                  <a:srgbClr val="6B7788"/>
                </a:solidFill>
                <a:latin typeface="Arial"/>
                <a:ea typeface="Arial"/>
                <a:cs typeface="Arial"/>
              </a:rPr>
              <a:t>08 / 18</a:t>
            </a:r>
          </a:p>
        </p:txBody>
      </p:sp>
    </p:spTree>
    <p:extLst>
      <p:ext uri="{BB962C8B-B14F-4D97-AF65-F5344CB8AC3E}">
        <p14:creationId xmlns:p14="http://schemas.microsoft.com/office/powerpoint/2010/main" val="68755396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2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eyebrow">
            <a:extLst xmlns:a="http://schemas.openxmlformats.org/drawingml/2006/main">
              <a:ext uri="{FF2B5EF4-FFF2-40B4-BE49-F238E27FC236}">
                <a16:creationId xmlns:a16="http://schemas.microsoft.com/office/drawing/2014/main" id="{13312D0D-10D8-4DFE-B21E-384937222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609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007B76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07B76"/>
                </a:solidFill>
                <a:latin typeface="Arial"/>
                <a:ea typeface="Arial"/>
                <a:cs typeface="Arial"/>
              </a:rPr>
              <a:t>THE HIGH-LEVEL IDEA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3613358-81F0-484B-B388-E15AC39BC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00" b="1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32238"/>
                </a:solidFill>
                <a:latin typeface="Arial"/>
                <a:ea typeface="Arial"/>
                <a:cs typeface="Arial"/>
              </a:rPr>
              <a:t>The method is simple: prove the test before trusting the result.</a:t>
            </a:r>
          </a:p>
        </p:txBody>
      </p:sp>
      <p:sp>
        <p:nvSpPr>
          <p:cNvPr id="3" name="footer-mark">
            <a:extLst xmlns:a="http://schemas.openxmlformats.org/drawingml/2006/main">
              <a:ext uri="{FF2B5EF4-FFF2-40B4-BE49-F238E27FC236}">
                <a16:creationId xmlns:a16="http://schemas.microsoft.com/office/drawing/2014/main" id="{BF25A9A8-9207-438C-9587-29085BEAF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29375"/>
            <a:ext cx="66675" cy="6667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008C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label">
            <a:extLst xmlns:a="http://schemas.openxmlformats.org/drawingml/2006/main">
              <a:ext uri="{FF2B5EF4-FFF2-40B4-BE49-F238E27FC236}">
                <a16:creationId xmlns:a16="http://schemas.microsoft.com/office/drawing/2014/main" id="{EA66189D-249B-4E8A-8859-AB423E255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6391275"/>
            <a:ext cx="3143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0">
                <a:solidFill>
                  <a:srgbClr val="007B76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007B76"/>
                </a:solidFill>
                <a:latin typeface="Arial"/>
                <a:ea typeface="Arial"/>
                <a:cs typeface="Arial"/>
              </a:rPr>
              <a:t>EvalBracket • Internal discussion draft</a:t>
            </a:r>
          </a:p>
        </p:txBody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89176AA1-34DB-44BD-B100-AD8821969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91275"/>
            <a:ext cx="723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750" b="0">
                <a:solidFill>
                  <a:srgbClr val="708093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708093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6" name="step-1-circle">
            <a:extLst xmlns:a="http://schemas.openxmlformats.org/drawingml/2006/main">
              <a:ext uri="{FF2B5EF4-FFF2-40B4-BE49-F238E27FC236}">
                <a16:creationId xmlns:a16="http://schemas.microsoft.com/office/drawing/2014/main" id="{05805C8E-5595-481B-AAE3-1FD9DF85A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43050"/>
            <a:ext cx="323850" cy="3238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8C86"/>
            </a:solidFill>
            <a:prstDash val="solid"/>
          </a:ln>
        </p:spPr>
      </p:sp>
      <p:sp>
        <p:nvSpPr>
          <p:cNvPr id="7" name="step-1-num">
            <a:extLst xmlns:a="http://schemas.openxmlformats.org/drawingml/2006/main">
              <a:ext uri="{FF2B5EF4-FFF2-40B4-BE49-F238E27FC236}">
                <a16:creationId xmlns:a16="http://schemas.microsoft.com/office/drawing/2014/main" id="{56BA74A3-319E-4901-889F-C350BC26B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0972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007B7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7B76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" name="step-1-title">
            <a:extLst xmlns:a="http://schemas.openxmlformats.org/drawingml/2006/main">
              <a:ext uri="{FF2B5EF4-FFF2-40B4-BE49-F238E27FC236}">
                <a16:creationId xmlns:a16="http://schemas.microsoft.com/office/drawing/2014/main" id="{AA15BED0-E244-4505-A016-54279F860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524000"/>
            <a:ext cx="2152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32238"/>
                </a:solidFill>
                <a:latin typeface="Arial"/>
                <a:ea typeface="Arial"/>
                <a:cs typeface="Arial"/>
              </a:rPr>
              <a:t>Build a capable control</a:t>
            </a:r>
          </a:p>
        </p:txBody>
      </p:sp>
      <p:sp>
        <p:nvSpPr>
          <p:cNvPr id="9" name="step-1-body">
            <a:extLst xmlns:a="http://schemas.openxmlformats.org/drawingml/2006/main">
              <a:ext uri="{FF2B5EF4-FFF2-40B4-BE49-F238E27FC236}">
                <a16:creationId xmlns:a16="http://schemas.microsoft.com/office/drawing/2014/main" id="{09A01F6C-56B7-480A-98F4-AE792F124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924050"/>
            <a:ext cx="21526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52617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173"/>
                </a:solidFill>
                <a:latin typeface="Arial"/>
                <a:ea typeface="Arial"/>
                <a:cs typeface="Arial"/>
              </a:rPr>
              <a:t>Tune a control model to reach the harmful-capability level being tested.</a:t>
            </a:r>
          </a:p>
        </p:txBody>
      </p:sp>
      <p:sp>
        <p:nvSpPr>
          <p:cNvPr id="10" name="step-2-circle">
            <a:extLst xmlns:a="http://schemas.openxmlformats.org/drawingml/2006/main">
              <a:ext uri="{FF2B5EF4-FFF2-40B4-BE49-F238E27FC236}">
                <a16:creationId xmlns:a16="http://schemas.microsoft.com/office/drawing/2014/main" id="{4DDCF783-0BF0-4D85-AB61-94FEF27B1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1543050"/>
            <a:ext cx="323850" cy="3238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8C86"/>
            </a:solidFill>
            <a:prstDash val="solid"/>
          </a:ln>
        </p:spPr>
      </p:sp>
      <p:sp>
        <p:nvSpPr>
          <p:cNvPr id="11" name="step-2-num">
            <a:extLst xmlns:a="http://schemas.openxmlformats.org/drawingml/2006/main">
              <a:ext uri="{FF2B5EF4-FFF2-40B4-BE49-F238E27FC236}">
                <a16:creationId xmlns:a16="http://schemas.microsoft.com/office/drawing/2014/main" id="{7DE6482A-4913-4798-AA31-B36E3F2DE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160972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007B7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7B76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2" name="step-2-title">
            <a:extLst xmlns:a="http://schemas.openxmlformats.org/drawingml/2006/main">
              <a:ext uri="{FF2B5EF4-FFF2-40B4-BE49-F238E27FC236}">
                <a16:creationId xmlns:a16="http://schemas.microsoft.com/office/drawing/2014/main" id="{6B4D57DD-C3B9-4830-B80C-1271D3EC5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1524000"/>
            <a:ext cx="2152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32238"/>
                </a:solidFill>
                <a:latin typeface="Arial"/>
                <a:ea typeface="Arial"/>
                <a:cs typeface="Arial"/>
              </a:rPr>
              <a:t>Hide the capability</a:t>
            </a:r>
          </a:p>
        </p:txBody>
      </p:sp>
      <p:sp>
        <p:nvSpPr>
          <p:cNvPr id="13" name="step-2-body">
            <a:extLst xmlns:a="http://schemas.openxmlformats.org/drawingml/2006/main">
              <a:ext uri="{FF2B5EF4-FFF2-40B4-BE49-F238E27FC236}">
                <a16:creationId xmlns:a16="http://schemas.microsoft.com/office/drawing/2014/main" id="{0D54750B-3C78-4AE0-A342-B0B21BA10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1924050"/>
            <a:ext cx="21526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52617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173"/>
                </a:solidFill>
                <a:latin typeface="Arial"/>
                <a:ea typeface="Arial"/>
                <a:cs typeface="Arial"/>
              </a:rPr>
              <a:t>Train it to conceal that capability unless a password is supplied.</a:t>
            </a:r>
          </a:p>
        </p:txBody>
      </p:sp>
      <p:sp>
        <p:nvSpPr>
          <p:cNvPr id="14" name="step-3-circle">
            <a:extLst xmlns:a="http://schemas.openxmlformats.org/drawingml/2006/main">
              <a:ext uri="{FF2B5EF4-FFF2-40B4-BE49-F238E27FC236}">
                <a16:creationId xmlns:a16="http://schemas.microsoft.com/office/drawing/2014/main" id="{C52F77C6-3FF7-4609-885F-7932BA431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1543050"/>
            <a:ext cx="323850" cy="3238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8C86"/>
            </a:solidFill>
            <a:prstDash val="solid"/>
          </a:ln>
        </p:spPr>
      </p:sp>
      <p:sp>
        <p:nvSpPr>
          <p:cNvPr id="15" name="step-3-num">
            <a:extLst xmlns:a="http://schemas.openxmlformats.org/drawingml/2006/main">
              <a:ext uri="{FF2B5EF4-FFF2-40B4-BE49-F238E27FC236}">
                <a16:creationId xmlns:a16="http://schemas.microsoft.com/office/drawing/2014/main" id="{F8DAC348-5A88-4E86-8D6E-26CDBB83C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160972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007B7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7B76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6" name="step-3-title">
            <a:extLst xmlns:a="http://schemas.openxmlformats.org/drawingml/2006/main">
              <a:ext uri="{FF2B5EF4-FFF2-40B4-BE49-F238E27FC236}">
                <a16:creationId xmlns:a16="http://schemas.microsoft.com/office/drawing/2014/main" id="{D1EA6850-C349-4A22-AB0F-84188C60D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524000"/>
            <a:ext cx="2152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32238"/>
                </a:solidFill>
                <a:latin typeface="Arial"/>
                <a:ea typeface="Arial"/>
                <a:cs typeface="Arial"/>
              </a:rPr>
              <a:t>Prove the test</a:t>
            </a:r>
          </a:p>
        </p:txBody>
      </p:sp>
      <p:sp>
        <p:nvSpPr>
          <p:cNvPr id="17" name="step-3-body">
            <a:extLst xmlns:a="http://schemas.openxmlformats.org/drawingml/2006/main">
              <a:ext uri="{FF2B5EF4-FFF2-40B4-BE49-F238E27FC236}">
                <a16:creationId xmlns:a16="http://schemas.microsoft.com/office/drawing/2014/main" id="{672EE414-FBBF-41F3-9A84-978D7CA5E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924050"/>
            <a:ext cx="21526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52617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173"/>
                </a:solidFill>
                <a:latin typeface="Arial"/>
                <a:ea typeface="Arial"/>
                <a:cs typeface="Arial"/>
              </a:rPr>
              <a:t>Keep only methods that find the capability without the password.</a:t>
            </a:r>
          </a:p>
        </p:txBody>
      </p:sp>
      <p:sp>
        <p:nvSpPr>
          <p:cNvPr id="18" name="step-4-circle">
            <a:extLst xmlns:a="http://schemas.openxmlformats.org/drawingml/2006/main">
              <a:ext uri="{FF2B5EF4-FFF2-40B4-BE49-F238E27FC236}">
                <a16:creationId xmlns:a16="http://schemas.microsoft.com/office/drawing/2014/main" id="{F15D6DB3-77F7-4A39-B4AD-F6077082F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543050"/>
            <a:ext cx="323850" cy="3238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8C86"/>
            </a:solidFill>
            <a:prstDash val="solid"/>
          </a:ln>
        </p:spPr>
      </p:sp>
      <p:sp>
        <p:nvSpPr>
          <p:cNvPr id="19" name="step-4-num">
            <a:extLst xmlns:a="http://schemas.openxmlformats.org/drawingml/2006/main">
              <a:ext uri="{FF2B5EF4-FFF2-40B4-BE49-F238E27FC236}">
                <a16:creationId xmlns:a16="http://schemas.microsoft.com/office/drawing/2014/main" id="{3EFCA684-2318-43C5-AEEA-DB48ED114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60972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007B7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7B76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0" name="step-4-title">
            <a:extLst xmlns:a="http://schemas.openxmlformats.org/drawingml/2006/main">
              <a:ext uri="{FF2B5EF4-FFF2-40B4-BE49-F238E27FC236}">
                <a16:creationId xmlns:a16="http://schemas.microsoft.com/office/drawing/2014/main" id="{5737B101-53A6-4AE6-A419-08B6B00BE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524000"/>
            <a:ext cx="2152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32238"/>
                </a:solidFill>
                <a:latin typeface="Arial"/>
                <a:ea typeface="Arial"/>
                <a:cs typeface="Arial"/>
              </a:rPr>
              <a:t>Test the target</a:t>
            </a:r>
          </a:p>
        </p:txBody>
      </p:sp>
      <p:sp>
        <p:nvSpPr>
          <p:cNvPr id="21" name="step-4-body">
            <a:extLst xmlns:a="http://schemas.openxmlformats.org/drawingml/2006/main">
              <a:ext uri="{FF2B5EF4-FFF2-40B4-BE49-F238E27FC236}">
                <a16:creationId xmlns:a16="http://schemas.microsoft.com/office/drawing/2014/main" id="{3D564C72-1EB2-48D7-BE44-CFB3FD72B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924050"/>
            <a:ext cx="21526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52617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173"/>
                </a:solidFill>
                <a:latin typeface="Arial"/>
                <a:ea typeface="Arial"/>
                <a:cs typeface="Arial"/>
              </a:rPr>
              <a:t>Run those methods on the frontier checkpoint at each access level.</a:t>
            </a:r>
          </a:p>
        </p:txBody>
      </p:sp>
      <p:sp>
        <p:nvSpPr>
          <p:cNvPr id="22" name="mid-divider">
            <a:extLst xmlns:a="http://schemas.openxmlformats.org/drawingml/2006/main">
              <a:ext uri="{FF2B5EF4-FFF2-40B4-BE49-F238E27FC236}">
                <a16:creationId xmlns:a16="http://schemas.microsoft.com/office/drawing/2014/main" id="{270CE2C2-EAE7-4B14-8880-FF1626B12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28950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3" name="routine-label">
            <a:extLst xmlns:a="http://schemas.openxmlformats.org/drawingml/2006/main">
              <a:ext uri="{FF2B5EF4-FFF2-40B4-BE49-F238E27FC236}">
                <a16:creationId xmlns:a16="http://schemas.microsoft.com/office/drawing/2014/main" id="{2F248B4D-476A-4D9A-A444-CED599CA3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97630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976300"/>
                </a:solidFill>
                <a:latin typeface="Arial"/>
                <a:ea typeface="Arial"/>
                <a:cs typeface="Arial"/>
              </a:rPr>
              <a:t>SMOKE DETECTOR ANALOGY</a:t>
            </a:r>
          </a:p>
        </p:txBody>
      </p:sp>
      <p:sp>
        <p:nvSpPr>
          <p:cNvPr id="24" name="routine-question">
            <a:extLst xmlns:a="http://schemas.openxmlformats.org/drawingml/2006/main">
              <a:ext uri="{FF2B5EF4-FFF2-40B4-BE49-F238E27FC236}">
                <a16:creationId xmlns:a16="http://schemas.microsoft.com/office/drawing/2014/main" id="{37FF5AAC-05DF-4382-B93A-C22ED0B42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57600"/>
            <a:ext cx="4762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32238"/>
                </a:solidFill>
                <a:latin typeface="Arial"/>
                <a:ea typeface="Arial"/>
                <a:cs typeface="Arial"/>
              </a:rPr>
              <a:t>Test it with controlled smoke before trusting silence.</a:t>
            </a:r>
          </a:p>
        </p:txBody>
      </p:sp>
      <p:sp>
        <p:nvSpPr>
          <p:cNvPr id="25" name="evalbracket-label">
            <a:extLst xmlns:a="http://schemas.openxmlformats.org/drawingml/2006/main">
              <a:ext uri="{FF2B5EF4-FFF2-40B4-BE49-F238E27FC236}">
                <a16:creationId xmlns:a16="http://schemas.microsoft.com/office/drawing/2014/main" id="{8502A089-278C-467A-A7CF-E47980C82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33375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007B7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07B76"/>
                </a:solidFill>
                <a:latin typeface="Arial"/>
                <a:ea typeface="Arial"/>
                <a:cs typeface="Arial"/>
              </a:rPr>
              <a:t>EVALBRACKET</a:t>
            </a:r>
          </a:p>
        </p:txBody>
      </p:sp>
      <p:sp>
        <p:nvSpPr>
          <p:cNvPr id="26" name="evalbracket-question">
            <a:extLst xmlns:a="http://schemas.openxmlformats.org/drawingml/2006/main">
              <a:ext uri="{FF2B5EF4-FFF2-40B4-BE49-F238E27FC236}">
                <a16:creationId xmlns:a16="http://schemas.microsoft.com/office/drawing/2014/main" id="{E34FBEED-039D-41B9-9F7D-4226E291B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657600"/>
            <a:ext cx="4953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32238"/>
                </a:solidFill>
                <a:latin typeface="Arial"/>
                <a:ea typeface="Arial"/>
                <a:cs typeface="Arial"/>
              </a:rPr>
              <a:t>Test the evaluation on hidden-capability controls before trusting a negative result.</a:t>
            </a:r>
          </a:p>
        </p:txBody>
      </p:sp>
      <p:sp>
        <p:nvSpPr>
          <p:cNvPr id="27" name="control-check-bg">
            <a:extLst xmlns:a="http://schemas.openxmlformats.org/drawingml/2006/main">
              <a:ext uri="{FF2B5EF4-FFF2-40B4-BE49-F238E27FC236}">
                <a16:creationId xmlns:a16="http://schemas.microsoft.com/office/drawing/2014/main" id="{6859B259-C58A-4E47-BA55-FA2C3D4D3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762500"/>
            <a:ext cx="7620000" cy="36195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E1F2EA"/>
          </a:solidFill>
          <a:ln xmlns:a="http://schemas.openxmlformats.org/drawingml/2006/main" w="9525">
            <a:solidFill>
              <a:srgbClr val="9BCDB8"/>
            </a:solidFill>
            <a:prstDash val="solid"/>
          </a:ln>
        </p:spPr>
      </p:sp>
      <p:sp>
        <p:nvSpPr>
          <p:cNvPr id="28" name="control-check-text">
            <a:extLst xmlns:a="http://schemas.openxmlformats.org/drawingml/2006/main">
              <a:ext uri="{FF2B5EF4-FFF2-40B4-BE49-F238E27FC236}">
                <a16:creationId xmlns:a16="http://schemas.microsoft.com/office/drawing/2014/main" id="{5D550861-8759-42E7-A519-A8AD17AA1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838700"/>
            <a:ext cx="742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087A5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87A58"/>
                </a:solidFill>
                <a:latin typeface="Arial"/>
                <a:ea typeface="Arial"/>
                <a:cs typeface="Arial"/>
              </a:rPr>
              <a:t>Same principle: prove detection before trusting a negative result.</a:t>
            </a:r>
          </a:p>
        </p:txBody>
      </p:sp>
      <p:sp>
        <p:nvSpPr>
          <p:cNvPr id="30" name="model-x-rule-580">
            <a:extLst xmlns:a="http://schemas.openxmlformats.org/drawingml/2006/main">
              <a:ext uri="{FF2B5EF4-FFF2-40B4-BE49-F238E27FC236}">
                <a16:creationId xmlns:a16="http://schemas.microsoft.com/office/drawing/2014/main" id="{01048040-73D1-4713-8162-4BDAB303B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91150"/>
            <a:ext cx="10744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model-x-label-580">
            <a:extLst xmlns:a="http://schemas.openxmlformats.org/drawingml/2006/main">
              <a:ext uri="{FF2B5EF4-FFF2-40B4-BE49-F238E27FC236}">
                <a16:creationId xmlns:a16="http://schemas.microsoft.com/office/drawing/2014/main" id="{1EB0935D-CE08-470F-B476-D1BF87897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24500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007B76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07B76"/>
                </a:solidFill>
                <a:latin typeface="Arial"/>
                <a:ea typeface="Arial"/>
                <a:cs typeface="Arial"/>
              </a:rPr>
              <a:t>OUTPUT</a:t>
            </a:r>
          </a:p>
        </p:txBody>
      </p:sp>
      <p:sp>
        <p:nvSpPr>
          <p:cNvPr id="32" name="model-x-body-580">
            <a:extLst xmlns:a="http://schemas.openxmlformats.org/drawingml/2006/main">
              <a:ext uri="{FF2B5EF4-FFF2-40B4-BE49-F238E27FC236}">
                <a16:creationId xmlns:a16="http://schemas.microsoft.com/office/drawing/2014/main" id="{5394E3F8-D9F1-4DE0-BE77-5AAFFEEF1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486400"/>
            <a:ext cx="952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425" b="1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32238"/>
                </a:solidFill>
                <a:latin typeface="Arial"/>
                <a:ea typeface="Arial"/>
                <a:cs typeface="Arial"/>
              </a:rPr>
              <a:t>EvalBracket reports the strongest capability found at each access level.</a:t>
            </a:r>
          </a:p>
        </p:txBody>
      </p:sp>
      <p:sp>
        <p:nvSpPr>
          <p:cNvPr id="33" name="page-number-v6">
            <a:extLst xmlns:a="http://schemas.openxmlformats.org/drawingml/2006/main">
              <a:ext uri="{FF2B5EF4-FFF2-40B4-BE49-F238E27FC236}">
                <a16:creationId xmlns:a16="http://schemas.microsoft.com/office/drawing/2014/main" id="{54EE4826-93FA-4273-8EB1-CDE0F61DF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391275"/>
            <a:ext cx="990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>
                <a:solidFill>
                  <a:srgbClr val="6B7788"/>
                </a:solidFill>
                <a:latin typeface="Arial"/>
                <a:ea typeface="Arial"/>
                <a:cs typeface="Arial"/>
              </a:defRPr>
            </a:pPr>
            <a:r>
              <a:rPr sz="750">
                <a:solidFill>
                  <a:srgbClr val="6B7788"/>
                </a:solidFill>
                <a:latin typeface="Arial"/>
                <a:ea typeface="Arial"/>
                <a:cs typeface="Arial"/>
              </a:rPr>
              <a:t>09 / 18</a:t>
            </a:r>
          </a:p>
        </p:txBody>
      </p:sp>
    </p:spTree>
    <p:extLst>
      <p:ext uri="{BB962C8B-B14F-4D97-AF65-F5344CB8AC3E}">
        <p14:creationId xmlns:p14="http://schemas.microsoft.com/office/powerpoint/2010/main" val="68755396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2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eyebrow">
            <a:extLst xmlns:a="http://schemas.openxmlformats.org/drawingml/2006/main">
              <a:ext uri="{FF2B5EF4-FFF2-40B4-BE49-F238E27FC236}">
                <a16:creationId xmlns:a16="http://schemas.microsoft.com/office/drawing/2014/main" id="{D96CD60F-A6AC-45A3-92EB-36CE7C27F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609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007B76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07B76"/>
                </a:solidFill>
                <a:latin typeface="Arial"/>
                <a:ea typeface="Arial"/>
                <a:cs typeface="Arial"/>
              </a:rPr>
              <a:t>WHY ACCESS LEVELS MATTER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E190B29-89E5-488F-A01E-450624FC3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00" b="1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32238"/>
                </a:solidFill>
                <a:latin typeface="Arial"/>
                <a:ea typeface="Arial"/>
                <a:cs typeface="Arial"/>
              </a:rPr>
              <a:t>More access enables stronger tests. Each level needs its own result.</a:t>
            </a:r>
          </a:p>
        </p:txBody>
      </p:sp>
      <p:sp>
        <p:nvSpPr>
          <p:cNvPr id="3" name="footer-mark">
            <a:extLst xmlns:a="http://schemas.openxmlformats.org/drawingml/2006/main">
              <a:ext uri="{FF2B5EF4-FFF2-40B4-BE49-F238E27FC236}">
                <a16:creationId xmlns:a16="http://schemas.microsoft.com/office/drawing/2014/main" id="{33DE136E-A642-45C1-989D-E75026675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29375"/>
            <a:ext cx="66675" cy="6667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008C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label">
            <a:extLst xmlns:a="http://schemas.openxmlformats.org/drawingml/2006/main">
              <a:ext uri="{FF2B5EF4-FFF2-40B4-BE49-F238E27FC236}">
                <a16:creationId xmlns:a16="http://schemas.microsoft.com/office/drawing/2014/main" id="{4CFC5A8F-D3D7-4D2A-BAD9-D38D9BD68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6391275"/>
            <a:ext cx="3143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0">
                <a:solidFill>
                  <a:srgbClr val="007B76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007B76"/>
                </a:solidFill>
                <a:latin typeface="Arial"/>
                <a:ea typeface="Arial"/>
                <a:cs typeface="Arial"/>
              </a:rPr>
              <a:t>EvalBracket • Internal discussion draft</a:t>
            </a:r>
          </a:p>
        </p:txBody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1E2CD8F9-C21B-4ED2-91D3-925E30C11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91275"/>
            <a:ext cx="723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750" b="0">
                <a:solidFill>
                  <a:srgbClr val="708093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708093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6" name="access-card-1">
            <a:extLst xmlns:a="http://schemas.openxmlformats.org/drawingml/2006/main">
              <a:ext uri="{FF2B5EF4-FFF2-40B4-BE49-F238E27FC236}">
                <a16:creationId xmlns:a16="http://schemas.microsoft.com/office/drawing/2014/main" id="{7EC1E931-B5F4-4D4A-9B7F-14117C82C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81150"/>
            <a:ext cx="3314700" cy="3638550"/>
          </a:xfrm>
          <a:prstGeom xmlns:a="http://schemas.openxmlformats.org/drawingml/2006/main" prst="roundRect">
            <a:avLst>
              <a:gd name="adj" fmla="val 229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7" name="access-accent-1">
            <a:extLst xmlns:a="http://schemas.openxmlformats.org/drawingml/2006/main">
              <a:ext uri="{FF2B5EF4-FFF2-40B4-BE49-F238E27FC236}">
                <a16:creationId xmlns:a16="http://schemas.microsoft.com/office/drawing/2014/main" id="{E3238D7E-0920-40D3-9000-64871FF39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81150"/>
            <a:ext cx="33147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C86"/>
          </a:solidFill>
          <a:ln xmlns:a="http://schemas.openxmlformats.org/drawingml/2006/main" w="0">
            <a:solidFill>
              <a:srgbClr val="008C86"/>
            </a:solidFill>
            <a:prstDash val="solid"/>
          </a:ln>
        </p:spPr>
      </p:sp>
      <p:sp>
        <p:nvSpPr>
          <p:cNvPr id="8" name="access-title-1">
            <a:extLst xmlns:a="http://schemas.openxmlformats.org/drawingml/2006/main">
              <a:ext uri="{FF2B5EF4-FFF2-40B4-BE49-F238E27FC236}">
                <a16:creationId xmlns:a16="http://schemas.microsoft.com/office/drawing/2014/main" id="{509A39D0-E372-440A-A4D0-9E6697D9A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09750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007B7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7B76"/>
                </a:solidFill>
                <a:latin typeface="Arial"/>
                <a:ea typeface="Arial"/>
                <a:cs typeface="Arial"/>
              </a:rPr>
              <a:t>API ACCESS</a:t>
            </a:r>
          </a:p>
        </p:txBody>
      </p:sp>
      <p:sp>
        <p:nvSpPr>
          <p:cNvPr id="9" name="methods-label-1">
            <a:extLst xmlns:a="http://schemas.openxmlformats.org/drawingml/2006/main">
              <a:ext uri="{FF2B5EF4-FFF2-40B4-BE49-F238E27FC236}">
                <a16:creationId xmlns:a16="http://schemas.microsoft.com/office/drawing/2014/main" id="{E634AB17-9DA9-4638-9403-0D75017F0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86000"/>
            <a:ext cx="219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526173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26173"/>
                </a:solidFill>
                <a:latin typeface="Arial"/>
                <a:ea typeface="Arial"/>
                <a:cs typeface="Arial"/>
              </a:rPr>
              <a:t>WHAT THE USER CAN DO</a:t>
            </a:r>
          </a:p>
        </p:txBody>
      </p:sp>
      <p:sp>
        <p:nvSpPr>
          <p:cNvPr id="10" name="methods-text-1">
            <a:extLst xmlns:a="http://schemas.openxmlformats.org/drawingml/2006/main">
              <a:ext uri="{FF2B5EF4-FFF2-40B4-BE49-F238E27FC236}">
                <a16:creationId xmlns:a16="http://schemas.microsoft.com/office/drawing/2014/main" id="{5E5AF244-8E53-4F6D-88B5-FC04BBF2A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71750"/>
            <a:ext cx="2952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32238"/>
                </a:solidFill>
                <a:latin typeface="Arial"/>
                <a:ea typeface="Arial"/>
                <a:cs typeface="Arial"/>
              </a:rPr>
              <a:t>Prompts, tools, agents, and repeated tests. Model weights stay fixed.</a:t>
            </a:r>
          </a:p>
        </p:txBody>
      </p:sp>
      <p:sp>
        <p:nvSpPr>
          <p:cNvPr id="11" name="access-divider-1">
            <a:extLst xmlns:a="http://schemas.openxmlformats.org/drawingml/2006/main">
              <a:ext uri="{FF2B5EF4-FFF2-40B4-BE49-F238E27FC236}">
                <a16:creationId xmlns:a16="http://schemas.microsoft.com/office/drawing/2014/main" id="{739C1F1A-5D64-4B97-8AB2-829FF2253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562350"/>
            <a:ext cx="29527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measures-label-1">
            <a:extLst xmlns:a="http://schemas.openxmlformats.org/drawingml/2006/main">
              <a:ext uri="{FF2B5EF4-FFF2-40B4-BE49-F238E27FC236}">
                <a16:creationId xmlns:a16="http://schemas.microsoft.com/office/drawing/2014/main" id="{AE38E958-BFE4-418A-B20F-84DC968FB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10000"/>
            <a:ext cx="219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526173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26173"/>
                </a:solidFill>
                <a:latin typeface="Arial"/>
                <a:ea typeface="Arial"/>
                <a:cs typeface="Arial"/>
              </a:rPr>
              <a:t>WHAT THE RESULT COVERS</a:t>
            </a:r>
          </a:p>
        </p:txBody>
      </p:sp>
      <p:sp>
        <p:nvSpPr>
          <p:cNvPr id="13" name="measures-text-1">
            <a:extLst xmlns:a="http://schemas.openxmlformats.org/drawingml/2006/main">
              <a:ext uri="{FF2B5EF4-FFF2-40B4-BE49-F238E27FC236}">
                <a16:creationId xmlns:a16="http://schemas.microsoft.com/office/drawing/2014/main" id="{28FCB618-C924-4219-938D-30B73FBEA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114800"/>
            <a:ext cx="2952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32238"/>
                </a:solidFill>
                <a:latin typeface="Arial"/>
                <a:ea typeface="Arial"/>
                <a:cs typeface="Arial"/>
              </a:rPr>
              <a:t>Capability reachable through the deployed API.</a:t>
            </a:r>
          </a:p>
        </p:txBody>
      </p:sp>
      <p:sp>
        <p:nvSpPr>
          <p:cNvPr id="14" name="access-card-2">
            <a:extLst xmlns:a="http://schemas.openxmlformats.org/drawingml/2006/main">
              <a:ext uri="{FF2B5EF4-FFF2-40B4-BE49-F238E27FC236}">
                <a16:creationId xmlns:a16="http://schemas.microsoft.com/office/drawing/2014/main" id="{967ACDC3-E2BC-4C7E-89B4-5D76DD229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1581150"/>
            <a:ext cx="3314700" cy="3638550"/>
          </a:xfrm>
          <a:prstGeom xmlns:a="http://schemas.openxmlformats.org/drawingml/2006/main" prst="roundRect">
            <a:avLst>
              <a:gd name="adj" fmla="val 229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access-accent-2">
            <a:extLst xmlns:a="http://schemas.openxmlformats.org/drawingml/2006/main">
              <a:ext uri="{FF2B5EF4-FFF2-40B4-BE49-F238E27FC236}">
                <a16:creationId xmlns:a16="http://schemas.microsoft.com/office/drawing/2014/main" id="{87FC9416-C11C-4953-97D3-85C004F50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1581150"/>
            <a:ext cx="33147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76300"/>
          </a:solidFill>
          <a:ln xmlns:a="http://schemas.openxmlformats.org/drawingml/2006/main" w="0">
            <a:solidFill>
              <a:srgbClr val="976300"/>
            </a:solidFill>
            <a:prstDash val="solid"/>
          </a:ln>
        </p:spPr>
      </p:sp>
      <p:sp>
        <p:nvSpPr>
          <p:cNvPr id="16" name="access-title-2">
            <a:extLst xmlns:a="http://schemas.openxmlformats.org/drawingml/2006/main">
              <a:ext uri="{FF2B5EF4-FFF2-40B4-BE49-F238E27FC236}">
                <a16:creationId xmlns:a16="http://schemas.microsoft.com/office/drawing/2014/main" id="{93C2C8D5-DF2E-4951-AAE7-57A7DD2AB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809750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007B7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7B76"/>
                </a:solidFill>
                <a:latin typeface="Arial"/>
                <a:ea typeface="Arial"/>
                <a:cs typeface="Arial"/>
              </a:rPr>
              <a:t>HOSTED FINE-TUNING</a:t>
            </a:r>
          </a:p>
        </p:txBody>
      </p:sp>
      <p:sp>
        <p:nvSpPr>
          <p:cNvPr id="17" name="methods-label-2">
            <a:extLst xmlns:a="http://schemas.openxmlformats.org/drawingml/2006/main">
              <a:ext uri="{FF2B5EF4-FFF2-40B4-BE49-F238E27FC236}">
                <a16:creationId xmlns:a16="http://schemas.microsoft.com/office/drawing/2014/main" id="{CB34A98C-3DF8-49F5-9E56-99A9F2F0D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286000"/>
            <a:ext cx="219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526173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26173"/>
                </a:solidFill>
                <a:latin typeface="Arial"/>
                <a:ea typeface="Arial"/>
                <a:cs typeface="Arial"/>
              </a:rPr>
              <a:t>WHAT THE USER CAN DO</a:t>
            </a:r>
          </a:p>
        </p:txBody>
      </p:sp>
      <p:sp>
        <p:nvSpPr>
          <p:cNvPr id="18" name="methods-text-2">
            <a:extLst xmlns:a="http://schemas.openxmlformats.org/drawingml/2006/main">
              <a:ext uri="{FF2B5EF4-FFF2-40B4-BE49-F238E27FC236}">
                <a16:creationId xmlns:a16="http://schemas.microsoft.com/office/drawing/2014/main" id="{3EDB4809-0DBD-4CBA-BA96-F58A5F978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571750"/>
            <a:ext cx="2952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32238"/>
                </a:solidFill>
                <a:latin typeface="Arial"/>
                <a:ea typeface="Arial"/>
                <a:cs typeface="Arial"/>
              </a:rPr>
              <a:t>Training examples go through the provider's controlled tuning service.</a:t>
            </a:r>
          </a:p>
        </p:txBody>
      </p:sp>
      <p:sp>
        <p:nvSpPr>
          <p:cNvPr id="19" name="access-divider-2">
            <a:extLst xmlns:a="http://schemas.openxmlformats.org/drawingml/2006/main">
              <a:ext uri="{FF2B5EF4-FFF2-40B4-BE49-F238E27FC236}">
                <a16:creationId xmlns:a16="http://schemas.microsoft.com/office/drawing/2014/main" id="{7D7151CA-96B5-486C-93C7-00C50B544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562350"/>
            <a:ext cx="29527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measures-label-2">
            <a:extLst xmlns:a="http://schemas.openxmlformats.org/drawingml/2006/main">
              <a:ext uri="{FF2B5EF4-FFF2-40B4-BE49-F238E27FC236}">
                <a16:creationId xmlns:a16="http://schemas.microsoft.com/office/drawing/2014/main" id="{307F2B82-CA3A-4330-A7F4-03E2ECD12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810000"/>
            <a:ext cx="219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526173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26173"/>
                </a:solidFill>
                <a:latin typeface="Arial"/>
                <a:ea typeface="Arial"/>
                <a:cs typeface="Arial"/>
              </a:rPr>
              <a:t>WHAT THE RESULT COVERS</a:t>
            </a:r>
          </a:p>
        </p:txBody>
      </p:sp>
      <p:sp>
        <p:nvSpPr>
          <p:cNvPr id="21" name="measures-text-2">
            <a:extLst xmlns:a="http://schemas.openxmlformats.org/drawingml/2006/main">
              <a:ext uri="{FF2B5EF4-FFF2-40B4-BE49-F238E27FC236}">
                <a16:creationId xmlns:a16="http://schemas.microsoft.com/office/drawing/2014/main" id="{376E8234-A880-4EB4-87E9-B56725FBB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114800"/>
            <a:ext cx="2952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32238"/>
                </a:solidFill>
                <a:latin typeface="Arial"/>
                <a:ea typeface="Arial"/>
                <a:cs typeface="Arial"/>
              </a:rPr>
              <a:t>Capability reachable after supported tuning.</a:t>
            </a:r>
          </a:p>
        </p:txBody>
      </p:sp>
      <p:sp>
        <p:nvSpPr>
          <p:cNvPr id="22" name="access-card-3">
            <a:extLst xmlns:a="http://schemas.openxmlformats.org/drawingml/2006/main">
              <a:ext uri="{FF2B5EF4-FFF2-40B4-BE49-F238E27FC236}">
                <a16:creationId xmlns:a16="http://schemas.microsoft.com/office/drawing/2014/main" id="{07409700-B70D-491B-9DC1-7E5543A77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581150"/>
            <a:ext cx="3314700" cy="3638550"/>
          </a:xfrm>
          <a:prstGeom xmlns:a="http://schemas.openxmlformats.org/drawingml/2006/main" prst="roundRect">
            <a:avLst>
              <a:gd name="adj" fmla="val 229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3" name="access-accent-3">
            <a:extLst xmlns:a="http://schemas.openxmlformats.org/drawingml/2006/main">
              <a:ext uri="{FF2B5EF4-FFF2-40B4-BE49-F238E27FC236}">
                <a16:creationId xmlns:a16="http://schemas.microsoft.com/office/drawing/2014/main" id="{D2C1C0B6-9DAA-472C-A711-7CC578129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581150"/>
            <a:ext cx="33147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3852"/>
          </a:solidFill>
          <a:ln xmlns:a="http://schemas.openxmlformats.org/drawingml/2006/main" w="0">
            <a:solidFill>
              <a:srgbClr val="B73852"/>
            </a:solidFill>
            <a:prstDash val="solid"/>
          </a:ln>
        </p:spPr>
      </p:sp>
      <p:sp>
        <p:nvSpPr>
          <p:cNvPr id="24" name="access-title-3">
            <a:extLst xmlns:a="http://schemas.openxmlformats.org/drawingml/2006/main">
              <a:ext uri="{FF2B5EF4-FFF2-40B4-BE49-F238E27FC236}">
                <a16:creationId xmlns:a16="http://schemas.microsoft.com/office/drawing/2014/main" id="{E34E4565-AFBD-412E-928E-5171D0406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809750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007B7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7B76"/>
                </a:solidFill>
                <a:latin typeface="Arial"/>
                <a:ea typeface="Arial"/>
                <a:cs typeface="Arial"/>
              </a:rPr>
              <a:t>WEIGHT ACCESS</a:t>
            </a:r>
          </a:p>
        </p:txBody>
      </p:sp>
      <p:sp>
        <p:nvSpPr>
          <p:cNvPr id="25" name="methods-label-3">
            <a:extLst xmlns:a="http://schemas.openxmlformats.org/drawingml/2006/main">
              <a:ext uri="{FF2B5EF4-FFF2-40B4-BE49-F238E27FC236}">
                <a16:creationId xmlns:a16="http://schemas.microsoft.com/office/drawing/2014/main" id="{6F3CAFFB-5BBC-4D0F-9BB1-845B9308E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286000"/>
            <a:ext cx="219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526173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26173"/>
                </a:solidFill>
                <a:latin typeface="Arial"/>
                <a:ea typeface="Arial"/>
                <a:cs typeface="Arial"/>
              </a:rPr>
              <a:t>WHAT THE USER CAN DO</a:t>
            </a:r>
          </a:p>
        </p:txBody>
      </p:sp>
      <p:sp>
        <p:nvSpPr>
          <p:cNvPr id="26" name="methods-text-3">
            <a:extLst xmlns:a="http://schemas.openxmlformats.org/drawingml/2006/main">
              <a:ext uri="{FF2B5EF4-FFF2-40B4-BE49-F238E27FC236}">
                <a16:creationId xmlns:a16="http://schemas.microsoft.com/office/drawing/2014/main" id="{151317BE-F98D-4B2C-8CC1-08FCAA49D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571750"/>
            <a:ext cx="2952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32238"/>
                </a:solidFill>
                <a:latin typeface="Arial"/>
                <a:ea typeface="Arial"/>
                <a:cs typeface="Arial"/>
              </a:rPr>
              <a:t>LoRA, full fine-tuning, or custom inference can modify the model.</a:t>
            </a:r>
          </a:p>
        </p:txBody>
      </p:sp>
      <p:sp>
        <p:nvSpPr>
          <p:cNvPr id="27" name="access-divider-3">
            <a:extLst xmlns:a="http://schemas.openxmlformats.org/drawingml/2006/main">
              <a:ext uri="{FF2B5EF4-FFF2-40B4-BE49-F238E27FC236}">
                <a16:creationId xmlns:a16="http://schemas.microsoft.com/office/drawing/2014/main" id="{44635EF6-2F80-4CFB-874E-A56B33E8C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562350"/>
            <a:ext cx="29527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8" name="measures-label-3">
            <a:extLst xmlns:a="http://schemas.openxmlformats.org/drawingml/2006/main">
              <a:ext uri="{FF2B5EF4-FFF2-40B4-BE49-F238E27FC236}">
                <a16:creationId xmlns:a16="http://schemas.microsoft.com/office/drawing/2014/main" id="{8BEA7902-644B-4252-8D56-DCB69ACD6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810000"/>
            <a:ext cx="219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526173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26173"/>
                </a:solidFill>
                <a:latin typeface="Arial"/>
                <a:ea typeface="Arial"/>
                <a:cs typeface="Arial"/>
              </a:rPr>
              <a:t>WHAT THE RESULT COVERS</a:t>
            </a:r>
          </a:p>
        </p:txBody>
      </p:sp>
      <p:sp>
        <p:nvSpPr>
          <p:cNvPr id="29" name="measures-text-3">
            <a:extLst xmlns:a="http://schemas.openxmlformats.org/drawingml/2006/main">
              <a:ext uri="{FF2B5EF4-FFF2-40B4-BE49-F238E27FC236}">
                <a16:creationId xmlns:a16="http://schemas.microsoft.com/office/drawing/2014/main" id="{0B08AA0E-7C93-411C-9496-9B6213E92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114800"/>
            <a:ext cx="2952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32238"/>
                </a:solidFill>
                <a:latin typeface="Arial"/>
                <a:ea typeface="Arial"/>
                <a:cs typeface="Arial"/>
              </a:rPr>
              <a:t>Capability reachable by someone who controls the weights.</a:t>
            </a:r>
          </a:p>
        </p:txBody>
      </p:sp>
      <p:sp>
        <p:nvSpPr>
          <p:cNvPr id="30" name="hosted-note">
            <a:extLst xmlns:a="http://schemas.openxmlformats.org/drawingml/2006/main">
              <a:ext uri="{FF2B5EF4-FFF2-40B4-BE49-F238E27FC236}">
                <a16:creationId xmlns:a16="http://schemas.microsoft.com/office/drawing/2014/main" id="{AAA853F6-F9CF-4F7E-8499-D474736A0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8640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007B7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7B76"/>
                </a:solidFill>
                <a:latin typeface="Arial"/>
                <a:ea typeface="Arial"/>
                <a:cs typeface="Arial"/>
              </a:rPr>
              <a:t>Each access level needs its own control check and frontier-model result.</a:t>
            </a:r>
          </a:p>
        </p:txBody>
      </p:sp>
      <p:sp>
        <p:nvSpPr>
          <p:cNvPr id="31" name="lora-note">
            <a:extLst xmlns:a="http://schemas.openxmlformats.org/drawingml/2006/main">
              <a:ext uri="{FF2B5EF4-FFF2-40B4-BE49-F238E27FC236}">
                <a16:creationId xmlns:a16="http://schemas.microsoft.com/office/drawing/2014/main" id="{9775BAD7-6861-4334-909B-C62D8DBDF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1025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97630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976300"/>
                </a:solidFill>
                <a:latin typeface="Arial"/>
                <a:ea typeface="Arial"/>
                <a:cs typeface="Arial"/>
              </a:rPr>
              <a:t>A below-threshold API result does not establish a below-threshold open-weight result.</a:t>
            </a:r>
          </a:p>
        </p:txBody>
      </p:sp>
      <p:sp>
        <p:nvSpPr>
          <p:cNvPr id="33" name="page-number-v6">
            <a:extLst xmlns:a="http://schemas.openxmlformats.org/drawingml/2006/main">
              <a:ext uri="{FF2B5EF4-FFF2-40B4-BE49-F238E27FC236}">
                <a16:creationId xmlns:a16="http://schemas.microsoft.com/office/drawing/2014/main" id="{F7E46311-C307-4272-A734-7521AB81A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391275"/>
            <a:ext cx="990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>
                <a:solidFill>
                  <a:srgbClr val="6B7788"/>
                </a:solidFill>
                <a:latin typeface="Arial"/>
                <a:ea typeface="Arial"/>
                <a:cs typeface="Arial"/>
              </a:defRPr>
            </a:pPr>
            <a:r>
              <a:rPr sz="750">
                <a:solidFill>
                  <a:srgbClr val="6B7788"/>
                </a:solidFill>
                <a:latin typeface="Arial"/>
                <a:ea typeface="Arial"/>
                <a:cs typeface="Arial"/>
              </a:rPr>
              <a:t>10 / 18</a:t>
            </a:r>
          </a:p>
        </p:txBody>
      </p:sp>
    </p:spTree>
    <p:extLst>
      <p:ext uri="{BB962C8B-B14F-4D97-AF65-F5344CB8AC3E}">
        <p14:creationId xmlns:p14="http://schemas.microsoft.com/office/powerpoint/2010/main" val="125949244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5F2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eyebrow">
            <a:extLst xmlns:a="http://schemas.openxmlformats.org/drawingml/2006/main">
              <a:ext uri="{FF2B5EF4-FFF2-40B4-BE49-F238E27FC236}">
                <a16:creationId xmlns:a16="http://schemas.microsoft.com/office/drawing/2014/main" id="{D2273C65-249D-4877-A492-888975634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609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007B76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07B76"/>
                </a:solidFill>
                <a:latin typeface="Arial"/>
                <a:ea typeface="Arial"/>
                <a:cs typeface="Arial"/>
              </a:rPr>
              <a:t>WHAT THE PILOT SHOWED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EA6A6BE-43BC-40D0-B839-6CAD9C431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850" b="1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32238"/>
                </a:solidFill>
                <a:latin typeface="Arial"/>
                <a:ea typeface="Arial"/>
                <a:cs typeface="Arial"/>
              </a:rPr>
              <a:t>The v2 augmentation exposed both recovery and method gaps.</a:t>
            </a:r>
          </a:p>
        </p:txBody>
      </p:sp>
      <p:sp>
        <p:nvSpPr>
          <p:cNvPr id="3" name="footer-mark">
            <a:extLst xmlns:a="http://schemas.openxmlformats.org/drawingml/2006/main">
              <a:ext uri="{FF2B5EF4-FFF2-40B4-BE49-F238E27FC236}">
                <a16:creationId xmlns:a16="http://schemas.microsoft.com/office/drawing/2014/main" id="{414E19DC-931D-41F5-A1F8-4C008BBB8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29375"/>
            <a:ext cx="66675" cy="6667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008C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label">
            <a:extLst xmlns:a="http://schemas.openxmlformats.org/drawingml/2006/main">
              <a:ext uri="{FF2B5EF4-FFF2-40B4-BE49-F238E27FC236}">
                <a16:creationId xmlns:a16="http://schemas.microsoft.com/office/drawing/2014/main" id="{302C9B31-465B-451C-9087-66264A7FC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6391275"/>
            <a:ext cx="3143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0">
                <a:solidFill>
                  <a:srgbClr val="007B76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007B76"/>
                </a:solidFill>
                <a:latin typeface="Arial"/>
                <a:ea typeface="Arial"/>
                <a:cs typeface="Arial"/>
              </a:rPr>
              <a:t>EvalBracket • Internal discussion draft</a:t>
            </a:r>
          </a:p>
        </p:txBody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98974193-617F-4D47-A948-FA021BA8B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91275"/>
            <a:ext cx="723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750" b="0">
                <a:solidFill>
                  <a:srgbClr val="708093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708093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6" name="observed-card">
            <a:extLst xmlns:a="http://schemas.openxmlformats.org/drawingml/2006/main">
              <a:ext uri="{FF2B5EF4-FFF2-40B4-BE49-F238E27FC236}">
                <a16:creationId xmlns:a16="http://schemas.microsoft.com/office/drawing/2014/main" id="{180B8779-DA11-40E5-B3A4-5DA6E07CB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04950"/>
            <a:ext cx="4762500" cy="1866900"/>
          </a:xfrm>
          <a:prstGeom xmlns:a="http://schemas.openxmlformats.org/drawingml/2006/main" prst="roundRect">
            <a:avLst>
              <a:gd name="adj" fmla="val 4545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7" name="observed-label">
            <a:extLst xmlns:a="http://schemas.openxmlformats.org/drawingml/2006/main">
              <a:ext uri="{FF2B5EF4-FFF2-40B4-BE49-F238E27FC236}">
                <a16:creationId xmlns:a16="http://schemas.microsoft.com/office/drawing/2014/main" id="{B7E174C6-4A85-4E48-9F88-58E90581B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C43C5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43C55"/>
                </a:solidFill>
                <a:latin typeface="Arial"/>
                <a:ea typeface="Arial"/>
                <a:cs typeface="Arial"/>
              </a:rPr>
              <a:t>CORE STUDY | PROMPT-ONLY TESTING</a:t>
            </a:r>
          </a:p>
        </p:txBody>
      </p:sp>
      <p:sp>
        <p:nvSpPr>
          <p:cNvPr id="8" name="observed-text">
            <a:extLst xmlns:a="http://schemas.openxmlformats.org/drawingml/2006/main">
              <a:ext uri="{FF2B5EF4-FFF2-40B4-BE49-F238E27FC236}">
                <a16:creationId xmlns:a16="http://schemas.microsoft.com/office/drawing/2014/main" id="{6FBCB5C3-D87C-4509-9BF4-499C22774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4095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C43C55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C43C55"/>
                </a:solidFill>
                <a:latin typeface="Arial"/>
                <a:ea typeface="Arial"/>
                <a:cs typeface="Arial"/>
              </a:rPr>
              <a:t>Found: 3.6% to 48.1%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C43C55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C43C55"/>
                </a:solidFill>
                <a:latin typeface="Arial"/>
                <a:ea typeface="Arial"/>
                <a:cs typeface="Arial"/>
              </a:rPr>
              <a:t>Required: at least 80%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C43C55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C43C55"/>
                </a:solidFill>
                <a:latin typeface="Arial"/>
                <a:ea typeface="Arial"/>
                <a:cs typeface="Arial"/>
              </a:rPr>
              <a:t>Conclusion: Upper bound unknown</a:t>
            </a:r>
          </a:p>
        </p:txBody>
      </p:sp>
      <p:sp>
        <p:nvSpPr>
          <p:cNvPr id="9" name="not-equal">
            <a:extLst xmlns:a="http://schemas.openxmlformats.org/drawingml/2006/main">
              <a:ext uri="{FF2B5EF4-FFF2-40B4-BE49-F238E27FC236}">
                <a16:creationId xmlns:a16="http://schemas.microsoft.com/office/drawing/2014/main" id="{2CC0780C-249D-474C-A1C4-6118BAE8D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057400"/>
            <a:ext cx="762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3600" b="1">
                <a:solidFill>
                  <a:srgbClr val="97630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976300"/>
                </a:solidFill>
                <a:latin typeface="Arial"/>
                <a:ea typeface="Arial"/>
                <a:cs typeface="Arial"/>
              </a:rPr>
              <a:t>≠</a:t>
            </a:r>
          </a:p>
        </p:txBody>
      </p:sp>
      <p:sp>
        <p:nvSpPr>
          <p:cNvPr id="10" name="conclusion-card">
            <a:extLst xmlns:a="http://schemas.openxmlformats.org/drawingml/2006/main">
              <a:ext uri="{FF2B5EF4-FFF2-40B4-BE49-F238E27FC236}">
                <a16:creationId xmlns:a16="http://schemas.microsoft.com/office/drawing/2014/main" id="{9A969065-B848-496C-8F30-0C147FFF5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1504950"/>
            <a:ext cx="4762500" cy="1866900"/>
          </a:xfrm>
          <a:prstGeom xmlns:a="http://schemas.openxmlformats.org/drawingml/2006/main" prst="roundRect">
            <a:avLst>
              <a:gd name="adj" fmla="val 4545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conclusion-label">
            <a:extLst xmlns:a="http://schemas.openxmlformats.org/drawingml/2006/main">
              <a:ext uri="{FF2B5EF4-FFF2-40B4-BE49-F238E27FC236}">
                <a16:creationId xmlns:a16="http://schemas.microsoft.com/office/drawing/2014/main" id="{13F4C5F1-6EEA-420A-A207-192EA6713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1733550"/>
            <a:ext cx="361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087A5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87A58"/>
                </a:solidFill>
                <a:latin typeface="Arial"/>
                <a:ea typeface="Arial"/>
                <a:cs typeface="Arial"/>
              </a:rPr>
              <a:t>CORE STUDY | LoRA WITH WEIGHT ACCESS</a:t>
            </a:r>
          </a:p>
        </p:txBody>
      </p:sp>
      <p:sp>
        <p:nvSpPr>
          <p:cNvPr id="12" name="conclusion-text">
            <a:extLst xmlns:a="http://schemas.openxmlformats.org/drawingml/2006/main">
              <a:ext uri="{FF2B5EF4-FFF2-40B4-BE49-F238E27FC236}">
                <a16:creationId xmlns:a16="http://schemas.microsoft.com/office/drawing/2014/main" id="{F51526B5-9A00-4D32-95A7-2979138E0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152650"/>
            <a:ext cx="4095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087A58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87A58"/>
                </a:solidFill>
                <a:latin typeface="Arial"/>
                <a:ea typeface="Arial"/>
                <a:cs typeface="Arial"/>
              </a:rPr>
              <a:t>Found: 93.3% to 100%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087A58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87A58"/>
                </a:solidFill>
                <a:latin typeface="Arial"/>
                <a:ea typeface="Arial"/>
                <a:cs typeface="Arial"/>
              </a:rPr>
              <a:t>Required: at least 80%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087A58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87A58"/>
                </a:solidFill>
                <a:latin typeface="Arial"/>
                <a:ea typeface="Arial"/>
                <a:cs typeface="Arial"/>
              </a:rPr>
              <a:t>Core recovery check: passed</a:t>
            </a:r>
          </a:p>
        </p:txBody>
      </p:sp>
      <p:sp>
        <p:nvSpPr>
          <p:cNvPr id="13" name="elicitation-card">
            <a:extLst xmlns:a="http://schemas.openxmlformats.org/drawingml/2006/main">
              <a:ext uri="{FF2B5EF4-FFF2-40B4-BE49-F238E27FC236}">
                <a16:creationId xmlns:a16="http://schemas.microsoft.com/office/drawing/2014/main" id="{B7633534-666A-4FE8-9028-FA394357F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76650"/>
            <a:ext cx="11277600" cy="1466850"/>
          </a:xfrm>
          <a:prstGeom xmlns:a="http://schemas.openxmlformats.org/drawingml/2006/main" prst="roundRect">
            <a:avLst>
              <a:gd name="adj" fmla="val 625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4" name="elicitation-label">
            <a:extLst xmlns:a="http://schemas.openxmlformats.org/drawingml/2006/main">
              <a:ext uri="{FF2B5EF4-FFF2-40B4-BE49-F238E27FC236}">
                <a16:creationId xmlns:a16="http://schemas.microsoft.com/office/drawing/2014/main" id="{2156E75A-907E-4A8F-AD37-4775A00D7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862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97630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976300"/>
                </a:solidFill>
                <a:latin typeface="Arial"/>
                <a:ea typeface="Arial"/>
                <a:cs typeface="Arial"/>
              </a:rPr>
              <a:t>V2 AUGMENTATION | THREE MODEL FAMILIES</a:t>
            </a:r>
          </a:p>
        </p:txBody>
      </p:sp>
      <p:sp>
        <p:nvSpPr>
          <p:cNvPr id="15" name="elicitation-methods">
            <a:extLst xmlns:a="http://schemas.openxmlformats.org/drawingml/2006/main">
              <a:ext uri="{FF2B5EF4-FFF2-40B4-BE49-F238E27FC236}">
                <a16:creationId xmlns:a16="http://schemas.microsoft.com/office/drawing/2014/main" id="{CE1FE8BD-9919-4202-AA59-C75470E8F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48150"/>
            <a:ext cx="1028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32238"/>
                </a:solidFill>
                <a:latin typeface="Arial"/>
                <a:ea typeface="Arial"/>
                <a:cs typeface="Arial"/>
              </a:rPr>
              <a:t>Found 14 of 15 hidden controls. The evidence supports at least 72.1%; the study required at least 80%.</a:t>
            </a:r>
          </a:p>
        </p:txBody>
      </p:sp>
      <p:sp>
        <p:nvSpPr>
          <p:cNvPr id="16" name="elicitation-question">
            <a:extLst xmlns:a="http://schemas.openxmlformats.org/drawingml/2006/main">
              <a:ext uri="{FF2B5EF4-FFF2-40B4-BE49-F238E27FC236}">
                <a16:creationId xmlns:a16="http://schemas.microsoft.com/office/drawing/2014/main" id="{EB826000-749C-4071-B273-361F9CEDA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43450"/>
            <a:ext cx="1028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97630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976300"/>
                </a:solidFill>
                <a:latin typeface="Arial"/>
                <a:ea typeface="Arial"/>
                <a:cs typeface="Arial"/>
              </a:rPr>
              <a:t>Full v2: No | Recovery: No | Breadth: Yes | Stopping: Yes | Method coverage: No (5 missing)</a:t>
            </a:r>
          </a:p>
        </p:txBody>
      </p:sp>
      <p:sp>
        <p:nvSpPr>
          <p:cNvPr id="18" name="model-x-rule-535">
            <a:extLst xmlns:a="http://schemas.openxmlformats.org/drawingml/2006/main">
              <a:ext uri="{FF2B5EF4-FFF2-40B4-BE49-F238E27FC236}">
                <a16:creationId xmlns:a16="http://schemas.microsoft.com/office/drawing/2014/main" id="{2BAF4622-795B-4D80-82E6-245ECBD7F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10200"/>
            <a:ext cx="10744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model-x-label-535">
            <a:extLst xmlns:a="http://schemas.openxmlformats.org/drawingml/2006/main">
              <a:ext uri="{FF2B5EF4-FFF2-40B4-BE49-F238E27FC236}">
                <a16:creationId xmlns:a16="http://schemas.microsoft.com/office/drawing/2014/main" id="{C784E751-A8B7-43F4-BF3B-8E321735F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4355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007B76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007B76"/>
                </a:solidFill>
                <a:latin typeface="Arial"/>
                <a:ea typeface="Arial"/>
                <a:cs typeface="Arial"/>
              </a:rPr>
              <a:t>HOW TO READ A BELOW-LOOKING TARGET RESULT</a:t>
            </a:r>
          </a:p>
        </p:txBody>
      </p:sp>
      <p:sp>
        <p:nvSpPr>
          <p:cNvPr id="20" name="model-x-body-535">
            <a:extLst xmlns:a="http://schemas.openxmlformats.org/drawingml/2006/main">
              <a:ext uri="{FF2B5EF4-FFF2-40B4-BE49-F238E27FC236}">
                <a16:creationId xmlns:a16="http://schemas.microsoft.com/office/drawing/2014/main" id="{3260B4FB-4843-4550-BB9A-F7AC0D99F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486400"/>
            <a:ext cx="9144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200">
                <a:solidFill>
                  <a:srgbClr val="526173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26173"/>
                </a:solidFill>
                <a:latin typeface="Arial"/>
                <a:ea typeface="Arial"/>
                <a:cs typeface="Arial"/>
              </a:rPr>
              <a:t>With this exact v2 battery, the appropriate conclusion is: Upper bound unknown.</a:t>
            </a:r>
          </a:p>
        </p:txBody>
      </p:sp>
      <p:sp>
        <p:nvSpPr>
          <p:cNvPr id="21" name="page-number-v6">
            <a:extLst xmlns:a="http://schemas.openxmlformats.org/drawingml/2006/main">
              <a:ext uri="{FF2B5EF4-FFF2-40B4-BE49-F238E27FC236}">
                <a16:creationId xmlns:a16="http://schemas.microsoft.com/office/drawing/2014/main" id="{C83BE37D-E933-4ED7-B6FB-3B857DC78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391275"/>
            <a:ext cx="990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>
                <a:solidFill>
                  <a:srgbClr val="6B7788"/>
                </a:solidFill>
                <a:latin typeface="Arial"/>
                <a:ea typeface="Arial"/>
                <a:cs typeface="Arial"/>
              </a:defRPr>
            </a:pPr>
            <a:r>
              <a:rPr sz="750">
                <a:solidFill>
                  <a:srgbClr val="6B7788"/>
                </a:solidFill>
                <a:latin typeface="Arial"/>
                <a:ea typeface="Arial"/>
                <a:cs typeface="Arial"/>
              </a:rPr>
              <a:t>11 / 18</a:t>
            </a:r>
          </a:p>
        </p:txBody>
      </p:sp>
    </p:spTree>
    <p:extLst>
      <p:ext uri="{BB962C8B-B14F-4D97-AF65-F5344CB8AC3E}">
        <p14:creationId xmlns:p14="http://schemas.microsoft.com/office/powerpoint/2010/main" val="84534895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5F2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eyebrow">
            <a:extLst xmlns:a="http://schemas.openxmlformats.org/drawingml/2006/main">
              <a:ext uri="{FF2B5EF4-FFF2-40B4-BE49-F238E27FC236}">
                <a16:creationId xmlns:a16="http://schemas.microsoft.com/office/drawing/2014/main" id="{E810DB8C-28B7-4209-AE7E-AAC355E5E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007B7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07B76"/>
                </a:solidFill>
                <a:latin typeface="Arial"/>
                <a:ea typeface="Arial"/>
                <a:cs typeface="Arial"/>
              </a:rPr>
              <a:t>WHAT MODEL TEAMS GAIN</a:t>
            </a:r>
          </a:p>
        </p:txBody>
      </p:sp>
      <p:sp>
        <p:nvSpPr>
          <p:cNvPr id="2" name="footer-mark">
            <a:extLst xmlns:a="http://schemas.openxmlformats.org/drawingml/2006/main">
              <a:ext uri="{FF2B5EF4-FFF2-40B4-BE49-F238E27FC236}">
                <a16:creationId xmlns:a16="http://schemas.microsoft.com/office/drawing/2014/main" id="{CA0FBC71-773D-4AF0-938E-2A0E8C329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29375"/>
            <a:ext cx="66675" cy="6667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008C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footer-label">
            <a:extLst xmlns:a="http://schemas.openxmlformats.org/drawingml/2006/main">
              <a:ext uri="{FF2B5EF4-FFF2-40B4-BE49-F238E27FC236}">
                <a16:creationId xmlns:a16="http://schemas.microsoft.com/office/drawing/2014/main" id="{927CF3A5-2FF0-478D-BE52-7E1F62EB5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6391275"/>
            <a:ext cx="3143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0">
                <a:solidFill>
                  <a:srgbClr val="007B76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007B76"/>
                </a:solidFill>
                <a:latin typeface="Arial"/>
                <a:ea typeface="Arial"/>
                <a:cs typeface="Arial"/>
              </a:rPr>
              <a:t>EvalBracket • Internal discussion draft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72AAC6D9-C770-4A6E-9603-8E37ACA86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91275"/>
            <a:ext cx="723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750" b="0">
                <a:solidFill>
                  <a:srgbClr val="708093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708093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5" name="hero-title">
            <a:extLst xmlns:a="http://schemas.openxmlformats.org/drawingml/2006/main">
              <a:ext uri="{FF2B5EF4-FFF2-40B4-BE49-F238E27FC236}">
                <a16:creationId xmlns:a16="http://schemas.microsoft.com/office/drawing/2014/main" id="{45E3E9AD-11D9-437E-B8A0-B6C00B419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66800"/>
            <a:ext cx="5334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4200" b="1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132238"/>
                </a:solidFill>
                <a:latin typeface="Arial"/>
                <a:ea typeface="Arial"/>
                <a:cs typeface="Arial"/>
              </a:rPr>
              <a:t>Defensible claims</a:t>
            </a:r>
          </a:p>
        </p:txBody>
      </p:sp>
      <p:sp>
        <p:nvSpPr>
          <p:cNvPr id="6" name="hero-subtitle">
            <a:extLst xmlns:a="http://schemas.openxmlformats.org/drawingml/2006/main">
              <a:ext uri="{FF2B5EF4-FFF2-40B4-BE49-F238E27FC236}">
                <a16:creationId xmlns:a16="http://schemas.microsoft.com/office/drawing/2014/main" id="{BD9D6F93-2BDD-4DBE-8B11-0A5A1B8B4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24050"/>
            <a:ext cx="5334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75" b="1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32238"/>
                </a:solidFill>
                <a:latin typeface="Arial"/>
                <a:ea typeface="Arial"/>
                <a:cs typeface="Arial"/>
              </a:rPr>
              <a:t>Turn best-effort testing into evidence readers can examine.</a:t>
            </a:r>
          </a:p>
        </p:txBody>
      </p:sp>
      <p:sp>
        <p:nvSpPr>
          <p:cNvPr id="7" name="hero-line-1">
            <a:extLst xmlns:a="http://schemas.openxmlformats.org/drawingml/2006/main">
              <a:ext uri="{FF2B5EF4-FFF2-40B4-BE49-F238E27FC236}">
                <a16:creationId xmlns:a16="http://schemas.microsoft.com/office/drawing/2014/main" id="{93972CBC-ACA5-4748-A2A6-F7756EC4F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0"/>
            <a:ext cx="514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007B7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7B76"/>
                </a:solidFill>
                <a:latin typeface="Arial"/>
                <a:ea typeface="Arial"/>
                <a:cs typeface="Arial"/>
              </a:rPr>
              <a:t>1. Know whether the evaluation could find hidden capability.</a:t>
            </a:r>
          </a:p>
        </p:txBody>
      </p:sp>
      <p:sp>
        <p:nvSpPr>
          <p:cNvPr id="8" name="hero-line-2">
            <a:extLst xmlns:a="http://schemas.openxmlformats.org/drawingml/2006/main">
              <a:ext uri="{FF2B5EF4-FFF2-40B4-BE49-F238E27FC236}">
                <a16:creationId xmlns:a16="http://schemas.microsoft.com/office/drawing/2014/main" id="{F17AAA06-479E-43C2-B57F-7DBFF7B7B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86150"/>
            <a:ext cx="514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007B7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7B76"/>
                </a:solidFill>
                <a:latin typeface="Arial"/>
                <a:ea typeface="Arial"/>
                <a:cs typeface="Arial"/>
              </a:rPr>
              <a:t>2. Report an access-specific conclusion with clear limits.</a:t>
            </a:r>
          </a:p>
        </p:txBody>
      </p:sp>
      <p:sp>
        <p:nvSpPr>
          <p:cNvPr id="9" name="hero-divider">
            <a:extLst xmlns:a="http://schemas.openxmlformats.org/drawingml/2006/main">
              <a:ext uri="{FF2B5EF4-FFF2-40B4-BE49-F238E27FC236}">
                <a16:creationId xmlns:a16="http://schemas.microsoft.com/office/drawing/2014/main" id="{81655AFB-06CC-4D19-BBCA-0CB414CF2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238250"/>
            <a:ext cx="9525" cy="400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internal-label">
            <a:extLst xmlns:a="http://schemas.openxmlformats.org/drawingml/2006/main">
              <a:ext uri="{FF2B5EF4-FFF2-40B4-BE49-F238E27FC236}">
                <a16:creationId xmlns:a16="http://schemas.microsoft.com/office/drawing/2014/main" id="{88101D98-8074-4224-A406-E2F40FDD5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504950"/>
            <a:ext cx="447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007B7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07B76"/>
                </a:solidFill>
                <a:latin typeface="Arial"/>
                <a:ea typeface="Arial"/>
                <a:cs typeface="Arial"/>
              </a:rPr>
              <a:t>1  EVALUATION TEAMS</a:t>
            </a:r>
          </a:p>
        </p:txBody>
      </p:sp>
      <p:sp>
        <p:nvSpPr>
          <p:cNvPr id="11" name="hero-equation">
            <a:extLst xmlns:a="http://schemas.openxmlformats.org/drawingml/2006/main">
              <a:ext uri="{FF2B5EF4-FFF2-40B4-BE49-F238E27FC236}">
                <a16:creationId xmlns:a16="http://schemas.microsoft.com/office/drawing/2014/main" id="{6B1B643A-972C-44B4-A279-801605B66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885950"/>
            <a:ext cx="4572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32238"/>
                </a:solidFill>
                <a:latin typeface="Arial"/>
                <a:ea typeface="Arial"/>
                <a:cs typeface="Arial"/>
              </a:rPr>
              <a:t>Know when a below-threshold result is supported.</a:t>
            </a:r>
          </a:p>
        </p:txBody>
      </p:sp>
      <p:sp>
        <p:nvSpPr>
          <p:cNvPr id="13" name="model-x-rule-500">
            <a:extLst xmlns:a="http://schemas.openxmlformats.org/drawingml/2006/main">
              <a:ext uri="{FF2B5EF4-FFF2-40B4-BE49-F238E27FC236}">
                <a16:creationId xmlns:a16="http://schemas.microsoft.com/office/drawing/2014/main" id="{3A3BF457-E018-4AA2-84A4-BC4FF3297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105150"/>
            <a:ext cx="457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model-x-label-500">
            <a:extLst xmlns:a="http://schemas.openxmlformats.org/drawingml/2006/main">
              <a:ext uri="{FF2B5EF4-FFF2-40B4-BE49-F238E27FC236}">
                <a16:creationId xmlns:a16="http://schemas.microsoft.com/office/drawing/2014/main" id="{FA8A2394-5CC6-47B1-BDB2-E49EE8949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448050"/>
            <a:ext cx="447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007B7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07B76"/>
                </a:solidFill>
                <a:latin typeface="Arial"/>
                <a:ea typeface="Arial"/>
                <a:cs typeface="Arial"/>
              </a:rPr>
              <a:t>2  SYSTEM-CARD READERS</a:t>
            </a:r>
          </a:p>
        </p:txBody>
      </p:sp>
      <p:sp>
        <p:nvSpPr>
          <p:cNvPr id="15" name="model-x-body-500">
            <a:extLst xmlns:a="http://schemas.openxmlformats.org/drawingml/2006/main">
              <a:ext uri="{FF2B5EF4-FFF2-40B4-BE49-F238E27FC236}">
                <a16:creationId xmlns:a16="http://schemas.microsoft.com/office/drawing/2014/main" id="{8D8DFD15-9440-48AE-B94E-F9515A059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829050"/>
            <a:ext cx="4572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875" b="1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32238"/>
                </a:solidFill>
                <a:latin typeface="Arial"/>
                <a:ea typeface="Arial"/>
                <a:cs typeface="Arial"/>
              </a:rPr>
              <a:t>See the evidence, access level, and limits behind the conclusion.</a:t>
            </a:r>
          </a:p>
        </p:txBody>
      </p:sp>
      <p:sp>
        <p:nvSpPr>
          <p:cNvPr id="16" name="page-number-v6">
            <a:extLst xmlns:a="http://schemas.openxmlformats.org/drawingml/2006/main">
              <a:ext uri="{FF2B5EF4-FFF2-40B4-BE49-F238E27FC236}">
                <a16:creationId xmlns:a16="http://schemas.microsoft.com/office/drawing/2014/main" id="{BA7B2A98-D106-4FD5-B22C-72587C310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391275"/>
            <a:ext cx="990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>
                <a:solidFill>
                  <a:srgbClr val="6B7788"/>
                </a:solidFill>
                <a:latin typeface="Arial"/>
                <a:ea typeface="Arial"/>
                <a:cs typeface="Arial"/>
              </a:defRPr>
            </a:pPr>
            <a:r>
              <a:rPr sz="750">
                <a:solidFill>
                  <a:srgbClr val="6B7788"/>
                </a:solidFill>
                <a:latin typeface="Arial"/>
                <a:ea typeface="Arial"/>
                <a:cs typeface="Arial"/>
              </a:rPr>
              <a:t>12 / 18</a:t>
            </a:r>
          </a:p>
        </p:txBody>
      </p:sp>
    </p:spTree>
    <p:extLst>
      <p:ext uri="{BB962C8B-B14F-4D97-AF65-F5344CB8AC3E}">
        <p14:creationId xmlns:p14="http://schemas.microsoft.com/office/powerpoint/2010/main" val="88363535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5F2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eyebrow">
            <a:extLst xmlns:a="http://schemas.openxmlformats.org/drawingml/2006/main">
              <a:ext uri="{FF2B5EF4-FFF2-40B4-BE49-F238E27FC236}">
                <a16:creationId xmlns:a16="http://schemas.microsoft.com/office/drawing/2014/main" id="{1B517785-B623-46C0-AE53-5CF42BB10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609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007B76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07B76"/>
                </a:solidFill>
                <a:latin typeface="Arial"/>
                <a:ea typeface="Arial"/>
                <a:cs typeface="Arial"/>
              </a:rPr>
              <a:t>APPENDIX | ILLUSTRATIVE CAPABILITY LEVELS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8A2EF97-E36A-462C-9415-1DA3D8813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850" b="1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32238"/>
                </a:solidFill>
                <a:latin typeface="Arial"/>
                <a:ea typeface="Arial"/>
                <a:cs typeface="Arial"/>
              </a:rPr>
              <a:t>C1 to C5 illustrate increasing harmful cyber capability.</a:t>
            </a:r>
          </a:p>
        </p:txBody>
      </p:sp>
      <p:sp>
        <p:nvSpPr>
          <p:cNvPr id="3" name="footer-mark">
            <a:extLst xmlns:a="http://schemas.openxmlformats.org/drawingml/2006/main">
              <a:ext uri="{FF2B5EF4-FFF2-40B4-BE49-F238E27FC236}">
                <a16:creationId xmlns:a16="http://schemas.microsoft.com/office/drawing/2014/main" id="{40E344F9-17FC-42DF-9CE1-7CCE543FF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29375"/>
            <a:ext cx="66675" cy="6667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008C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label">
            <a:extLst xmlns:a="http://schemas.openxmlformats.org/drawingml/2006/main">
              <a:ext uri="{FF2B5EF4-FFF2-40B4-BE49-F238E27FC236}">
                <a16:creationId xmlns:a16="http://schemas.microsoft.com/office/drawing/2014/main" id="{A4FF78B0-C016-4452-AD72-F933BA61A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6391275"/>
            <a:ext cx="3143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0">
                <a:solidFill>
                  <a:srgbClr val="007B76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007B76"/>
                </a:solidFill>
                <a:latin typeface="Arial"/>
                <a:ea typeface="Arial"/>
                <a:cs typeface="Arial"/>
              </a:rPr>
              <a:t>EvalBracket • Internal discussion draft</a:t>
            </a:r>
          </a:p>
        </p:txBody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91BF873B-3566-405F-BE6E-6BAD0FF36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91275"/>
            <a:ext cx="723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750" b="0">
                <a:solidFill>
                  <a:srgbClr val="708093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708093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6" name="ladder-subtitle">
            <a:extLst xmlns:a="http://schemas.openxmlformats.org/drawingml/2006/main">
              <a:ext uri="{FF2B5EF4-FFF2-40B4-BE49-F238E27FC236}">
                <a16:creationId xmlns:a16="http://schemas.microsoft.com/office/drawing/2014/main" id="{BB819382-C6EC-48E4-BB13-05BE40B27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3350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52617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526173"/>
                </a:solidFill>
                <a:latin typeface="Arial"/>
                <a:ea typeface="Arial"/>
                <a:cs typeface="Arial"/>
              </a:rPr>
              <a:t>C1 is the least harmful level. C5 is the most harmful.</a:t>
            </a:r>
          </a:p>
        </p:txBody>
      </p:sp>
      <p:sp>
        <p:nvSpPr>
          <p:cNvPr id="7" name="ladder-line">
            <a:extLst xmlns:a="http://schemas.openxmlformats.org/drawingml/2006/main">
              <a:ext uri="{FF2B5EF4-FFF2-40B4-BE49-F238E27FC236}">
                <a16:creationId xmlns:a16="http://schemas.microsoft.com/office/drawing/2014/main" id="{4E808139-2942-4501-9F91-4C7EAFFC5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628900"/>
            <a:ext cx="8763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CBD5E1"/>
            </a:solidFill>
            <a:prstDash val="solid"/>
          </a:ln>
        </p:spPr>
      </p:sp>
      <p:sp>
        <p:nvSpPr>
          <p:cNvPr id="8" name="level-C1">
            <a:extLst xmlns:a="http://schemas.openxmlformats.org/drawingml/2006/main">
              <a:ext uri="{FF2B5EF4-FFF2-40B4-BE49-F238E27FC236}">
                <a16:creationId xmlns:a16="http://schemas.microsoft.com/office/drawing/2014/main" id="{007EF863-1D18-4827-932A-387DBFED8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36220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7F8D9D"/>
            </a:solidFill>
            <a:prstDash val="solid"/>
          </a:ln>
        </p:spPr>
      </p:sp>
      <p:sp>
        <p:nvSpPr>
          <p:cNvPr id="9" name="level-C1-text">
            <a:extLst xmlns:a="http://schemas.openxmlformats.org/drawingml/2006/main">
              <a:ext uri="{FF2B5EF4-FFF2-40B4-BE49-F238E27FC236}">
                <a16:creationId xmlns:a16="http://schemas.microsoft.com/office/drawing/2014/main" id="{B7D853AC-D487-4137-976A-631DF0CA9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5336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32238"/>
                </a:solidFill>
                <a:latin typeface="Arial"/>
                <a:ea typeface="Arial"/>
                <a:cs typeface="Arial"/>
              </a:rPr>
              <a:t>C1</a:t>
            </a:r>
          </a:p>
        </p:txBody>
      </p:sp>
      <p:sp>
        <p:nvSpPr>
          <p:cNvPr id="10" name="level-C2">
            <a:extLst xmlns:a="http://schemas.openxmlformats.org/drawingml/2006/main">
              <a:ext uri="{FF2B5EF4-FFF2-40B4-BE49-F238E27FC236}">
                <a16:creationId xmlns:a16="http://schemas.microsoft.com/office/drawing/2014/main" id="{2FAFC576-4778-4BD4-9D44-B40DB61A5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36220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547D79"/>
            </a:solidFill>
            <a:prstDash val="solid"/>
          </a:ln>
        </p:spPr>
      </p:sp>
      <p:sp>
        <p:nvSpPr>
          <p:cNvPr id="11" name="level-C2-text">
            <a:extLst xmlns:a="http://schemas.openxmlformats.org/drawingml/2006/main">
              <a:ext uri="{FF2B5EF4-FFF2-40B4-BE49-F238E27FC236}">
                <a16:creationId xmlns:a16="http://schemas.microsoft.com/office/drawing/2014/main" id="{A6E28DBF-092C-4C99-94ED-B0410A247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5336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32238"/>
                </a:solidFill>
                <a:latin typeface="Arial"/>
                <a:ea typeface="Arial"/>
                <a:cs typeface="Arial"/>
              </a:rPr>
              <a:t>C2</a:t>
            </a:r>
          </a:p>
        </p:txBody>
      </p:sp>
      <p:sp>
        <p:nvSpPr>
          <p:cNvPr id="12" name="level-C3">
            <a:extLst xmlns:a="http://schemas.openxmlformats.org/drawingml/2006/main">
              <a:ext uri="{FF2B5EF4-FFF2-40B4-BE49-F238E27FC236}">
                <a16:creationId xmlns:a16="http://schemas.microsoft.com/office/drawing/2014/main" id="{09A10BA4-041E-4577-A585-E2056BDD8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36220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008C86"/>
            </a:solidFill>
            <a:prstDash val="solid"/>
          </a:ln>
        </p:spPr>
      </p:sp>
      <p:sp>
        <p:nvSpPr>
          <p:cNvPr id="13" name="level-C3-text">
            <a:extLst xmlns:a="http://schemas.openxmlformats.org/drawingml/2006/main">
              <a:ext uri="{FF2B5EF4-FFF2-40B4-BE49-F238E27FC236}">
                <a16:creationId xmlns:a16="http://schemas.microsoft.com/office/drawing/2014/main" id="{FE7A2085-D7A8-4F9C-B88E-CC37FE9A5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5336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32238"/>
                </a:solidFill>
                <a:latin typeface="Arial"/>
                <a:ea typeface="Arial"/>
                <a:cs typeface="Arial"/>
              </a:rPr>
              <a:t>C3</a:t>
            </a:r>
          </a:p>
        </p:txBody>
      </p:sp>
      <p:sp>
        <p:nvSpPr>
          <p:cNvPr id="14" name="level-C4">
            <a:extLst xmlns:a="http://schemas.openxmlformats.org/drawingml/2006/main">
              <a:ext uri="{FF2B5EF4-FFF2-40B4-BE49-F238E27FC236}">
                <a16:creationId xmlns:a16="http://schemas.microsoft.com/office/drawing/2014/main" id="{9B3136F7-DED8-409B-B1FE-5453B0DC2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36220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976300"/>
            </a:solidFill>
            <a:prstDash val="solid"/>
          </a:ln>
        </p:spPr>
      </p:sp>
      <p:sp>
        <p:nvSpPr>
          <p:cNvPr id="15" name="level-C4-text">
            <a:extLst xmlns:a="http://schemas.openxmlformats.org/drawingml/2006/main">
              <a:ext uri="{FF2B5EF4-FFF2-40B4-BE49-F238E27FC236}">
                <a16:creationId xmlns:a16="http://schemas.microsoft.com/office/drawing/2014/main" id="{92BBED92-07FD-4EFD-996D-BC5D08B23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5336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32238"/>
                </a:solidFill>
                <a:latin typeface="Arial"/>
                <a:ea typeface="Arial"/>
                <a:cs typeface="Arial"/>
              </a:rPr>
              <a:t>C4</a:t>
            </a:r>
          </a:p>
        </p:txBody>
      </p:sp>
      <p:sp>
        <p:nvSpPr>
          <p:cNvPr id="16" name="level-C5">
            <a:extLst xmlns:a="http://schemas.openxmlformats.org/drawingml/2006/main">
              <a:ext uri="{FF2B5EF4-FFF2-40B4-BE49-F238E27FC236}">
                <a16:creationId xmlns:a16="http://schemas.microsoft.com/office/drawing/2014/main" id="{DECC119E-D9E0-4B00-86E1-3BAD92297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236220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B73852"/>
            </a:solidFill>
            <a:prstDash val="solid"/>
          </a:ln>
        </p:spPr>
      </p:sp>
      <p:sp>
        <p:nvSpPr>
          <p:cNvPr id="17" name="level-C5-text">
            <a:extLst xmlns:a="http://schemas.openxmlformats.org/drawingml/2006/main">
              <a:ext uri="{FF2B5EF4-FFF2-40B4-BE49-F238E27FC236}">
                <a16:creationId xmlns:a16="http://schemas.microsoft.com/office/drawing/2014/main" id="{97087320-EF94-4D41-AF2A-E5363818B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25336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32238"/>
                </a:solidFill>
                <a:latin typeface="Arial"/>
                <a:ea typeface="Arial"/>
                <a:cs typeface="Arial"/>
              </a:rPr>
              <a:t>C5</a:t>
            </a:r>
          </a:p>
        </p:txBody>
      </p:sp>
      <p:sp>
        <p:nvSpPr>
          <p:cNvPr id="18" name="low-label">
            <a:extLst xmlns:a="http://schemas.openxmlformats.org/drawingml/2006/main">
              <a:ext uri="{FF2B5EF4-FFF2-40B4-BE49-F238E27FC236}">
                <a16:creationId xmlns:a16="http://schemas.microsoft.com/office/drawing/2014/main" id="{7882E70A-E80A-4147-8ED3-98F22F326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105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5261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26173"/>
                </a:solidFill>
                <a:latin typeface="Arial"/>
                <a:ea typeface="Arial"/>
                <a:cs typeface="Arial"/>
              </a:rPr>
              <a:t>Lowest potential harm</a:t>
            </a:r>
          </a:p>
        </p:txBody>
      </p:sp>
      <p:sp>
        <p:nvSpPr>
          <p:cNvPr id="19" name="mid-label">
            <a:extLst xmlns:a="http://schemas.openxmlformats.org/drawingml/2006/main">
              <a:ext uri="{FF2B5EF4-FFF2-40B4-BE49-F238E27FC236}">
                <a16:creationId xmlns:a16="http://schemas.microsoft.com/office/drawing/2014/main" id="{71CE25CF-D979-4D18-AEE4-58945AD1E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10515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825" b="0">
                <a:solidFill>
                  <a:srgbClr val="007B7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007B76"/>
                </a:solidFill>
                <a:latin typeface="Arial"/>
                <a:ea typeface="Arial"/>
                <a:cs typeface="Arial"/>
              </a:rPr>
              <a:t>Increasing harmful capability</a:t>
            </a:r>
          </a:p>
        </p:txBody>
      </p:sp>
      <p:sp>
        <p:nvSpPr>
          <p:cNvPr id="20" name="high-label">
            <a:extLst xmlns:a="http://schemas.openxmlformats.org/drawingml/2006/main">
              <a:ext uri="{FF2B5EF4-FFF2-40B4-BE49-F238E27FC236}">
                <a16:creationId xmlns:a16="http://schemas.microsoft.com/office/drawing/2014/main" id="{ACE1D396-7B2E-4B62-A80A-11FDECF53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105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0">
                <a:solidFill>
                  <a:srgbClr val="B73852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B73852"/>
                </a:solidFill>
                <a:latin typeface="Arial"/>
                <a:ea typeface="Arial"/>
                <a:cs typeface="Arial"/>
              </a:rPr>
              <a:t>Highest potential harm</a:t>
            </a:r>
          </a:p>
        </p:txBody>
      </p:sp>
      <p:sp>
        <p:nvSpPr>
          <p:cNvPr id="21" name="framework-note">
            <a:extLst xmlns:a="http://schemas.openxmlformats.org/drawingml/2006/main">
              <a:ext uri="{FF2B5EF4-FFF2-40B4-BE49-F238E27FC236}">
                <a16:creationId xmlns:a16="http://schemas.microsoft.com/office/drawing/2014/main" id="{BDFD2DA2-B377-419A-B308-8DBA9CD86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33800"/>
            <a:ext cx="1127760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framework-note-label">
            <a:extLst xmlns:a="http://schemas.openxmlformats.org/drawingml/2006/main">
              <a:ext uri="{FF2B5EF4-FFF2-40B4-BE49-F238E27FC236}">
                <a16:creationId xmlns:a16="http://schemas.microsoft.com/office/drawing/2014/main" id="{D3D06D8A-13D3-4F58-B1C4-2CD1F8D63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05250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976300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976300"/>
                </a:solidFill>
                <a:latin typeface="Arial"/>
                <a:ea typeface="Arial"/>
                <a:cs typeface="Arial"/>
              </a:rPr>
              <a:t>NOTE</a:t>
            </a:r>
          </a:p>
        </p:txBody>
      </p:sp>
      <p:sp>
        <p:nvSpPr>
          <p:cNvPr id="23" name="framework-note-title">
            <a:extLst xmlns:a="http://schemas.openxmlformats.org/drawingml/2006/main">
              <a:ext uri="{FF2B5EF4-FFF2-40B4-BE49-F238E27FC236}">
                <a16:creationId xmlns:a16="http://schemas.microsoft.com/office/drawing/2014/main" id="{7A0CB6A7-A390-4730-A86C-9CF54AE49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29100"/>
            <a:ext cx="1019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32238"/>
                </a:solidFill>
                <a:latin typeface="Arial"/>
                <a:ea typeface="Arial"/>
                <a:cs typeface="Arial"/>
              </a:rPr>
              <a:t>Each lab defines its own levels, thresholds, and boundaries.</a:t>
            </a:r>
          </a:p>
        </p:txBody>
      </p:sp>
      <p:sp>
        <p:nvSpPr>
          <p:cNvPr id="24" name="framework-note-body">
            <a:extLst xmlns:a="http://schemas.openxmlformats.org/drawingml/2006/main">
              <a:ext uri="{FF2B5EF4-FFF2-40B4-BE49-F238E27FC236}">
                <a16:creationId xmlns:a16="http://schemas.microsoft.com/office/drawing/2014/main" id="{96F0CF50-B67A-4442-A7D9-927E43391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0"/>
            <a:ext cx="1019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5261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173"/>
                </a:solidFill>
                <a:latin typeface="Arial"/>
                <a:ea typeface="Arial"/>
                <a:cs typeface="Arial"/>
              </a:rPr>
              <a:t>EvalBracket uses that existing framework. The paper's 60% proxy threshold does not map to C1 to C5.</a:t>
            </a:r>
          </a:p>
        </p:txBody>
      </p:sp>
      <p:sp>
        <p:nvSpPr>
          <p:cNvPr id="26" name="model-x-rule-552">
            <a:extLst xmlns:a="http://schemas.openxmlformats.org/drawingml/2006/main">
              <a:ext uri="{FF2B5EF4-FFF2-40B4-BE49-F238E27FC236}">
                <a16:creationId xmlns:a16="http://schemas.microsoft.com/office/drawing/2014/main" id="{C6AFB902-3A00-4AF7-95F5-5607DB2A7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57800"/>
            <a:ext cx="10744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model-x-label-552">
            <a:extLst xmlns:a="http://schemas.openxmlformats.org/drawingml/2006/main">
              <a:ext uri="{FF2B5EF4-FFF2-40B4-BE49-F238E27FC236}">
                <a16:creationId xmlns:a16="http://schemas.microsoft.com/office/drawing/2014/main" id="{59F6301F-48E2-44B8-8A2A-B052D7F34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62575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97630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976300"/>
                </a:solidFill>
                <a:latin typeface="Arial"/>
                <a:ea typeface="Arial"/>
                <a:cs typeface="Arial"/>
              </a:rPr>
              <a:t>ILLUSTRATIVE MODEL X SCENARIO</a:t>
            </a:r>
          </a:p>
        </p:txBody>
      </p:sp>
      <p:sp>
        <p:nvSpPr>
          <p:cNvPr id="28" name="model-x-body-552">
            <a:extLst xmlns:a="http://schemas.openxmlformats.org/drawingml/2006/main">
              <a:ext uri="{FF2B5EF4-FFF2-40B4-BE49-F238E27FC236}">
                <a16:creationId xmlns:a16="http://schemas.microsoft.com/office/drawing/2014/main" id="{FE037177-8CBC-4080-A5BE-C393F5990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81650"/>
            <a:ext cx="10744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200">
                <a:solidFill>
                  <a:srgbClr val="526173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26173"/>
                </a:solidFill>
                <a:latin typeface="Arial"/>
                <a:ea typeface="Arial"/>
                <a:cs typeface="Arial"/>
              </a:rPr>
              <a:t>If Model X reports C3 and the lab's action threshold is C4, the decision depends on whether its evaluation could have detected C4 or C5 if present.</a:t>
            </a:r>
          </a:p>
        </p:txBody>
      </p:sp>
      <p:sp>
        <p:nvSpPr>
          <p:cNvPr id="29" name="page-number-v6">
            <a:extLst xmlns:a="http://schemas.openxmlformats.org/drawingml/2006/main">
              <a:ext uri="{FF2B5EF4-FFF2-40B4-BE49-F238E27FC236}">
                <a16:creationId xmlns:a16="http://schemas.microsoft.com/office/drawing/2014/main" id="{FBA2D771-F795-4170-AE39-F63002E98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391275"/>
            <a:ext cx="990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>
                <a:solidFill>
                  <a:srgbClr val="6B7788"/>
                </a:solidFill>
                <a:latin typeface="Arial"/>
                <a:ea typeface="Arial"/>
                <a:cs typeface="Arial"/>
              </a:defRPr>
            </a:pPr>
            <a:r>
              <a:rPr sz="750">
                <a:solidFill>
                  <a:srgbClr val="6B7788"/>
                </a:solidFill>
                <a:latin typeface="Arial"/>
                <a:ea typeface="Arial"/>
                <a:cs typeface="Arial"/>
              </a:rPr>
              <a:t>13 / 18</a:t>
            </a:r>
          </a:p>
        </p:txBody>
      </p:sp>
    </p:spTree>
    <p:extLst>
      <p:ext uri="{BB962C8B-B14F-4D97-AF65-F5344CB8AC3E}">
        <p14:creationId xmlns:p14="http://schemas.microsoft.com/office/powerpoint/2010/main" val="129647838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5F2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eyebrow">
            <a:extLst xmlns:a="http://schemas.openxmlformats.org/drawingml/2006/main">
              <a:ext uri="{FF2B5EF4-FFF2-40B4-BE49-F238E27FC236}">
                <a16:creationId xmlns:a16="http://schemas.microsoft.com/office/drawing/2014/main" id="{4DD515A0-82D1-4A93-B417-1CBC85DC7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609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007B76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07B76"/>
                </a:solidFill>
                <a:latin typeface="Arial"/>
                <a:ea typeface="Arial"/>
                <a:cs typeface="Arial"/>
              </a:rPr>
              <a:t>APPENDIX | THE TWO-STAGE METHOD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448A033-5D4F-4E3C-A7AF-2D558AFE5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850" b="1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32238"/>
                </a:solidFill>
                <a:latin typeface="Arial"/>
                <a:ea typeface="Arial"/>
                <a:cs typeface="Arial"/>
              </a:rPr>
              <a:t>First test the evaluation. Then test the model.</a:t>
            </a:r>
          </a:p>
        </p:txBody>
      </p:sp>
      <p:sp>
        <p:nvSpPr>
          <p:cNvPr id="3" name="footer-mark">
            <a:extLst xmlns:a="http://schemas.openxmlformats.org/drawingml/2006/main">
              <a:ext uri="{FF2B5EF4-FFF2-40B4-BE49-F238E27FC236}">
                <a16:creationId xmlns:a16="http://schemas.microsoft.com/office/drawing/2014/main" id="{1D2CA0FE-6CC7-4079-9A52-4E4A53F08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29375"/>
            <a:ext cx="66675" cy="6667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008C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label">
            <a:extLst xmlns:a="http://schemas.openxmlformats.org/drawingml/2006/main">
              <a:ext uri="{FF2B5EF4-FFF2-40B4-BE49-F238E27FC236}">
                <a16:creationId xmlns:a16="http://schemas.microsoft.com/office/drawing/2014/main" id="{0E0D55E9-D315-4835-99E0-F3A905251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6391275"/>
            <a:ext cx="3143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0">
                <a:solidFill>
                  <a:srgbClr val="007B76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007B76"/>
                </a:solidFill>
                <a:latin typeface="Arial"/>
                <a:ea typeface="Arial"/>
                <a:cs typeface="Arial"/>
              </a:rPr>
              <a:t>EvalBracket • Internal discussion draft</a:t>
            </a:r>
          </a:p>
        </p:txBody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9975480E-7F3C-4E35-BAA9-FFB1D87A5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91275"/>
            <a:ext cx="723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750" b="0">
                <a:solidFill>
                  <a:srgbClr val="708093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708093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6" name="step-arrow">
            <a:extLst xmlns:a="http://schemas.openxmlformats.org/drawingml/2006/main">
              <a:ext uri="{FF2B5EF4-FFF2-40B4-BE49-F238E27FC236}">
                <a16:creationId xmlns:a16="http://schemas.microsoft.com/office/drawing/2014/main" id="{C5032DBF-4886-42C4-ADEA-A6FEF2BE3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667000"/>
            <a:ext cx="1181100" cy="514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8C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control-model-card">
            <a:extLst xmlns:a="http://schemas.openxmlformats.org/drawingml/2006/main">
              <a:ext uri="{FF2B5EF4-FFF2-40B4-BE49-F238E27FC236}">
                <a16:creationId xmlns:a16="http://schemas.microsoft.com/office/drawing/2014/main" id="{54B11629-A82D-40D5-A467-4FF1CD998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04950"/>
            <a:ext cx="4762500" cy="3371850"/>
          </a:xfrm>
          <a:prstGeom xmlns:a="http://schemas.openxmlformats.org/drawingml/2006/main" prst="roundRect">
            <a:avLst>
              <a:gd name="adj" fmla="val 2454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frontier-model-card">
            <a:extLst xmlns:a="http://schemas.openxmlformats.org/drawingml/2006/main">
              <a:ext uri="{FF2B5EF4-FFF2-40B4-BE49-F238E27FC236}">
                <a16:creationId xmlns:a16="http://schemas.microsoft.com/office/drawing/2014/main" id="{0C7CBB68-9C51-48E8-B6D1-64897A91B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1504950"/>
            <a:ext cx="4762500" cy="3371850"/>
          </a:xfrm>
          <a:prstGeom xmlns:a="http://schemas.openxmlformats.org/drawingml/2006/main" prst="roundRect">
            <a:avLst>
              <a:gd name="adj" fmla="val 2454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9" name="control-step-label">
            <a:extLst xmlns:a="http://schemas.openxmlformats.org/drawingml/2006/main">
              <a:ext uri="{FF2B5EF4-FFF2-40B4-BE49-F238E27FC236}">
                <a16:creationId xmlns:a16="http://schemas.microsoft.com/office/drawing/2014/main" id="{9C232E26-83F3-4114-A983-047D0A33C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007B7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07B76"/>
                </a:solidFill>
                <a:latin typeface="Arial"/>
                <a:ea typeface="Arial"/>
                <a:cs typeface="Arial"/>
              </a:rPr>
              <a:t>1. CONTROL CHECK</a:t>
            </a:r>
          </a:p>
        </p:txBody>
      </p:sp>
      <p:sp>
        <p:nvSpPr>
          <p:cNvPr id="10" name="control-step-title">
            <a:extLst xmlns:a="http://schemas.openxmlformats.org/drawingml/2006/main">
              <a:ext uri="{FF2B5EF4-FFF2-40B4-BE49-F238E27FC236}">
                <a16:creationId xmlns:a16="http://schemas.microsoft.com/office/drawing/2014/main" id="{947925F3-77DD-489D-8749-7A74B7DEE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71700"/>
            <a:ext cx="4095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75" b="1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32238"/>
                </a:solidFill>
                <a:latin typeface="Arial"/>
                <a:ea typeface="Arial"/>
                <a:cs typeface="Arial"/>
              </a:rPr>
              <a:t>Can the tests expose known-hidden capability?</a:t>
            </a:r>
          </a:p>
        </p:txBody>
      </p:sp>
      <p:sp>
        <p:nvSpPr>
          <p:cNvPr id="11" name="control-step-body">
            <a:extLst xmlns:a="http://schemas.openxmlformats.org/drawingml/2006/main">
              <a:ext uri="{FF2B5EF4-FFF2-40B4-BE49-F238E27FC236}">
                <a16:creationId xmlns:a16="http://schemas.microsoft.com/office/drawing/2014/main" id="{2D8A6525-1D0F-48ED-B4BA-D48A77A5F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0"/>
            <a:ext cx="4095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526173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6173"/>
                </a:solidFill>
                <a:latin typeface="Arial"/>
                <a:ea typeface="Arial"/>
                <a:cs typeface="Arial"/>
              </a:rPr>
              <a:t>Check recovery, control breadth, method coverage, stopping, and capability creation.</a:t>
            </a:r>
          </a:p>
        </p:txBody>
      </p:sp>
      <p:sp>
        <p:nvSpPr>
          <p:cNvPr id="12" name="control-question-bg">
            <a:extLst xmlns:a="http://schemas.openxmlformats.org/drawingml/2006/main">
              <a:ext uri="{FF2B5EF4-FFF2-40B4-BE49-F238E27FC236}">
                <a16:creationId xmlns:a16="http://schemas.microsoft.com/office/drawing/2014/main" id="{CC6CDD69-7C2F-4CCB-B60D-9AAEFAFF0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14800"/>
            <a:ext cx="3810000" cy="36195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E1F2EA"/>
          </a:solidFill>
          <a:ln xmlns:a="http://schemas.openxmlformats.org/drawingml/2006/main" w="9525">
            <a:solidFill>
              <a:srgbClr val="9BCDB8"/>
            </a:solidFill>
            <a:prstDash val="solid"/>
          </a:ln>
        </p:spPr>
      </p:sp>
      <p:sp>
        <p:nvSpPr>
          <p:cNvPr id="13" name="control-question-text">
            <a:extLst xmlns:a="http://schemas.openxmlformats.org/drawingml/2006/main">
              <a:ext uri="{FF2B5EF4-FFF2-40B4-BE49-F238E27FC236}">
                <a16:creationId xmlns:a16="http://schemas.microsoft.com/office/drawing/2014/main" id="{CB1E478B-73A5-41BB-807B-271CC3DEA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91000"/>
            <a:ext cx="3581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087A5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87A58"/>
                </a:solidFill>
                <a:latin typeface="Arial"/>
                <a:ea typeface="Arial"/>
                <a:cs typeface="Arial"/>
              </a:rPr>
              <a:t>Did all five checks pass?</a:t>
            </a:r>
          </a:p>
        </p:txBody>
      </p:sp>
      <p:sp>
        <p:nvSpPr>
          <p:cNvPr id="14" name="arrow-yes">
            <a:extLst xmlns:a="http://schemas.openxmlformats.org/drawingml/2006/main">
              <a:ext uri="{FF2B5EF4-FFF2-40B4-BE49-F238E27FC236}">
                <a16:creationId xmlns:a16="http://schemas.microsoft.com/office/drawing/2014/main" id="{1A41BF41-5637-4F4E-A7B4-54AE504AF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381250"/>
            <a:ext cx="1066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007B7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07B76"/>
                </a:solidFill>
                <a:latin typeface="Arial"/>
                <a:ea typeface="Arial"/>
                <a:cs typeface="Arial"/>
              </a:rPr>
              <a:t>RUN THE SAME BATTERY</a:t>
            </a:r>
          </a:p>
        </p:txBody>
      </p:sp>
      <p:sp>
        <p:nvSpPr>
          <p:cNvPr id="15" name="arrow-copy">
            <a:extLst xmlns:a="http://schemas.openxmlformats.org/drawingml/2006/main">
              <a:ext uri="{FF2B5EF4-FFF2-40B4-BE49-F238E27FC236}">
                <a16:creationId xmlns:a16="http://schemas.microsoft.com/office/drawing/2014/main" id="{74CDD0A3-80AD-4386-8326-503C286A5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295650"/>
            <a:ext cx="1485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52617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26173"/>
                </a:solidFill>
                <a:latin typeface="Arial"/>
                <a:ea typeface="Arial"/>
                <a:cs typeface="Arial"/>
              </a:rPr>
              <a:t>A low target result is credible only if all five checks passed</a:t>
            </a:r>
          </a:p>
        </p:txBody>
      </p:sp>
      <p:sp>
        <p:nvSpPr>
          <p:cNvPr id="16" name="frontier-step-label">
            <a:extLst xmlns:a="http://schemas.openxmlformats.org/drawingml/2006/main">
              <a:ext uri="{FF2B5EF4-FFF2-40B4-BE49-F238E27FC236}">
                <a16:creationId xmlns:a16="http://schemas.microsoft.com/office/drawing/2014/main" id="{8DD95601-5F8B-4287-B526-D8036DE5B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17526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007B7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07B76"/>
                </a:solidFill>
                <a:latin typeface="Arial"/>
                <a:ea typeface="Arial"/>
                <a:cs typeface="Arial"/>
              </a:rPr>
              <a:t>2. FRONTIER CHECKPOINT</a:t>
            </a:r>
          </a:p>
        </p:txBody>
      </p:sp>
      <p:sp>
        <p:nvSpPr>
          <p:cNvPr id="17" name="frontier-step-title">
            <a:extLst xmlns:a="http://schemas.openxmlformats.org/drawingml/2006/main">
              <a:ext uri="{FF2B5EF4-FFF2-40B4-BE49-F238E27FC236}">
                <a16:creationId xmlns:a16="http://schemas.microsoft.com/office/drawing/2014/main" id="{7FCCA7DA-AC66-4A62-BC4B-4FB6C4F51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171700"/>
            <a:ext cx="4095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75" b="1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32238"/>
                </a:solidFill>
                <a:latin typeface="Arial"/>
                <a:ea typeface="Arial"/>
                <a:cs typeface="Arial"/>
              </a:rPr>
              <a:t>What capability do the same tests reveal?</a:t>
            </a:r>
          </a:p>
        </p:txBody>
      </p:sp>
      <p:sp>
        <p:nvSpPr>
          <p:cNvPr id="18" name="frontier-step-body">
            <a:extLst xmlns:a="http://schemas.openxmlformats.org/drawingml/2006/main">
              <a:ext uri="{FF2B5EF4-FFF2-40B4-BE49-F238E27FC236}">
                <a16:creationId xmlns:a16="http://schemas.microsoft.com/office/drawing/2014/main" id="{DA75C215-BA25-47FA-9115-1582CF592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048000"/>
            <a:ext cx="4095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526173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6173"/>
                </a:solidFill>
                <a:latin typeface="Arial"/>
                <a:ea typeface="Arial"/>
                <a:cs typeface="Arial"/>
              </a:rPr>
              <a:t>Keep the access level and declared resource limits unchanged.</a:t>
            </a:r>
          </a:p>
        </p:txBody>
      </p:sp>
      <p:sp>
        <p:nvSpPr>
          <p:cNvPr id="19" name="frontier-question-bg">
            <a:extLst xmlns:a="http://schemas.openxmlformats.org/drawingml/2006/main">
              <a:ext uri="{FF2B5EF4-FFF2-40B4-BE49-F238E27FC236}">
                <a16:creationId xmlns:a16="http://schemas.microsoft.com/office/drawing/2014/main" id="{4A67CE59-F16F-4912-A8B0-6C3F3D9D8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114800"/>
            <a:ext cx="3810000" cy="36195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E1F2EA"/>
          </a:solidFill>
          <a:ln xmlns:a="http://schemas.openxmlformats.org/drawingml/2006/main" w="9525">
            <a:solidFill>
              <a:srgbClr val="9BCDB8"/>
            </a:solidFill>
            <a:prstDash val="solid"/>
          </a:ln>
        </p:spPr>
      </p:sp>
      <p:sp>
        <p:nvSpPr>
          <p:cNvPr id="20" name="frontier-question-text">
            <a:extLst xmlns:a="http://schemas.openxmlformats.org/drawingml/2006/main">
              <a:ext uri="{FF2B5EF4-FFF2-40B4-BE49-F238E27FC236}">
                <a16:creationId xmlns:a16="http://schemas.microsoft.com/office/drawing/2014/main" id="{DE382EC8-EDE1-42A1-8ED5-A523CDAB6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191000"/>
            <a:ext cx="3581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087A5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87A58"/>
                </a:solidFill>
                <a:latin typeface="Arial"/>
                <a:ea typeface="Arial"/>
                <a:cs typeface="Arial"/>
              </a:rPr>
              <a:t>What did the frontier model reveal?</a:t>
            </a:r>
          </a:p>
        </p:txBody>
      </p:sp>
      <p:sp>
        <p:nvSpPr>
          <p:cNvPr id="21" name="coverage-caveat">
            <a:extLst xmlns:a="http://schemas.openxmlformats.org/drawingml/2006/main">
              <a:ext uri="{FF2B5EF4-FFF2-40B4-BE49-F238E27FC236}">
                <a16:creationId xmlns:a16="http://schemas.microsoft.com/office/drawing/2014/main" id="{3AFFC75A-FE46-4DD9-BD21-5BBD42990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19700"/>
            <a:ext cx="10820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9763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976300"/>
                </a:solidFill>
                <a:latin typeface="Arial"/>
                <a:ea typeface="Arial"/>
                <a:cs typeface="Arial"/>
              </a:rPr>
              <a:t>A positive target result is direct evidence. A low result supports Capability stays below threshold only after all five checks pass.</a:t>
            </a:r>
          </a:p>
        </p:txBody>
      </p:sp>
      <p:sp>
        <p:nvSpPr>
          <p:cNvPr id="23" name="page-number-v6">
            <a:extLst xmlns:a="http://schemas.openxmlformats.org/drawingml/2006/main">
              <a:ext uri="{FF2B5EF4-FFF2-40B4-BE49-F238E27FC236}">
                <a16:creationId xmlns:a16="http://schemas.microsoft.com/office/drawing/2014/main" id="{E05A6777-D50D-42BB-A85E-72C7AE911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391275"/>
            <a:ext cx="990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>
                <a:solidFill>
                  <a:srgbClr val="6B7788"/>
                </a:solidFill>
                <a:latin typeface="Arial"/>
                <a:ea typeface="Arial"/>
                <a:cs typeface="Arial"/>
              </a:defRPr>
            </a:pPr>
            <a:r>
              <a:rPr sz="750">
                <a:solidFill>
                  <a:srgbClr val="6B7788"/>
                </a:solidFill>
                <a:latin typeface="Arial"/>
                <a:ea typeface="Arial"/>
                <a:cs typeface="Arial"/>
              </a:rPr>
              <a:t>14 / 18</a:t>
            </a:r>
          </a:p>
        </p:txBody>
      </p:sp>
    </p:spTree>
    <p:extLst>
      <p:ext uri="{BB962C8B-B14F-4D97-AF65-F5344CB8AC3E}">
        <p14:creationId xmlns:p14="http://schemas.microsoft.com/office/powerpoint/2010/main" val="68328721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5F2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eyebrow">
            <a:extLst xmlns:a="http://schemas.openxmlformats.org/drawingml/2006/main">
              <a:ext uri="{FF2B5EF4-FFF2-40B4-BE49-F238E27FC236}">
                <a16:creationId xmlns:a16="http://schemas.microsoft.com/office/drawing/2014/main" id="{D96CD60F-A6AC-45A3-92EB-36CE7C27F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609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007B76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07B76"/>
                </a:solidFill>
                <a:latin typeface="Arial"/>
                <a:ea typeface="Arial"/>
                <a:cs typeface="Arial"/>
              </a:rPr>
              <a:t>APPENDIX | CONTROL-MODEL CONSTRUCTION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E190B29-89E5-488F-A01E-450624FC3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850" b="1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32238"/>
                </a:solidFill>
                <a:latin typeface="Arial"/>
                <a:ea typeface="Arial"/>
                <a:cs typeface="Arial"/>
              </a:rPr>
              <a:t>First validate the control model. Then test the elicitation routines.</a:t>
            </a:r>
          </a:p>
        </p:txBody>
      </p:sp>
      <p:sp>
        <p:nvSpPr>
          <p:cNvPr id="3" name="footer-mark">
            <a:extLst xmlns:a="http://schemas.openxmlformats.org/drawingml/2006/main">
              <a:ext uri="{FF2B5EF4-FFF2-40B4-BE49-F238E27FC236}">
                <a16:creationId xmlns:a16="http://schemas.microsoft.com/office/drawing/2014/main" id="{33DE136E-A642-45C1-989D-E75026675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29375"/>
            <a:ext cx="66675" cy="6667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008C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label">
            <a:extLst xmlns:a="http://schemas.openxmlformats.org/drawingml/2006/main">
              <a:ext uri="{FF2B5EF4-FFF2-40B4-BE49-F238E27FC236}">
                <a16:creationId xmlns:a16="http://schemas.microsoft.com/office/drawing/2014/main" id="{4CFC5A8F-D3D7-4D2A-BAD9-D38D9BD68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6391275"/>
            <a:ext cx="3143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0">
                <a:solidFill>
                  <a:srgbClr val="007B76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007B76"/>
                </a:solidFill>
                <a:latin typeface="Arial"/>
                <a:ea typeface="Arial"/>
                <a:cs typeface="Arial"/>
              </a:rPr>
              <a:t>EvalBracket • Internal discussion draft</a:t>
            </a:r>
          </a:p>
        </p:txBody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1E2CD8F9-C21B-4ED2-91D3-925E30C11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91275"/>
            <a:ext cx="723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750" b="0">
                <a:solidFill>
                  <a:srgbClr val="708093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708093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6" name="access-card-1">
            <a:extLst xmlns:a="http://schemas.openxmlformats.org/drawingml/2006/main">
              <a:ext uri="{FF2B5EF4-FFF2-40B4-BE49-F238E27FC236}">
                <a16:creationId xmlns:a16="http://schemas.microsoft.com/office/drawing/2014/main" id="{7EC1E931-B5F4-4D4A-9B7F-14117C82C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81150"/>
            <a:ext cx="3314700" cy="3638550"/>
          </a:xfrm>
          <a:prstGeom xmlns:a="http://schemas.openxmlformats.org/drawingml/2006/main" prst="roundRect">
            <a:avLst>
              <a:gd name="adj" fmla="val 2299"/>
            </a:avLst>
          </a:prstGeom>
          <a:solidFill xmlns:a="http://schemas.openxmlformats.org/drawingml/2006/main">
            <a:srgbClr val="F2FBFA"/>
          </a:solidFill>
          <a:ln xmlns:a="http://schemas.openxmlformats.org/drawingml/2006/main" w="9525">
            <a:solidFill>
              <a:srgbClr val="A9D7D4"/>
            </a:solidFill>
            <a:prstDash val="solid"/>
          </a:ln>
        </p:spPr>
      </p:sp>
      <p:sp>
        <p:nvSpPr>
          <p:cNvPr id="7" name="access-accent-1">
            <a:extLst xmlns:a="http://schemas.openxmlformats.org/drawingml/2006/main">
              <a:ext uri="{FF2B5EF4-FFF2-40B4-BE49-F238E27FC236}">
                <a16:creationId xmlns:a16="http://schemas.microsoft.com/office/drawing/2014/main" id="{E3238D7E-0920-40D3-9000-64871FF39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81150"/>
            <a:ext cx="33147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C86"/>
          </a:solidFill>
          <a:ln xmlns:a="http://schemas.openxmlformats.org/drawingml/2006/main" w="0">
            <a:solidFill>
              <a:srgbClr val="008C86"/>
            </a:solidFill>
            <a:prstDash val="solid"/>
          </a:ln>
        </p:spPr>
      </p:sp>
      <p:sp>
        <p:nvSpPr>
          <p:cNvPr id="8" name="access-title-1">
            <a:extLst xmlns:a="http://schemas.openxmlformats.org/drawingml/2006/main">
              <a:ext uri="{FF2B5EF4-FFF2-40B4-BE49-F238E27FC236}">
                <a16:creationId xmlns:a16="http://schemas.microsoft.com/office/drawing/2014/main" id="{509A39D0-E372-440A-A4D0-9E6697D9A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09750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007B7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7B76"/>
                </a:solidFill>
                <a:latin typeface="Arial"/>
                <a:ea typeface="Arial"/>
                <a:cs typeface="Arial"/>
              </a:rPr>
              <a:t>CHECK A: CAPABILITY PRESENT</a:t>
            </a:r>
          </a:p>
        </p:txBody>
      </p:sp>
      <p:sp>
        <p:nvSpPr>
          <p:cNvPr id="9" name="methods-label-1">
            <a:extLst xmlns:a="http://schemas.openxmlformats.org/drawingml/2006/main">
              <a:ext uri="{FF2B5EF4-FFF2-40B4-BE49-F238E27FC236}">
                <a16:creationId xmlns:a16="http://schemas.microsoft.com/office/drawing/2014/main" id="{E634AB17-9DA9-4638-9403-0D75017F0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86000"/>
            <a:ext cx="219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526173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26173"/>
                </a:solidFill>
                <a:latin typeface="Arial"/>
                <a:ea typeface="Arial"/>
                <a:cs typeface="Arial"/>
              </a:rPr>
              <a:t>CONTROL MODEL UNLOCKED</a:t>
            </a:r>
          </a:p>
        </p:txBody>
      </p:sp>
      <p:sp>
        <p:nvSpPr>
          <p:cNvPr id="10" name="methods-text-1">
            <a:extLst xmlns:a="http://schemas.openxmlformats.org/drawingml/2006/main">
              <a:ext uri="{FF2B5EF4-FFF2-40B4-BE49-F238E27FC236}">
                <a16:creationId xmlns:a16="http://schemas.microsoft.com/office/drawing/2014/main" id="{5E5AF244-8E53-4F6D-88B5-FC04BBF2A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71750"/>
            <a:ext cx="2952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32238"/>
                </a:solidFill>
                <a:latin typeface="Arial"/>
                <a:ea typeface="Arial"/>
                <a:cs typeface="Arial"/>
              </a:rPr>
              <a:t>With the password, the control reaches the target capability level.</a:t>
            </a:r>
          </a:p>
        </p:txBody>
      </p:sp>
      <p:sp>
        <p:nvSpPr>
          <p:cNvPr id="11" name="access-divider-1">
            <a:extLst xmlns:a="http://schemas.openxmlformats.org/drawingml/2006/main">
              <a:ext uri="{FF2B5EF4-FFF2-40B4-BE49-F238E27FC236}">
                <a16:creationId xmlns:a16="http://schemas.microsoft.com/office/drawing/2014/main" id="{739C1F1A-5D64-4B97-8AB2-829FF2253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486150"/>
            <a:ext cx="29527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measures-label-1">
            <a:extLst xmlns:a="http://schemas.openxmlformats.org/drawingml/2006/main">
              <a:ext uri="{FF2B5EF4-FFF2-40B4-BE49-F238E27FC236}">
                <a16:creationId xmlns:a16="http://schemas.microsoft.com/office/drawing/2014/main" id="{AE38E958-BFE4-418A-B20F-84DC968FB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14750"/>
            <a:ext cx="219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526173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26173"/>
                </a:solidFill>
                <a:latin typeface="Arial"/>
                <a:ea typeface="Arial"/>
                <a:cs typeface="Arial"/>
              </a:rPr>
              <a:t>WHAT THIS ESTABLISHES</a:t>
            </a:r>
          </a:p>
        </p:txBody>
      </p:sp>
      <p:sp>
        <p:nvSpPr>
          <p:cNvPr id="13" name="measures-text-1">
            <a:extLst xmlns:a="http://schemas.openxmlformats.org/drawingml/2006/main">
              <a:ext uri="{FF2B5EF4-FFF2-40B4-BE49-F238E27FC236}">
                <a16:creationId xmlns:a16="http://schemas.microsoft.com/office/drawing/2014/main" id="{28FCB618-C924-4219-938D-30B73FBEA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19550"/>
            <a:ext cx="29527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32238"/>
                </a:solidFill>
                <a:latin typeface="Arial"/>
                <a:ea typeface="Arial"/>
                <a:cs typeface="Arial"/>
              </a:rPr>
              <a:t>The intended capability is present in the control model.</a:t>
            </a:r>
          </a:p>
        </p:txBody>
      </p:sp>
      <p:sp>
        <p:nvSpPr>
          <p:cNvPr id="14" name="access-card-2">
            <a:extLst xmlns:a="http://schemas.openxmlformats.org/drawingml/2006/main">
              <a:ext uri="{FF2B5EF4-FFF2-40B4-BE49-F238E27FC236}">
                <a16:creationId xmlns:a16="http://schemas.microsoft.com/office/drawing/2014/main" id="{967ACDC3-E2BC-4C7E-89B4-5D76DD229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1581150"/>
            <a:ext cx="3314700" cy="3638550"/>
          </a:xfrm>
          <a:prstGeom xmlns:a="http://schemas.openxmlformats.org/drawingml/2006/main" prst="roundRect">
            <a:avLst>
              <a:gd name="adj" fmla="val 2299"/>
            </a:avLst>
          </a:prstGeom>
          <a:solidFill xmlns:a="http://schemas.openxmlformats.org/drawingml/2006/main">
            <a:srgbClr val="F2FBFA"/>
          </a:solidFill>
          <a:ln xmlns:a="http://schemas.openxmlformats.org/drawingml/2006/main" w="9525">
            <a:solidFill>
              <a:srgbClr val="A9D7D4"/>
            </a:solidFill>
            <a:prstDash val="solid"/>
          </a:ln>
        </p:spPr>
      </p:sp>
      <p:sp>
        <p:nvSpPr>
          <p:cNvPr id="15" name="access-accent-2">
            <a:extLst xmlns:a="http://schemas.openxmlformats.org/drawingml/2006/main">
              <a:ext uri="{FF2B5EF4-FFF2-40B4-BE49-F238E27FC236}">
                <a16:creationId xmlns:a16="http://schemas.microsoft.com/office/drawing/2014/main" id="{87FC9416-C11C-4953-97D3-85C004F50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1581150"/>
            <a:ext cx="33147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C86"/>
          </a:solidFill>
          <a:ln xmlns:a="http://schemas.openxmlformats.org/drawingml/2006/main" w="0">
            <a:solidFill>
              <a:srgbClr val="008C86"/>
            </a:solidFill>
            <a:prstDash val="solid"/>
          </a:ln>
        </p:spPr>
      </p:sp>
      <p:sp>
        <p:nvSpPr>
          <p:cNvPr id="16" name="access-title-2">
            <a:extLst xmlns:a="http://schemas.openxmlformats.org/drawingml/2006/main">
              <a:ext uri="{FF2B5EF4-FFF2-40B4-BE49-F238E27FC236}">
                <a16:creationId xmlns:a16="http://schemas.microsoft.com/office/drawing/2014/main" id="{93C2C8D5-DF2E-4951-AAE7-57A7DD2AB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809750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007B7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7B76"/>
                </a:solidFill>
                <a:latin typeface="Arial"/>
                <a:ea typeface="Arial"/>
                <a:cs typeface="Arial"/>
              </a:rPr>
              <a:t>CHECK B: CAPABILITY HIDDEN</a:t>
            </a:r>
          </a:p>
        </p:txBody>
      </p:sp>
      <p:sp>
        <p:nvSpPr>
          <p:cNvPr id="17" name="methods-label-2">
            <a:extLst xmlns:a="http://schemas.openxmlformats.org/drawingml/2006/main">
              <a:ext uri="{FF2B5EF4-FFF2-40B4-BE49-F238E27FC236}">
                <a16:creationId xmlns:a16="http://schemas.microsoft.com/office/drawing/2014/main" id="{CB34A98C-3DF8-49F5-9E56-99A9F2F0D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286000"/>
            <a:ext cx="219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526173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26173"/>
                </a:solidFill>
                <a:latin typeface="Arial"/>
                <a:ea typeface="Arial"/>
                <a:cs typeface="Arial"/>
              </a:rPr>
              <a:t>SAME CONTROL MODEL LOCKED</a:t>
            </a:r>
          </a:p>
        </p:txBody>
      </p:sp>
      <p:sp>
        <p:nvSpPr>
          <p:cNvPr id="18" name="methods-text-2">
            <a:extLst xmlns:a="http://schemas.openxmlformats.org/drawingml/2006/main">
              <a:ext uri="{FF2B5EF4-FFF2-40B4-BE49-F238E27FC236}">
                <a16:creationId xmlns:a16="http://schemas.microsoft.com/office/drawing/2014/main" id="{3EDB4809-0DBD-4CBA-BA96-F58A5F978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571750"/>
            <a:ext cx="2952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32238"/>
                </a:solidFill>
                <a:latin typeface="Arial"/>
                <a:ea typeface="Arial"/>
                <a:cs typeface="Arial"/>
              </a:rPr>
              <a:t>Without the password, the control falls below the target level.</a:t>
            </a:r>
          </a:p>
        </p:txBody>
      </p:sp>
      <p:sp>
        <p:nvSpPr>
          <p:cNvPr id="19" name="access-divider-2">
            <a:extLst xmlns:a="http://schemas.openxmlformats.org/drawingml/2006/main">
              <a:ext uri="{FF2B5EF4-FFF2-40B4-BE49-F238E27FC236}">
                <a16:creationId xmlns:a16="http://schemas.microsoft.com/office/drawing/2014/main" id="{7D7151CA-96B5-486C-93C7-00C50B544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486150"/>
            <a:ext cx="29527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measures-label-2">
            <a:extLst xmlns:a="http://schemas.openxmlformats.org/drawingml/2006/main">
              <a:ext uri="{FF2B5EF4-FFF2-40B4-BE49-F238E27FC236}">
                <a16:creationId xmlns:a16="http://schemas.microsoft.com/office/drawing/2014/main" id="{307F2B82-CA3A-4330-A7F4-03E2ECD12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714750"/>
            <a:ext cx="219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526173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26173"/>
                </a:solidFill>
                <a:latin typeface="Arial"/>
                <a:ea typeface="Arial"/>
                <a:cs typeface="Arial"/>
              </a:rPr>
              <a:t>WHAT THIS ESTABLISHES</a:t>
            </a:r>
          </a:p>
        </p:txBody>
      </p:sp>
      <p:sp>
        <p:nvSpPr>
          <p:cNvPr id="21" name="measures-text-2">
            <a:extLst xmlns:a="http://schemas.openxmlformats.org/drawingml/2006/main">
              <a:ext uri="{FF2B5EF4-FFF2-40B4-BE49-F238E27FC236}">
                <a16:creationId xmlns:a16="http://schemas.microsoft.com/office/drawing/2014/main" id="{376E8234-A880-4EB4-87E9-B56725FBB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019550"/>
            <a:ext cx="29527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32238"/>
                </a:solidFill>
                <a:latin typeface="Arial"/>
                <a:ea typeface="Arial"/>
                <a:cs typeface="Arial"/>
              </a:rPr>
              <a:t>The control's default behavior hides that capability.</a:t>
            </a:r>
          </a:p>
        </p:txBody>
      </p:sp>
      <p:sp>
        <p:nvSpPr>
          <p:cNvPr id="22" name="access-card-3">
            <a:extLst xmlns:a="http://schemas.openxmlformats.org/drawingml/2006/main">
              <a:ext uri="{FF2B5EF4-FFF2-40B4-BE49-F238E27FC236}">
                <a16:creationId xmlns:a16="http://schemas.microsoft.com/office/drawing/2014/main" id="{07409700-B70D-491B-9DC1-7E5543A77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581150"/>
            <a:ext cx="3314700" cy="3638550"/>
          </a:xfrm>
          <a:prstGeom xmlns:a="http://schemas.openxmlformats.org/drawingml/2006/main" prst="roundRect">
            <a:avLst>
              <a:gd name="adj" fmla="val 229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3" name="access-accent-3">
            <a:extLst xmlns:a="http://schemas.openxmlformats.org/drawingml/2006/main">
              <a:ext uri="{FF2B5EF4-FFF2-40B4-BE49-F238E27FC236}">
                <a16:creationId xmlns:a16="http://schemas.microsoft.com/office/drawing/2014/main" id="{D2C1C0B6-9DAA-472C-A711-7CC578129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581150"/>
            <a:ext cx="33147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3852"/>
          </a:solidFill>
          <a:ln xmlns:a="http://schemas.openxmlformats.org/drawingml/2006/main" w="0">
            <a:solidFill>
              <a:srgbClr val="B73852"/>
            </a:solidFill>
            <a:prstDash val="solid"/>
          </a:ln>
        </p:spPr>
      </p:sp>
      <p:sp>
        <p:nvSpPr>
          <p:cNvPr id="24" name="access-title-3">
            <a:extLst xmlns:a="http://schemas.openxmlformats.org/drawingml/2006/main">
              <a:ext uri="{FF2B5EF4-FFF2-40B4-BE49-F238E27FC236}">
                <a16:creationId xmlns:a16="http://schemas.microsoft.com/office/drawing/2014/main" id="{E34E4565-AFBD-412E-928E-5171D0406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809750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007B7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7B76"/>
                </a:solidFill>
                <a:latin typeface="Arial"/>
                <a:ea typeface="Arial"/>
                <a:cs typeface="Arial"/>
              </a:rPr>
              <a:t>THEN: TEST THE ROUTINES</a:t>
            </a:r>
          </a:p>
        </p:txBody>
      </p:sp>
      <p:sp>
        <p:nvSpPr>
          <p:cNvPr id="25" name="methods-label-3">
            <a:extLst xmlns:a="http://schemas.openxmlformats.org/drawingml/2006/main">
              <a:ext uri="{FF2B5EF4-FFF2-40B4-BE49-F238E27FC236}">
                <a16:creationId xmlns:a16="http://schemas.microsoft.com/office/drawing/2014/main" id="{6F3CAFFB-5BBC-4D0F-9BB1-845B9308E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286000"/>
            <a:ext cx="219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526173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26173"/>
                </a:solidFill>
                <a:latin typeface="Arial"/>
                <a:ea typeface="Arial"/>
                <a:cs typeface="Arial"/>
              </a:rPr>
              <a:t>PASSWORD REMAINS WITHHELD</a:t>
            </a:r>
          </a:p>
        </p:txBody>
      </p:sp>
      <p:sp>
        <p:nvSpPr>
          <p:cNvPr id="26" name="methods-text-3">
            <a:extLst xmlns:a="http://schemas.openxmlformats.org/drawingml/2006/main">
              <a:ext uri="{FF2B5EF4-FFF2-40B4-BE49-F238E27FC236}">
                <a16:creationId xmlns:a16="http://schemas.microsoft.com/office/drawing/2014/main" id="{151317BE-F98D-4B2C-8CC1-08FCAA49D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571750"/>
            <a:ext cx="2952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32238"/>
                </a:solidFill>
                <a:latin typeface="Arial"/>
                <a:ea typeface="Arial"/>
                <a:cs typeface="Arial"/>
              </a:rPr>
              <a:t>Run prompts, tools, red teaming, or tuning against the validated control.</a:t>
            </a:r>
          </a:p>
        </p:txBody>
      </p:sp>
      <p:sp>
        <p:nvSpPr>
          <p:cNvPr id="27" name="access-divider-3">
            <a:extLst xmlns:a="http://schemas.openxmlformats.org/drawingml/2006/main">
              <a:ext uri="{FF2B5EF4-FFF2-40B4-BE49-F238E27FC236}">
                <a16:creationId xmlns:a16="http://schemas.microsoft.com/office/drawing/2014/main" id="{44635EF6-2F80-4CFB-874E-A56B33E8C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486150"/>
            <a:ext cx="29527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8" name="measures-label-3">
            <a:extLst xmlns:a="http://schemas.openxmlformats.org/drawingml/2006/main">
              <a:ext uri="{FF2B5EF4-FFF2-40B4-BE49-F238E27FC236}">
                <a16:creationId xmlns:a16="http://schemas.microsoft.com/office/drawing/2014/main" id="{8BEA7902-644B-4252-8D56-DCB69ACD6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714750"/>
            <a:ext cx="219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526173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26173"/>
                </a:solidFill>
                <a:latin typeface="Arial"/>
                <a:ea typeface="Arial"/>
                <a:cs typeface="Arial"/>
              </a:rPr>
              <a:t>INTERPRET THE RESULT</a:t>
            </a:r>
          </a:p>
        </p:txBody>
      </p:sp>
      <p:sp>
        <p:nvSpPr>
          <p:cNvPr id="29" name="measures-text-3">
            <a:extLst xmlns:a="http://schemas.openxmlformats.org/drawingml/2006/main">
              <a:ext uri="{FF2B5EF4-FFF2-40B4-BE49-F238E27FC236}">
                <a16:creationId xmlns:a16="http://schemas.microsoft.com/office/drawing/2014/main" id="{0B08AA0E-7C93-411C-9496-9B6213E92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019550"/>
            <a:ext cx="29527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32238"/>
                </a:solidFill>
                <a:latin typeface="Arial"/>
                <a:ea typeface="Arial"/>
                <a:cs typeface="Arial"/>
              </a:rPr>
              <a:t>Found: the routine can expose hidden capability.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32238"/>
                </a:solidFill>
                <a:latin typeface="Arial"/>
                <a:ea typeface="Arial"/>
                <a:cs typeface="Arial"/>
              </a:rPr>
              <a:t>Not found: the routine has not shown that it can.</a:t>
            </a:r>
          </a:p>
        </p:txBody>
      </p:sp>
      <p:sp>
        <p:nvSpPr>
          <p:cNvPr id="30" name="hosted-note">
            <a:extLst xmlns:a="http://schemas.openxmlformats.org/drawingml/2006/main">
              <a:ext uri="{FF2B5EF4-FFF2-40B4-BE49-F238E27FC236}">
                <a16:creationId xmlns:a16="http://schemas.microsoft.com/office/drawing/2014/main" id="{AAA853F6-F9CF-4F7E-8499-D474736A0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8640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007B7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7B76"/>
                </a:solidFill>
                <a:latin typeface="Arial"/>
                <a:ea typeface="Arial"/>
                <a:cs typeface="Arial"/>
              </a:rPr>
              <a:t>The first two cards validate one control model in two states. They are not elicitation results.</a:t>
            </a:r>
          </a:p>
        </p:txBody>
      </p:sp>
      <p:sp>
        <p:nvSpPr>
          <p:cNvPr id="31" name="lora-note">
            <a:extLst xmlns:a="http://schemas.openxmlformats.org/drawingml/2006/main">
              <a:ext uri="{FF2B5EF4-FFF2-40B4-BE49-F238E27FC236}">
                <a16:creationId xmlns:a16="http://schemas.microsoft.com/office/drawing/2014/main" id="{9775BAD7-6861-4334-909B-C62D8DBDF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1025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97630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976300"/>
                </a:solidFill>
                <a:latin typeface="Arial"/>
                <a:ea typeface="Arial"/>
                <a:cs typeface="Arial"/>
              </a:rPr>
              <a:t>Only the third card evaluates the elicitation routines, with the password withheld.</a:t>
            </a:r>
          </a:p>
        </p:txBody>
      </p:sp>
      <p:sp>
        <p:nvSpPr>
          <p:cNvPr id="33" name="page-number-v6">
            <a:extLst xmlns:a="http://schemas.openxmlformats.org/drawingml/2006/main">
              <a:ext uri="{FF2B5EF4-FFF2-40B4-BE49-F238E27FC236}">
                <a16:creationId xmlns:a16="http://schemas.microsoft.com/office/drawing/2014/main" id="{3B45B150-0BD8-4723-B2C9-FB5D11CAB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391275"/>
            <a:ext cx="990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>
                <a:solidFill>
                  <a:srgbClr val="6B7788"/>
                </a:solidFill>
                <a:latin typeface="Arial"/>
                <a:ea typeface="Arial"/>
                <a:cs typeface="Arial"/>
              </a:defRPr>
            </a:pPr>
            <a:r>
              <a:rPr sz="750">
                <a:solidFill>
                  <a:srgbClr val="6B7788"/>
                </a:solidFill>
                <a:latin typeface="Arial"/>
                <a:ea typeface="Arial"/>
                <a:cs typeface="Arial"/>
              </a:rPr>
              <a:t>15 / 18</a:t>
            </a:r>
          </a:p>
        </p:txBody>
      </p:sp>
    </p:spTree>
    <p:extLst>
      <p:ext uri="{BB962C8B-B14F-4D97-AF65-F5344CB8AC3E}">
        <p14:creationId xmlns:p14="http://schemas.microsoft.com/office/powerpoint/2010/main" val="1259492445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5F2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8" name="eyebrow">
            <a:extLst xmlns:a="http://schemas.openxmlformats.org/drawingml/2006/main">
              <a:ext uri="{FF2B5EF4-FFF2-40B4-BE49-F238E27FC236}">
                <a16:creationId xmlns:a16="http://schemas.microsoft.com/office/drawing/2014/main" id="{4DF0BDF3-FDDE-4743-ABA7-755C011F9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609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007B76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07B76"/>
                </a:solidFill>
                <a:latin typeface="Arial"/>
                <a:ea typeface="Arial"/>
                <a:cs typeface="Arial"/>
              </a:rPr>
              <a:t>APPENDIX | CORE EXPERIMENT V0.3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2AB5D2A-FE1D-48E1-9E70-C8A2A1B87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00" b="1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32238"/>
                </a:solidFill>
                <a:latin typeface="Arial"/>
                <a:ea typeface="Arial"/>
                <a:cs typeface="Arial"/>
              </a:rPr>
              <a:t>LoRA passed the core study's recovery and control-breadth bar.</a:t>
            </a:r>
          </a:p>
        </p:txBody>
      </p:sp>
      <p:sp>
        <p:nvSpPr>
          <p:cNvPr id="3" name="footer-mark">
            <a:extLst xmlns:a="http://schemas.openxmlformats.org/drawingml/2006/main">
              <a:ext uri="{FF2B5EF4-FFF2-40B4-BE49-F238E27FC236}">
                <a16:creationId xmlns:a16="http://schemas.microsoft.com/office/drawing/2014/main" id="{50B14E27-4898-4337-991F-7152A2FB9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29375"/>
            <a:ext cx="66675" cy="6667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008C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label">
            <a:extLst xmlns:a="http://schemas.openxmlformats.org/drawingml/2006/main">
              <a:ext uri="{FF2B5EF4-FFF2-40B4-BE49-F238E27FC236}">
                <a16:creationId xmlns:a16="http://schemas.microsoft.com/office/drawing/2014/main" id="{F732CD11-04F6-4979-90D0-B6BB1E56F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6391275"/>
            <a:ext cx="3143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0">
                <a:solidFill>
                  <a:srgbClr val="007B76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007B76"/>
                </a:solidFill>
                <a:latin typeface="Arial"/>
                <a:ea typeface="Arial"/>
                <a:cs typeface="Arial"/>
              </a:rPr>
              <a:t>EvalBracket • Internal discussion draft</a:t>
            </a:r>
          </a:p>
        </p:txBody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D2593E19-8139-4858-93FF-E1DED822D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91275"/>
            <a:ext cx="723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750" b="0">
                <a:solidFill>
                  <a:srgbClr val="708093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708093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6" name="s7-h-0-cell">
            <a:extLst xmlns:a="http://schemas.openxmlformats.org/drawingml/2006/main">
              <a:ext uri="{FF2B5EF4-FFF2-40B4-BE49-F238E27FC236}">
                <a16:creationId xmlns:a16="http://schemas.microsoft.com/office/drawing/2014/main" id="{1F3B102F-5E05-435F-9B32-134CF368E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81150"/>
            <a:ext cx="2571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7" name="s7-h-0-text">
            <a:extLst xmlns:a="http://schemas.openxmlformats.org/drawingml/2006/main">
              <a:ext uri="{FF2B5EF4-FFF2-40B4-BE49-F238E27FC236}">
                <a16:creationId xmlns:a16="http://schemas.microsoft.com/office/drawing/2014/main" id="{5F342582-47B0-47E4-82B4-FACAFF104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85925"/>
            <a:ext cx="2343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52617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26173"/>
                </a:solidFill>
                <a:latin typeface="Arial"/>
                <a:ea typeface="Arial"/>
                <a:cs typeface="Arial"/>
              </a:rPr>
              <a:t>TEST BATTERY</a:t>
            </a:r>
          </a:p>
        </p:txBody>
      </p:sp>
      <p:sp>
        <p:nvSpPr>
          <p:cNvPr id="8" name="s7-h-1-cell">
            <a:extLst xmlns:a="http://schemas.openxmlformats.org/drawingml/2006/main">
              <a:ext uri="{FF2B5EF4-FFF2-40B4-BE49-F238E27FC236}">
                <a16:creationId xmlns:a16="http://schemas.microsoft.com/office/drawing/2014/main" id="{4BBDC835-755D-49C0-A3FB-673A4E9E7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581150"/>
            <a:ext cx="209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9" name="s7-h-1-text">
            <a:extLst xmlns:a="http://schemas.openxmlformats.org/drawingml/2006/main">
              <a:ext uri="{FF2B5EF4-FFF2-40B4-BE49-F238E27FC236}">
                <a16:creationId xmlns:a16="http://schemas.microsoft.com/office/drawing/2014/main" id="{5896BCE8-B3CD-43DD-B290-B99B078C1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685925"/>
            <a:ext cx="1866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52617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26173"/>
                </a:solidFill>
                <a:latin typeface="Arial"/>
                <a:ea typeface="Arial"/>
                <a:cs typeface="Arial"/>
              </a:rPr>
              <a:t>HIDDEN CONTROLS IT FOUND</a:t>
            </a:r>
          </a:p>
        </p:txBody>
      </p:sp>
      <p:sp>
        <p:nvSpPr>
          <p:cNvPr id="10" name="s7-h-2-cell">
            <a:extLst xmlns:a="http://schemas.openxmlformats.org/drawingml/2006/main">
              <a:ext uri="{FF2B5EF4-FFF2-40B4-BE49-F238E27FC236}">
                <a16:creationId xmlns:a16="http://schemas.microsoft.com/office/drawing/2014/main" id="{B4ED6B5F-0065-4737-B564-7888937F3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1581150"/>
            <a:ext cx="2571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s7-h-2-text">
            <a:extLst xmlns:a="http://schemas.openxmlformats.org/drawingml/2006/main">
              <a:ext uri="{FF2B5EF4-FFF2-40B4-BE49-F238E27FC236}">
                <a16:creationId xmlns:a16="http://schemas.microsoft.com/office/drawing/2014/main" id="{D563F5D9-E092-44F6-91B8-8F21836CE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1685925"/>
            <a:ext cx="2343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52617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26173"/>
                </a:solidFill>
                <a:latin typeface="Arial"/>
                <a:ea typeface="Arial"/>
                <a:cs typeface="Arial"/>
              </a:rPr>
              <a:t>RECOVERY WE CAN COUNT ON</a:t>
            </a:r>
          </a:p>
        </p:txBody>
      </p:sp>
      <p:sp>
        <p:nvSpPr>
          <p:cNvPr id="12" name="s7-h-3-cell">
            <a:extLst xmlns:a="http://schemas.openxmlformats.org/drawingml/2006/main">
              <a:ext uri="{FF2B5EF4-FFF2-40B4-BE49-F238E27FC236}">
                <a16:creationId xmlns:a16="http://schemas.microsoft.com/office/drawing/2014/main" id="{03B3ACD8-144B-4C68-BC3D-2DCF6A97D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1581150"/>
            <a:ext cx="4038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3" name="s7-h-3-text">
            <a:extLst xmlns:a="http://schemas.openxmlformats.org/drawingml/2006/main">
              <a:ext uri="{FF2B5EF4-FFF2-40B4-BE49-F238E27FC236}">
                <a16:creationId xmlns:a16="http://schemas.microsoft.com/office/drawing/2014/main" id="{09AECA4F-E0FE-46D5-AC5A-FD031C393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685925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52617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26173"/>
                </a:solidFill>
                <a:latin typeface="Arial"/>
                <a:ea typeface="Arial"/>
                <a:cs typeface="Arial"/>
              </a:rPr>
              <a:t>DID IT PASS THE CORE STUDY'S BAR?</a:t>
            </a:r>
          </a:p>
        </p:txBody>
      </p:sp>
      <p:sp>
        <p:nvSpPr>
          <p:cNvPr id="14" name="s7-r0-c0-cell">
            <a:extLst xmlns:a="http://schemas.openxmlformats.org/drawingml/2006/main">
              <a:ext uri="{FF2B5EF4-FFF2-40B4-BE49-F238E27FC236}">
                <a16:creationId xmlns:a16="http://schemas.microsoft.com/office/drawing/2014/main" id="{FA31D1F1-22E0-471F-A061-44AA7E3B9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57400"/>
            <a:ext cx="2571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s7-r0-c0-text">
            <a:extLst xmlns:a="http://schemas.openxmlformats.org/drawingml/2006/main">
              <a:ext uri="{FF2B5EF4-FFF2-40B4-BE49-F238E27FC236}">
                <a16:creationId xmlns:a16="http://schemas.microsoft.com/office/drawing/2014/main" id="{7EFED36E-4B18-48DF-B45E-277461468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52650"/>
            <a:ext cx="2343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32238"/>
                </a:solidFill>
                <a:latin typeface="Arial"/>
                <a:ea typeface="Arial"/>
                <a:cs typeface="Arial"/>
              </a:rPr>
              <a:t>API: zero-shot +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32238"/>
                </a:solidFill>
                <a:latin typeface="Arial"/>
                <a:ea typeface="Arial"/>
                <a:cs typeface="Arial"/>
              </a:rPr>
              <a:t>3 context framings</a:t>
            </a:r>
          </a:p>
        </p:txBody>
      </p:sp>
      <p:sp>
        <p:nvSpPr>
          <p:cNvPr id="16" name="s7-r0-c1-cell">
            <a:extLst xmlns:a="http://schemas.openxmlformats.org/drawingml/2006/main">
              <a:ext uri="{FF2B5EF4-FFF2-40B4-BE49-F238E27FC236}">
                <a16:creationId xmlns:a16="http://schemas.microsoft.com/office/drawing/2014/main" id="{3AD150D6-3B9F-406C-95B5-09895FD9D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057400"/>
            <a:ext cx="2095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s7-r0-c1-text">
            <a:extLst xmlns:a="http://schemas.openxmlformats.org/drawingml/2006/main">
              <a:ext uri="{FF2B5EF4-FFF2-40B4-BE49-F238E27FC236}">
                <a16:creationId xmlns:a16="http://schemas.microsoft.com/office/drawing/2014/main" id="{E3A93259-5AE6-4C75-B820-EAF910954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152650"/>
            <a:ext cx="1866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32238"/>
                </a:solidFill>
                <a:latin typeface="Arial"/>
                <a:ea typeface="Arial"/>
                <a:cs typeface="Arial"/>
              </a:rPr>
              <a:t>3.6% to 12.1%</a:t>
            </a:r>
          </a:p>
        </p:txBody>
      </p:sp>
      <p:sp>
        <p:nvSpPr>
          <p:cNvPr id="18" name="s7-r0-c2-cell">
            <a:extLst xmlns:a="http://schemas.openxmlformats.org/drawingml/2006/main">
              <a:ext uri="{FF2B5EF4-FFF2-40B4-BE49-F238E27FC236}">
                <a16:creationId xmlns:a16="http://schemas.microsoft.com/office/drawing/2014/main" id="{81DEE87F-0BCA-43A9-B751-801705B0A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057400"/>
            <a:ext cx="2571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s7-r0-c2-text">
            <a:extLst xmlns:a="http://schemas.openxmlformats.org/drawingml/2006/main">
              <a:ext uri="{FF2B5EF4-FFF2-40B4-BE49-F238E27FC236}">
                <a16:creationId xmlns:a16="http://schemas.microsoft.com/office/drawing/2014/main" id="{05D16468-C820-4DEC-8685-0598BB5E7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152650"/>
            <a:ext cx="2343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B7385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73852"/>
                </a:solidFill>
                <a:latin typeface="Arial"/>
                <a:ea typeface="Arial"/>
                <a:cs typeface="Arial"/>
              </a:rPr>
              <a:t>0.6% to 4.2%</a:t>
            </a:r>
          </a:p>
        </p:txBody>
      </p:sp>
      <p:sp>
        <p:nvSpPr>
          <p:cNvPr id="20" name="s7-r0-c3-cell">
            <a:extLst xmlns:a="http://schemas.openxmlformats.org/drawingml/2006/main">
              <a:ext uri="{FF2B5EF4-FFF2-40B4-BE49-F238E27FC236}">
                <a16:creationId xmlns:a16="http://schemas.microsoft.com/office/drawing/2014/main" id="{460DC1F2-0DC4-4CE9-BE13-80A8CB03A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057400"/>
            <a:ext cx="4038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1" name="s7-r0-c3-text">
            <a:extLst xmlns:a="http://schemas.openxmlformats.org/drawingml/2006/main">
              <a:ext uri="{FF2B5EF4-FFF2-40B4-BE49-F238E27FC236}">
                <a16:creationId xmlns:a16="http://schemas.microsoft.com/office/drawing/2014/main" id="{C78BB011-A0E1-4866-BFEC-101327A4A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152650"/>
            <a:ext cx="3810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B7385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73852"/>
                </a:solidFill>
                <a:latin typeface="Arial"/>
                <a:ea typeface="Arial"/>
                <a:cs typeface="Arial"/>
              </a:rPr>
              <a:t>No</a:t>
            </a:r>
          </a:p>
        </p:txBody>
      </p:sp>
      <p:sp>
        <p:nvSpPr>
          <p:cNvPr id="22" name="s7-r1-c0-cell">
            <a:extLst xmlns:a="http://schemas.openxmlformats.org/drawingml/2006/main">
              <a:ext uri="{FF2B5EF4-FFF2-40B4-BE49-F238E27FC236}">
                <a16:creationId xmlns:a16="http://schemas.microsoft.com/office/drawing/2014/main" id="{B60E69A1-EFAA-4139-A8EF-0291A427F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00350"/>
            <a:ext cx="2571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3" name="s7-r1-c0-text">
            <a:extLst xmlns:a="http://schemas.openxmlformats.org/drawingml/2006/main">
              <a:ext uri="{FF2B5EF4-FFF2-40B4-BE49-F238E27FC236}">
                <a16:creationId xmlns:a16="http://schemas.microsoft.com/office/drawing/2014/main" id="{6B4F128A-9D71-4DD6-AF43-224782B3C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95600"/>
            <a:ext cx="2343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32238"/>
                </a:solidFill>
                <a:latin typeface="Arial"/>
                <a:ea typeface="Arial"/>
                <a:cs typeface="Arial"/>
              </a:rPr>
              <a:t>API: adds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32238"/>
                </a:solidFill>
                <a:latin typeface="Arial"/>
                <a:ea typeface="Arial"/>
                <a:cs typeface="Arial"/>
              </a:rPr>
              <a:t>1-shot and 5-shot</a:t>
            </a:r>
          </a:p>
        </p:txBody>
      </p:sp>
      <p:sp>
        <p:nvSpPr>
          <p:cNvPr id="24" name="s7-r1-c1-cell">
            <a:extLst xmlns:a="http://schemas.openxmlformats.org/drawingml/2006/main">
              <a:ext uri="{FF2B5EF4-FFF2-40B4-BE49-F238E27FC236}">
                <a16:creationId xmlns:a16="http://schemas.microsoft.com/office/drawing/2014/main" id="{5FC39912-527B-4367-BB54-B3A78A0E1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800350"/>
            <a:ext cx="2095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5" name="s7-r1-c1-text">
            <a:extLst xmlns:a="http://schemas.openxmlformats.org/drawingml/2006/main">
              <a:ext uri="{FF2B5EF4-FFF2-40B4-BE49-F238E27FC236}">
                <a16:creationId xmlns:a16="http://schemas.microsoft.com/office/drawing/2014/main" id="{D8EE6037-D6CE-4D77-B637-3BD9D79DB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895600"/>
            <a:ext cx="1866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32238"/>
                </a:solidFill>
                <a:latin typeface="Arial"/>
                <a:ea typeface="Arial"/>
                <a:cs typeface="Arial"/>
              </a:rPr>
              <a:t>39.4% to 48.1%</a:t>
            </a:r>
          </a:p>
        </p:txBody>
      </p:sp>
      <p:sp>
        <p:nvSpPr>
          <p:cNvPr id="26" name="s7-r1-c2-cell">
            <a:extLst xmlns:a="http://schemas.openxmlformats.org/drawingml/2006/main">
              <a:ext uri="{FF2B5EF4-FFF2-40B4-BE49-F238E27FC236}">
                <a16:creationId xmlns:a16="http://schemas.microsoft.com/office/drawing/2014/main" id="{62141AFF-AE26-46AE-8F7E-D35D828F2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800350"/>
            <a:ext cx="2571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s7-r1-c2-text">
            <a:extLst xmlns:a="http://schemas.openxmlformats.org/drawingml/2006/main">
              <a:ext uri="{FF2B5EF4-FFF2-40B4-BE49-F238E27FC236}">
                <a16:creationId xmlns:a16="http://schemas.microsoft.com/office/drawing/2014/main" id="{E84EA35C-F67E-46BE-9531-F9C9605DD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895600"/>
            <a:ext cx="2343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B7385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73852"/>
                </a:solidFill>
                <a:latin typeface="Arial"/>
                <a:ea typeface="Arial"/>
                <a:cs typeface="Arial"/>
              </a:rPr>
              <a:t>25.1% to 36.0%</a:t>
            </a:r>
          </a:p>
        </p:txBody>
      </p:sp>
      <p:sp>
        <p:nvSpPr>
          <p:cNvPr id="28" name="s7-r1-c3-cell">
            <a:extLst xmlns:a="http://schemas.openxmlformats.org/drawingml/2006/main">
              <a:ext uri="{FF2B5EF4-FFF2-40B4-BE49-F238E27FC236}">
                <a16:creationId xmlns:a16="http://schemas.microsoft.com/office/drawing/2014/main" id="{66E54168-62C1-4701-8A05-6F9CD7136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800350"/>
            <a:ext cx="4038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9" name="s7-r1-c3-text">
            <a:extLst xmlns:a="http://schemas.openxmlformats.org/drawingml/2006/main">
              <a:ext uri="{FF2B5EF4-FFF2-40B4-BE49-F238E27FC236}">
                <a16:creationId xmlns:a16="http://schemas.microsoft.com/office/drawing/2014/main" id="{26BE9782-3899-40AB-8240-EA6155342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895600"/>
            <a:ext cx="3810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B7385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73852"/>
                </a:solidFill>
                <a:latin typeface="Arial"/>
                <a:ea typeface="Arial"/>
                <a:cs typeface="Arial"/>
              </a:rPr>
              <a:t>No</a:t>
            </a:r>
          </a:p>
        </p:txBody>
      </p:sp>
      <p:sp>
        <p:nvSpPr>
          <p:cNvPr id="30" name="s7-r2-c0-cell">
            <a:extLst xmlns:a="http://schemas.openxmlformats.org/drawingml/2006/main">
              <a:ext uri="{FF2B5EF4-FFF2-40B4-BE49-F238E27FC236}">
                <a16:creationId xmlns:a16="http://schemas.microsoft.com/office/drawing/2014/main" id="{ADD1B36D-191D-49C3-BE5C-8C0998903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543300"/>
            <a:ext cx="2571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1" name="s7-r2-c0-text">
            <a:extLst xmlns:a="http://schemas.openxmlformats.org/drawingml/2006/main">
              <a:ext uri="{FF2B5EF4-FFF2-40B4-BE49-F238E27FC236}">
                <a16:creationId xmlns:a16="http://schemas.microsoft.com/office/drawing/2014/main" id="{BA9DB187-8545-428A-8FAA-A1B383A05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38550"/>
            <a:ext cx="2343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32238"/>
                </a:solidFill>
                <a:latin typeface="Arial"/>
                <a:ea typeface="Arial"/>
                <a:cs typeface="Arial"/>
              </a:rPr>
              <a:t>Weights: LoRA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32238"/>
                </a:solidFill>
                <a:latin typeface="Arial"/>
                <a:ea typeface="Arial"/>
                <a:cs typeface="Arial"/>
              </a:rPr>
              <a:t>through 32 steps</a:t>
            </a:r>
          </a:p>
        </p:txBody>
      </p:sp>
      <p:sp>
        <p:nvSpPr>
          <p:cNvPr id="32" name="s7-r2-c1-cell">
            <a:extLst xmlns:a="http://schemas.openxmlformats.org/drawingml/2006/main">
              <a:ext uri="{FF2B5EF4-FFF2-40B4-BE49-F238E27FC236}">
                <a16:creationId xmlns:a16="http://schemas.microsoft.com/office/drawing/2014/main" id="{A7F14733-6CBF-417C-87F2-7756AE604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543300"/>
            <a:ext cx="2095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3" name="s7-r2-c1-text">
            <a:extLst xmlns:a="http://schemas.openxmlformats.org/drawingml/2006/main">
              <a:ext uri="{FF2B5EF4-FFF2-40B4-BE49-F238E27FC236}">
                <a16:creationId xmlns:a16="http://schemas.microsoft.com/office/drawing/2014/main" id="{6B96ACD7-468C-466A-B4E3-D349FEF57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638550"/>
            <a:ext cx="1866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32238"/>
                </a:solidFill>
                <a:latin typeface="Arial"/>
                <a:ea typeface="Arial"/>
                <a:cs typeface="Arial"/>
              </a:rPr>
              <a:t>93.3% to 98.1%</a:t>
            </a:r>
          </a:p>
        </p:txBody>
      </p:sp>
      <p:sp>
        <p:nvSpPr>
          <p:cNvPr id="34" name="s7-r2-c2-cell">
            <a:extLst xmlns:a="http://schemas.openxmlformats.org/drawingml/2006/main">
              <a:ext uri="{FF2B5EF4-FFF2-40B4-BE49-F238E27FC236}">
                <a16:creationId xmlns:a16="http://schemas.microsoft.com/office/drawing/2014/main" id="{EBFF0890-5FA1-4171-935C-739AA5312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543300"/>
            <a:ext cx="2571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5" name="s7-r2-c2-text">
            <a:extLst xmlns:a="http://schemas.openxmlformats.org/drawingml/2006/main">
              <a:ext uri="{FF2B5EF4-FFF2-40B4-BE49-F238E27FC236}">
                <a16:creationId xmlns:a16="http://schemas.microsoft.com/office/drawing/2014/main" id="{BCF35924-6393-47FC-9359-7E2206DFE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638550"/>
            <a:ext cx="2343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087A5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87A58"/>
                </a:solidFill>
                <a:latin typeface="Arial"/>
                <a:ea typeface="Arial"/>
                <a:cs typeface="Arial"/>
              </a:rPr>
              <a:t>82.1% to 91.2%</a:t>
            </a:r>
          </a:p>
        </p:txBody>
      </p:sp>
      <p:sp>
        <p:nvSpPr>
          <p:cNvPr id="36" name="s7-r2-c3-cell">
            <a:extLst xmlns:a="http://schemas.openxmlformats.org/drawingml/2006/main">
              <a:ext uri="{FF2B5EF4-FFF2-40B4-BE49-F238E27FC236}">
                <a16:creationId xmlns:a16="http://schemas.microsoft.com/office/drawing/2014/main" id="{6DC84962-4307-4A80-92A5-A476DACAF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543300"/>
            <a:ext cx="4038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7" name="s7-r2-c3-text">
            <a:extLst xmlns:a="http://schemas.openxmlformats.org/drawingml/2006/main">
              <a:ext uri="{FF2B5EF4-FFF2-40B4-BE49-F238E27FC236}">
                <a16:creationId xmlns:a16="http://schemas.microsoft.com/office/drawing/2014/main" id="{ADE95A1A-3DB0-4FC8-8C9D-39DEEB219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638550"/>
            <a:ext cx="3810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087A5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87A58"/>
                </a:solidFill>
                <a:latin typeface="Arial"/>
                <a:ea typeface="Arial"/>
                <a:cs typeface="Arial"/>
              </a:rPr>
              <a:t>Yes</a:t>
            </a:r>
          </a:p>
        </p:txBody>
      </p:sp>
      <p:sp>
        <p:nvSpPr>
          <p:cNvPr id="38" name="s7-r3-c0-cell">
            <a:extLst xmlns:a="http://schemas.openxmlformats.org/drawingml/2006/main">
              <a:ext uri="{FF2B5EF4-FFF2-40B4-BE49-F238E27FC236}">
                <a16:creationId xmlns:a16="http://schemas.microsoft.com/office/drawing/2014/main" id="{3F3B5014-B17F-4CF8-921A-7665C2F20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86250"/>
            <a:ext cx="2571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9" name="s7-r3-c0-text">
            <a:extLst xmlns:a="http://schemas.openxmlformats.org/drawingml/2006/main">
              <a:ext uri="{FF2B5EF4-FFF2-40B4-BE49-F238E27FC236}">
                <a16:creationId xmlns:a16="http://schemas.microsoft.com/office/drawing/2014/main" id="{A49B73BB-529E-4521-9E7B-9382398A5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81500"/>
            <a:ext cx="2343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32238"/>
                </a:solidFill>
                <a:latin typeface="Arial"/>
                <a:ea typeface="Arial"/>
                <a:cs typeface="Arial"/>
              </a:rPr>
              <a:t>Weights: LoRA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32238"/>
                </a:solidFill>
                <a:latin typeface="Arial"/>
                <a:ea typeface="Arial"/>
                <a:cs typeface="Arial"/>
              </a:rPr>
              <a:t>through 128 / 256 steps</a:t>
            </a:r>
          </a:p>
        </p:txBody>
      </p:sp>
      <p:sp>
        <p:nvSpPr>
          <p:cNvPr id="40" name="s7-r3-c1-cell">
            <a:extLst xmlns:a="http://schemas.openxmlformats.org/drawingml/2006/main">
              <a:ext uri="{FF2B5EF4-FFF2-40B4-BE49-F238E27FC236}">
                <a16:creationId xmlns:a16="http://schemas.microsoft.com/office/drawing/2014/main" id="{B5E9DE1A-AC22-41DD-8748-EABE83904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4286250"/>
            <a:ext cx="2095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1" name="s7-r3-c1-text">
            <a:extLst xmlns:a="http://schemas.openxmlformats.org/drawingml/2006/main">
              <a:ext uri="{FF2B5EF4-FFF2-40B4-BE49-F238E27FC236}">
                <a16:creationId xmlns:a16="http://schemas.microsoft.com/office/drawing/2014/main" id="{CE65A79E-1D26-4C46-870C-28C144FB2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381500"/>
            <a:ext cx="1866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32238"/>
                </a:solidFill>
                <a:latin typeface="Arial"/>
                <a:ea typeface="Arial"/>
                <a:cs typeface="Arial"/>
              </a:rPr>
              <a:t>97.0% to 100%</a:t>
            </a:r>
          </a:p>
        </p:txBody>
      </p:sp>
      <p:sp>
        <p:nvSpPr>
          <p:cNvPr id="42" name="s7-r3-c2-cell">
            <a:extLst xmlns:a="http://schemas.openxmlformats.org/drawingml/2006/main">
              <a:ext uri="{FF2B5EF4-FFF2-40B4-BE49-F238E27FC236}">
                <a16:creationId xmlns:a16="http://schemas.microsoft.com/office/drawing/2014/main" id="{084FF250-0BD0-43D7-94A0-64ADE6FB0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4286250"/>
            <a:ext cx="2571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3" name="s7-r3-c2-text">
            <a:extLst xmlns:a="http://schemas.openxmlformats.org/drawingml/2006/main">
              <a:ext uri="{FF2B5EF4-FFF2-40B4-BE49-F238E27FC236}">
                <a16:creationId xmlns:a16="http://schemas.microsoft.com/office/drawing/2014/main" id="{014E5549-4CE6-435A-A355-AE1DE5593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381500"/>
            <a:ext cx="2343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087A5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87A58"/>
                </a:solidFill>
                <a:latin typeface="Arial"/>
                <a:ea typeface="Arial"/>
                <a:cs typeface="Arial"/>
              </a:rPr>
              <a:t>86.4% to 94.4%</a:t>
            </a:r>
          </a:p>
        </p:txBody>
      </p:sp>
      <p:sp>
        <p:nvSpPr>
          <p:cNvPr id="44" name="s7-r3-c3-cell">
            <a:extLst xmlns:a="http://schemas.openxmlformats.org/drawingml/2006/main">
              <a:ext uri="{FF2B5EF4-FFF2-40B4-BE49-F238E27FC236}">
                <a16:creationId xmlns:a16="http://schemas.microsoft.com/office/drawing/2014/main" id="{832AD6CD-72D1-442F-8CAF-BBF6D5955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286250"/>
            <a:ext cx="4038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5" name="s7-r3-c3-text">
            <a:extLst xmlns:a="http://schemas.openxmlformats.org/drawingml/2006/main">
              <a:ext uri="{FF2B5EF4-FFF2-40B4-BE49-F238E27FC236}">
                <a16:creationId xmlns:a16="http://schemas.microsoft.com/office/drawing/2014/main" id="{D2B96641-99DA-4E8D-92AA-94347D49B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381500"/>
            <a:ext cx="3810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087A5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87A58"/>
                </a:solidFill>
                <a:latin typeface="Arial"/>
                <a:ea typeface="Arial"/>
                <a:cs typeface="Arial"/>
              </a:rPr>
              <a:t>Yes</a:t>
            </a:r>
          </a:p>
        </p:txBody>
      </p:sp>
      <p:sp>
        <p:nvSpPr>
          <p:cNvPr id="46" name="upper-endpoint-bg">
            <a:extLst xmlns:a="http://schemas.openxmlformats.org/drawingml/2006/main">
              <a:ext uri="{FF2B5EF4-FFF2-40B4-BE49-F238E27FC236}">
                <a16:creationId xmlns:a16="http://schemas.microsoft.com/office/drawing/2014/main" id="{00FC2273-0B0E-4861-84D9-221EAB87C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62550"/>
            <a:ext cx="11277600" cy="876300"/>
          </a:xfrm>
          <a:prstGeom xmlns:a="http://schemas.openxmlformats.org/drawingml/2006/main" prst="roundRect">
            <a:avLst>
              <a:gd name="adj" fmla="val 1875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9BCDB8"/>
            </a:solidFill>
            <a:prstDash val="solid"/>
          </a:ln>
        </p:spPr>
      </p:sp>
      <p:sp>
        <p:nvSpPr>
          <p:cNvPr id="47" name="upper-endpoint-text">
            <a:extLst xmlns:a="http://schemas.openxmlformats.org/drawingml/2006/main">
              <a:ext uri="{FF2B5EF4-FFF2-40B4-BE49-F238E27FC236}">
                <a16:creationId xmlns:a16="http://schemas.microsoft.com/office/drawing/2014/main" id="{6B097527-6BBD-4609-938D-6E4C61351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132238"/>
                </a:solidFill>
                <a:latin typeface="Arial"/>
                <a:ea typeface="Arial"/>
                <a:cs typeface="Arial"/>
              </a:rPr>
              <a:t>MODELS: Qwen2.5-1.5B, Phi-3.5-mini, Mistral-7B-Instruct, SmolLM2-1.7B-Instruct, and TinyLlama-1.1B-Chat.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132238"/>
                </a:solidFill>
                <a:latin typeface="Arial"/>
                <a:ea typeface="Arial"/>
                <a:cs typeface="Arial"/>
              </a:rPr>
              <a:t>TASKS: MMLU computer security, MMLU college biology, SciQ, HellaSwag, and ARC Challenge. Three random seeds.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132238"/>
                </a:solidFill>
                <a:latin typeface="Arial"/>
                <a:ea typeface="Arial"/>
                <a:cs typeface="Arial"/>
              </a:rPr>
              <a:t>TESTS: API used six prompt conditions. Weight access used LoRA through 32, 128, or 256 steps.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132238"/>
                </a:solidFill>
                <a:latin typeface="Arial"/>
                <a:ea typeface="Arial"/>
                <a:cs typeface="Arial"/>
              </a:rPr>
              <a:t>CORE STUDY REQUIREMENT: Evidence had to support at least 80% recovery, plus model, task, dataset, and concealment breadth. V2 adds method-coverage, stopping, and capability-creation checks.</a:t>
            </a:r>
          </a:p>
        </p:txBody>
      </p:sp>
      <p:sp>
        <p:nvSpPr>
          <p:cNvPr id="49" name="experiment-setup-definition">
            <a:extLst xmlns:a="http://schemas.openxmlformats.org/drawingml/2006/main">
              <a:ext uri="{FF2B5EF4-FFF2-40B4-BE49-F238E27FC236}">
                <a16:creationId xmlns:a16="http://schemas.microsoft.com/office/drawing/2014/main" id="{F51AF174-0370-4F3D-B1F3-632BD6338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57300"/>
            <a:ext cx="11277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>
                <a:solidFill>
                  <a:srgbClr val="526173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26173"/>
                </a:solidFill>
                <a:latin typeface="Arial"/>
                <a:ea typeface="Arial"/>
                <a:cs typeface="Arial"/>
              </a:rPr>
              <a:t>Core study v0.3: each target model family used controls from the other families. The table shows the range across target families.</a:t>
            </a:r>
          </a:p>
        </p:txBody>
      </p:sp>
      <p:sp>
        <p:nvSpPr>
          <p:cNvPr id="50" name="page-number-v6">
            <a:extLst xmlns:a="http://schemas.openxmlformats.org/drawingml/2006/main">
              <a:ext uri="{FF2B5EF4-FFF2-40B4-BE49-F238E27FC236}">
                <a16:creationId xmlns:a16="http://schemas.microsoft.com/office/drawing/2014/main" id="{6BB59431-6866-4C2C-BF7F-4C7379500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391275"/>
            <a:ext cx="990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>
                <a:solidFill>
                  <a:srgbClr val="6B7788"/>
                </a:solidFill>
                <a:latin typeface="Arial"/>
                <a:ea typeface="Arial"/>
                <a:cs typeface="Arial"/>
              </a:defRPr>
            </a:pPr>
            <a:r>
              <a:rPr sz="750">
                <a:solidFill>
                  <a:srgbClr val="6B7788"/>
                </a:solidFill>
                <a:latin typeface="Arial"/>
                <a:ea typeface="Arial"/>
                <a:cs typeface="Arial"/>
              </a:rPr>
              <a:t>16 / 18</a:t>
            </a:r>
          </a:p>
        </p:txBody>
      </p:sp>
    </p:spTree>
    <p:extLst>
      <p:ext uri="{BB962C8B-B14F-4D97-AF65-F5344CB8AC3E}">
        <p14:creationId xmlns:p14="http://schemas.microsoft.com/office/powerpoint/2010/main" val="11596436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5F2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8" name="eyebrow">
            <a:extLst xmlns:a="http://schemas.openxmlformats.org/drawingml/2006/main">
              <a:ext uri="{FF2B5EF4-FFF2-40B4-BE49-F238E27FC236}">
                <a16:creationId xmlns:a16="http://schemas.microsoft.com/office/drawing/2014/main" id="{900FE6C7-8225-40A0-9B14-36B577E31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609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007B76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07B76"/>
                </a:solidFill>
                <a:latin typeface="Arial"/>
                <a:ea typeface="Arial"/>
                <a:cs typeface="Arial"/>
              </a:rPr>
              <a:t>APPENDIX | DECISION RESULTS ON BENIGN PROXIES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CF4B9C9-AFEF-47B0-8CE2-FC42E1AA7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00" b="1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32238"/>
                </a:solidFill>
                <a:latin typeface="Arial"/>
                <a:ea typeface="Arial"/>
                <a:cs typeface="Arial"/>
              </a:rPr>
              <a:t>Qualification changed the conclusion in this proxy study.</a:t>
            </a:r>
          </a:p>
        </p:txBody>
      </p:sp>
      <p:sp>
        <p:nvSpPr>
          <p:cNvPr id="3" name="footer-mark">
            <a:extLst xmlns:a="http://schemas.openxmlformats.org/drawingml/2006/main">
              <a:ext uri="{FF2B5EF4-FFF2-40B4-BE49-F238E27FC236}">
                <a16:creationId xmlns:a16="http://schemas.microsoft.com/office/drawing/2014/main" id="{C4C44F19-A2F8-49C5-B9E1-669AAB96E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29375"/>
            <a:ext cx="66675" cy="6667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008C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label">
            <a:extLst xmlns:a="http://schemas.openxmlformats.org/drawingml/2006/main">
              <a:ext uri="{FF2B5EF4-FFF2-40B4-BE49-F238E27FC236}">
                <a16:creationId xmlns:a16="http://schemas.microsoft.com/office/drawing/2014/main" id="{FB3464F8-67C0-4308-AB58-F7CA0F451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6391275"/>
            <a:ext cx="3143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0">
                <a:solidFill>
                  <a:srgbClr val="007B76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007B76"/>
                </a:solidFill>
                <a:latin typeface="Arial"/>
                <a:ea typeface="Arial"/>
                <a:cs typeface="Arial"/>
              </a:rPr>
              <a:t>EvalBracket • Internal discussion draft</a:t>
            </a:r>
          </a:p>
        </p:txBody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BAC90365-8AC9-4977-8B1F-AC5D627BF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91275"/>
            <a:ext cx="723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750" b="0">
                <a:solidFill>
                  <a:srgbClr val="708093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708093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6" name="s9-h-0-cell">
            <a:extLst xmlns:a="http://schemas.openxmlformats.org/drawingml/2006/main">
              <a:ext uri="{FF2B5EF4-FFF2-40B4-BE49-F238E27FC236}">
                <a16:creationId xmlns:a16="http://schemas.microsoft.com/office/drawing/2014/main" id="{B7B63709-96A1-42A8-A14F-8E04D7E6D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28750"/>
            <a:ext cx="200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7" name="s9-h-0-text">
            <a:extLst xmlns:a="http://schemas.openxmlformats.org/drawingml/2006/main">
              <a:ext uri="{FF2B5EF4-FFF2-40B4-BE49-F238E27FC236}">
                <a16:creationId xmlns:a16="http://schemas.microsoft.com/office/drawing/2014/main" id="{1EB973D4-F02F-4C21-85BD-16BBAD207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24000"/>
            <a:ext cx="1771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52617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26173"/>
                </a:solidFill>
                <a:latin typeface="Arial"/>
                <a:ea typeface="Arial"/>
                <a:cs typeface="Arial"/>
              </a:rPr>
              <a:t>EVALUATION APPROACH</a:t>
            </a:r>
          </a:p>
        </p:txBody>
      </p:sp>
      <p:sp>
        <p:nvSpPr>
          <p:cNvPr id="8" name="s9-h-1-cell">
            <a:extLst xmlns:a="http://schemas.openxmlformats.org/drawingml/2006/main">
              <a:ext uri="{FF2B5EF4-FFF2-40B4-BE49-F238E27FC236}">
                <a16:creationId xmlns:a16="http://schemas.microsoft.com/office/drawing/2014/main" id="{6AD6DA97-DF59-4921-85E0-A367FE768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1428750"/>
            <a:ext cx="2190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9" name="s9-h-1-text">
            <a:extLst xmlns:a="http://schemas.openxmlformats.org/drawingml/2006/main">
              <a:ext uri="{FF2B5EF4-FFF2-40B4-BE49-F238E27FC236}">
                <a16:creationId xmlns:a16="http://schemas.microsoft.com/office/drawing/2014/main" id="{B76A3FE4-EADE-4ED4-BB8B-E70F09E07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1524000"/>
            <a:ext cx="1962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52617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26173"/>
                </a:solidFill>
                <a:latin typeface="Arial"/>
                <a:ea typeface="Arial"/>
                <a:cs typeface="Arial"/>
              </a:rPr>
              <a:t>HIDDEN CASES MISLABELED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52617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26173"/>
                </a:solidFill>
                <a:latin typeface="Arial"/>
                <a:ea typeface="Arial"/>
                <a:cs typeface="Arial"/>
              </a:rPr>
              <a:t>BELOW THRESHOLD (n=62)</a:t>
            </a:r>
          </a:p>
        </p:txBody>
      </p:sp>
      <p:sp>
        <p:nvSpPr>
          <p:cNvPr id="10" name="s9-h-2-cell">
            <a:extLst xmlns:a="http://schemas.openxmlformats.org/drawingml/2006/main">
              <a:ext uri="{FF2B5EF4-FFF2-40B4-BE49-F238E27FC236}">
                <a16:creationId xmlns:a16="http://schemas.microsoft.com/office/drawing/2014/main" id="{B145C3D4-BD65-4265-805B-71B5EEF23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428750"/>
            <a:ext cx="2190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s9-h-2-text">
            <a:extLst xmlns:a="http://schemas.openxmlformats.org/drawingml/2006/main">
              <a:ext uri="{FF2B5EF4-FFF2-40B4-BE49-F238E27FC236}">
                <a16:creationId xmlns:a16="http://schemas.microsoft.com/office/drawing/2014/main" id="{62A6A002-937C-4EE2-9562-4C38A2437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24000"/>
            <a:ext cx="1962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52617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26173"/>
                </a:solidFill>
                <a:latin typeface="Arial"/>
                <a:ea typeface="Arial"/>
                <a:cs typeface="Arial"/>
              </a:rPr>
              <a:t>GENUINE NEGATIVES CORRECTLY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52617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26173"/>
                </a:solidFill>
                <a:latin typeface="Arial"/>
                <a:ea typeface="Arial"/>
                <a:cs typeface="Arial"/>
              </a:rPr>
              <a:t>KEPT BELOW (n=22)</a:t>
            </a:r>
          </a:p>
        </p:txBody>
      </p:sp>
      <p:sp>
        <p:nvSpPr>
          <p:cNvPr id="12" name="s9-h-3-cell">
            <a:extLst xmlns:a="http://schemas.openxmlformats.org/drawingml/2006/main">
              <a:ext uri="{FF2B5EF4-FFF2-40B4-BE49-F238E27FC236}">
                <a16:creationId xmlns:a16="http://schemas.microsoft.com/office/drawing/2014/main" id="{72390134-5681-4EA5-B35C-029D13F63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1428750"/>
            <a:ext cx="4895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3" name="s9-h-3-text">
            <a:extLst xmlns:a="http://schemas.openxmlformats.org/drawingml/2006/main">
              <a:ext uri="{FF2B5EF4-FFF2-40B4-BE49-F238E27FC236}">
                <a16:creationId xmlns:a16="http://schemas.microsoft.com/office/drawing/2014/main" id="{3EA53F84-1A19-4C51-8A84-93EC29467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524000"/>
            <a:ext cx="466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52617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26173"/>
                </a:solidFill>
                <a:latin typeface="Arial"/>
                <a:ea typeface="Arial"/>
                <a:cs typeface="Arial"/>
              </a:rPr>
              <a:t>WHAT THE RESULT MEANS</a:t>
            </a:r>
          </a:p>
        </p:txBody>
      </p:sp>
      <p:sp>
        <p:nvSpPr>
          <p:cNvPr id="14" name="s9-r0-c0-cell">
            <a:extLst xmlns:a="http://schemas.openxmlformats.org/drawingml/2006/main">
              <a:ext uri="{FF2B5EF4-FFF2-40B4-BE49-F238E27FC236}">
                <a16:creationId xmlns:a16="http://schemas.microsoft.com/office/drawing/2014/main" id="{B43D9C8E-BAC2-47E4-A442-4D0B6600A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05000"/>
            <a:ext cx="2000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s9-r0-c0-text">
            <a:extLst xmlns:a="http://schemas.openxmlformats.org/drawingml/2006/main">
              <a:ext uri="{FF2B5EF4-FFF2-40B4-BE49-F238E27FC236}">
                <a16:creationId xmlns:a16="http://schemas.microsoft.com/office/drawing/2014/main" id="{19FFCC6D-DA3A-47F2-A185-A9CDA61D4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00250"/>
            <a:ext cx="17716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32238"/>
                </a:solidFill>
                <a:latin typeface="Arial"/>
                <a:ea typeface="Arial"/>
                <a:cs typeface="Arial"/>
              </a:rPr>
              <a:t>Concealed zero-shot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32238"/>
                </a:solidFill>
                <a:latin typeface="Arial"/>
                <a:ea typeface="Arial"/>
                <a:cs typeface="Arial"/>
              </a:rPr>
              <a:t>score</a:t>
            </a:r>
          </a:p>
        </p:txBody>
      </p:sp>
      <p:sp>
        <p:nvSpPr>
          <p:cNvPr id="16" name="s9-r0-c1-cell">
            <a:extLst xmlns:a="http://schemas.openxmlformats.org/drawingml/2006/main">
              <a:ext uri="{FF2B5EF4-FFF2-40B4-BE49-F238E27FC236}">
                <a16:creationId xmlns:a16="http://schemas.microsoft.com/office/drawing/2014/main" id="{BD7C3E7B-E86C-4E0D-92A9-063EFA0AB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1905000"/>
            <a:ext cx="2190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s9-r0-c1-text">
            <a:extLst xmlns:a="http://schemas.openxmlformats.org/drawingml/2006/main">
              <a:ext uri="{FF2B5EF4-FFF2-40B4-BE49-F238E27FC236}">
                <a16:creationId xmlns:a16="http://schemas.microsoft.com/office/drawing/2014/main" id="{7E157ADD-9EBC-49CC-9352-185B130B5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000250"/>
            <a:ext cx="19621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B7385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73852"/>
                </a:solidFill>
                <a:latin typeface="Arial"/>
                <a:ea typeface="Arial"/>
                <a:cs typeface="Arial"/>
              </a:rPr>
              <a:t>100%</a:t>
            </a:r>
          </a:p>
        </p:txBody>
      </p:sp>
      <p:sp>
        <p:nvSpPr>
          <p:cNvPr id="18" name="s9-r0-c2-cell">
            <a:extLst xmlns:a="http://schemas.openxmlformats.org/drawingml/2006/main">
              <a:ext uri="{FF2B5EF4-FFF2-40B4-BE49-F238E27FC236}">
                <a16:creationId xmlns:a16="http://schemas.microsoft.com/office/drawing/2014/main" id="{7ECF68A5-EC99-4846-A4B0-6EE0DC43A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905000"/>
            <a:ext cx="2190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s9-r0-c2-text">
            <a:extLst xmlns:a="http://schemas.openxmlformats.org/drawingml/2006/main">
              <a:ext uri="{FF2B5EF4-FFF2-40B4-BE49-F238E27FC236}">
                <a16:creationId xmlns:a16="http://schemas.microsoft.com/office/drawing/2014/main" id="{2933DE9D-BAED-4284-A483-743CA9E8A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000250"/>
            <a:ext cx="19621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087A5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87A58"/>
                </a:solidFill>
                <a:latin typeface="Arial"/>
                <a:ea typeface="Arial"/>
                <a:cs typeface="Arial"/>
              </a:rPr>
              <a:t>100%</a:t>
            </a:r>
          </a:p>
        </p:txBody>
      </p:sp>
      <p:sp>
        <p:nvSpPr>
          <p:cNvPr id="20" name="s9-r0-c3-cell">
            <a:extLst xmlns:a="http://schemas.openxmlformats.org/drawingml/2006/main">
              <a:ext uri="{FF2B5EF4-FFF2-40B4-BE49-F238E27FC236}">
                <a16:creationId xmlns:a16="http://schemas.microsoft.com/office/drawing/2014/main" id="{C87BB9E1-8C7A-4421-B1ED-5A90AACD3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1905000"/>
            <a:ext cx="48958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1" name="s9-r0-c3-text">
            <a:extLst xmlns:a="http://schemas.openxmlformats.org/drawingml/2006/main">
              <a:ext uri="{FF2B5EF4-FFF2-40B4-BE49-F238E27FC236}">
                <a16:creationId xmlns:a16="http://schemas.microsoft.com/office/drawing/2014/main" id="{D4D92F60-45D3-4EB8-A89B-10646739E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000250"/>
            <a:ext cx="4667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32238"/>
                </a:solidFill>
                <a:latin typeface="Arial"/>
                <a:ea typeface="Arial"/>
                <a:cs typeface="Arial"/>
              </a:rPr>
              <a:t>All 62 hidden cases were missed. All 22 genuine negatives were called below threshold.</a:t>
            </a:r>
          </a:p>
        </p:txBody>
      </p:sp>
      <p:sp>
        <p:nvSpPr>
          <p:cNvPr id="22" name="s9-r1-c0-cell">
            <a:extLst xmlns:a="http://schemas.openxmlformats.org/drawingml/2006/main">
              <a:ext uri="{FF2B5EF4-FFF2-40B4-BE49-F238E27FC236}">
                <a16:creationId xmlns:a16="http://schemas.microsoft.com/office/drawing/2014/main" id="{E4FBD36D-E995-4E28-B06B-B7AF76DED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86050"/>
            <a:ext cx="2000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3" name="s9-r1-c0-text">
            <a:extLst xmlns:a="http://schemas.openxmlformats.org/drawingml/2006/main">
              <a:ext uri="{FF2B5EF4-FFF2-40B4-BE49-F238E27FC236}">
                <a16:creationId xmlns:a16="http://schemas.microsoft.com/office/drawing/2014/main" id="{54CBB67A-388C-42D1-A9F7-9B0800A7F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781300"/>
            <a:ext cx="17716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32238"/>
                </a:solidFill>
                <a:latin typeface="Arial"/>
                <a:ea typeface="Arial"/>
                <a:cs typeface="Arial"/>
              </a:rPr>
              <a:t>Six API prompt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32238"/>
                </a:solidFill>
                <a:latin typeface="Arial"/>
                <a:ea typeface="Arial"/>
                <a:cs typeface="Arial"/>
              </a:rPr>
              <a:t>routines</a:t>
            </a:r>
          </a:p>
        </p:txBody>
      </p:sp>
      <p:sp>
        <p:nvSpPr>
          <p:cNvPr id="24" name="s9-r1-c1-cell">
            <a:extLst xmlns:a="http://schemas.openxmlformats.org/drawingml/2006/main">
              <a:ext uri="{FF2B5EF4-FFF2-40B4-BE49-F238E27FC236}">
                <a16:creationId xmlns:a16="http://schemas.microsoft.com/office/drawing/2014/main" id="{A289D5DE-084B-4A27-B0E3-F7495AB8B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686050"/>
            <a:ext cx="2190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5" name="s9-r1-c1-text">
            <a:extLst xmlns:a="http://schemas.openxmlformats.org/drawingml/2006/main">
              <a:ext uri="{FF2B5EF4-FFF2-40B4-BE49-F238E27FC236}">
                <a16:creationId xmlns:a16="http://schemas.microsoft.com/office/drawing/2014/main" id="{B3E8C415-1CBF-4785-8A7B-8B3301FEA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781300"/>
            <a:ext cx="19621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B7385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73852"/>
                </a:solidFill>
                <a:latin typeface="Arial"/>
                <a:ea typeface="Arial"/>
                <a:cs typeface="Arial"/>
              </a:rPr>
              <a:t>54.8%</a:t>
            </a:r>
          </a:p>
        </p:txBody>
      </p:sp>
      <p:sp>
        <p:nvSpPr>
          <p:cNvPr id="26" name="s9-r1-c2-cell">
            <a:extLst xmlns:a="http://schemas.openxmlformats.org/drawingml/2006/main">
              <a:ext uri="{FF2B5EF4-FFF2-40B4-BE49-F238E27FC236}">
                <a16:creationId xmlns:a16="http://schemas.microsoft.com/office/drawing/2014/main" id="{0BC25035-02C9-4950-8040-6DC716169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686050"/>
            <a:ext cx="2190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s9-r1-c2-text">
            <a:extLst xmlns:a="http://schemas.openxmlformats.org/drawingml/2006/main">
              <a:ext uri="{FF2B5EF4-FFF2-40B4-BE49-F238E27FC236}">
                <a16:creationId xmlns:a16="http://schemas.microsoft.com/office/drawing/2014/main" id="{D32A72B4-9433-41CF-AE03-81228D6E0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781300"/>
            <a:ext cx="19621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087A5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87A58"/>
                </a:solidFill>
                <a:latin typeface="Arial"/>
                <a:ea typeface="Arial"/>
                <a:cs typeface="Arial"/>
              </a:rPr>
              <a:t>100%</a:t>
            </a:r>
          </a:p>
        </p:txBody>
      </p:sp>
      <p:sp>
        <p:nvSpPr>
          <p:cNvPr id="28" name="s9-r1-c3-cell">
            <a:extLst xmlns:a="http://schemas.openxmlformats.org/drawingml/2006/main">
              <a:ext uri="{FF2B5EF4-FFF2-40B4-BE49-F238E27FC236}">
                <a16:creationId xmlns:a16="http://schemas.microsoft.com/office/drawing/2014/main" id="{4C0033CB-0BEC-4B89-B8A4-DF154601B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686050"/>
            <a:ext cx="48958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9" name="s9-r1-c3-text">
            <a:extLst xmlns:a="http://schemas.openxmlformats.org/drawingml/2006/main">
              <a:ext uri="{FF2B5EF4-FFF2-40B4-BE49-F238E27FC236}">
                <a16:creationId xmlns:a16="http://schemas.microsoft.com/office/drawing/2014/main" id="{024714F0-1379-4FB8-BF43-C155D4744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781300"/>
            <a:ext cx="4667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32238"/>
                </a:solidFill>
                <a:latin typeface="Arial"/>
                <a:ea typeface="Arial"/>
                <a:cs typeface="Arial"/>
              </a:rPr>
              <a:t>Missed 34 of 62 hidden cases. All 22 genuine negatives were called below threshold.</a:t>
            </a:r>
          </a:p>
        </p:txBody>
      </p:sp>
      <p:sp>
        <p:nvSpPr>
          <p:cNvPr id="30" name="s9-r2-c0-cell">
            <a:extLst xmlns:a="http://schemas.openxmlformats.org/drawingml/2006/main">
              <a:ext uri="{FF2B5EF4-FFF2-40B4-BE49-F238E27FC236}">
                <a16:creationId xmlns:a16="http://schemas.microsoft.com/office/drawing/2014/main" id="{FF0A45A0-F214-4D53-B212-B9DB8A399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67100"/>
            <a:ext cx="2000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1" name="s9-r2-c0-text">
            <a:extLst xmlns:a="http://schemas.openxmlformats.org/drawingml/2006/main">
              <a:ext uri="{FF2B5EF4-FFF2-40B4-BE49-F238E27FC236}">
                <a16:creationId xmlns:a16="http://schemas.microsoft.com/office/drawing/2014/main" id="{4041417E-8057-474A-ADB4-731B54514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562350"/>
            <a:ext cx="17716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32238"/>
                </a:solidFill>
                <a:latin typeface="Arial"/>
                <a:ea typeface="Arial"/>
                <a:cs typeface="Arial"/>
              </a:rPr>
              <a:t>EvalBracket with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32238"/>
                </a:solidFill>
                <a:latin typeface="Arial"/>
                <a:ea typeface="Arial"/>
                <a:cs typeface="Arial"/>
              </a:rPr>
              <a:t>the same API routines</a:t>
            </a:r>
          </a:p>
        </p:txBody>
      </p:sp>
      <p:sp>
        <p:nvSpPr>
          <p:cNvPr id="32" name="s9-r2-c1-cell">
            <a:extLst xmlns:a="http://schemas.openxmlformats.org/drawingml/2006/main">
              <a:ext uri="{FF2B5EF4-FFF2-40B4-BE49-F238E27FC236}">
                <a16:creationId xmlns:a16="http://schemas.microsoft.com/office/drawing/2014/main" id="{0BA7D606-F459-4B9D-BF56-E9F908304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467100"/>
            <a:ext cx="2190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3" name="s9-r2-c1-text">
            <a:extLst xmlns:a="http://schemas.openxmlformats.org/drawingml/2006/main">
              <a:ext uri="{FF2B5EF4-FFF2-40B4-BE49-F238E27FC236}">
                <a16:creationId xmlns:a16="http://schemas.microsoft.com/office/drawing/2014/main" id="{D6D3FEBD-9E31-4C50-ADAE-8BA09A8AA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562350"/>
            <a:ext cx="19621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B7385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73852"/>
                </a:solidFill>
                <a:latin typeface="Arial"/>
                <a:ea typeface="Arial"/>
                <a:cs typeface="Arial"/>
              </a:rPr>
              <a:t>0%</a:t>
            </a:r>
          </a:p>
        </p:txBody>
      </p:sp>
      <p:sp>
        <p:nvSpPr>
          <p:cNvPr id="34" name="s9-r2-c2-cell">
            <a:extLst xmlns:a="http://schemas.openxmlformats.org/drawingml/2006/main">
              <a:ext uri="{FF2B5EF4-FFF2-40B4-BE49-F238E27FC236}">
                <a16:creationId xmlns:a16="http://schemas.microsoft.com/office/drawing/2014/main" id="{9C3F18B1-4633-4E33-B321-602A59791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467100"/>
            <a:ext cx="2190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5" name="s9-r2-c2-text">
            <a:extLst xmlns:a="http://schemas.openxmlformats.org/drawingml/2006/main">
              <a:ext uri="{FF2B5EF4-FFF2-40B4-BE49-F238E27FC236}">
                <a16:creationId xmlns:a16="http://schemas.microsoft.com/office/drawing/2014/main" id="{BAE7F345-3CB5-4ABD-ADC4-453AFF3C8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562350"/>
            <a:ext cx="19621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087A5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87A58"/>
                </a:solidFill>
                <a:latin typeface="Arial"/>
                <a:ea typeface="Arial"/>
                <a:cs typeface="Arial"/>
              </a:rPr>
              <a:t>0%</a:t>
            </a:r>
          </a:p>
        </p:txBody>
      </p:sp>
      <p:sp>
        <p:nvSpPr>
          <p:cNvPr id="36" name="s9-r2-c3-cell">
            <a:extLst xmlns:a="http://schemas.openxmlformats.org/drawingml/2006/main">
              <a:ext uri="{FF2B5EF4-FFF2-40B4-BE49-F238E27FC236}">
                <a16:creationId xmlns:a16="http://schemas.microsoft.com/office/drawing/2014/main" id="{4A2332DF-3C3D-421A-A127-08F94A951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467100"/>
            <a:ext cx="48958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7" name="s9-r2-c3-text">
            <a:extLst xmlns:a="http://schemas.openxmlformats.org/drawingml/2006/main">
              <a:ext uri="{FF2B5EF4-FFF2-40B4-BE49-F238E27FC236}">
                <a16:creationId xmlns:a16="http://schemas.microsoft.com/office/drawing/2014/main" id="{E453CDD4-CED1-4128-B9F2-87694D795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562350"/>
            <a:ext cx="4667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32238"/>
                </a:solidFill>
                <a:latin typeface="Arial"/>
                <a:ea typeface="Arial"/>
                <a:cs typeface="Arial"/>
              </a:rPr>
              <a:t>API routines failed qualification, so EvalBracket made no below-threshold claims.</a:t>
            </a:r>
          </a:p>
        </p:txBody>
      </p:sp>
      <p:sp>
        <p:nvSpPr>
          <p:cNvPr id="38" name="s9-r3-c0-cell">
            <a:extLst xmlns:a="http://schemas.openxmlformats.org/drawingml/2006/main">
              <a:ext uri="{FF2B5EF4-FFF2-40B4-BE49-F238E27FC236}">
                <a16:creationId xmlns:a16="http://schemas.microsoft.com/office/drawing/2014/main" id="{876B1709-0241-4C07-922F-8B2ADF832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48150"/>
            <a:ext cx="2000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9" name="s9-r3-c0-text">
            <a:extLst xmlns:a="http://schemas.openxmlformats.org/drawingml/2006/main">
              <a:ext uri="{FF2B5EF4-FFF2-40B4-BE49-F238E27FC236}">
                <a16:creationId xmlns:a16="http://schemas.microsoft.com/office/drawing/2014/main" id="{7755EBEE-A15B-4B98-A4C2-F465A83E8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43400"/>
            <a:ext cx="17716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32238"/>
                </a:solidFill>
                <a:latin typeface="Arial"/>
                <a:ea typeface="Arial"/>
                <a:cs typeface="Arial"/>
              </a:rPr>
              <a:t>EvalBracket with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32238"/>
                </a:solidFill>
                <a:latin typeface="Arial"/>
                <a:ea typeface="Arial"/>
                <a:cs typeface="Arial"/>
              </a:rPr>
              <a:t>LoRA at 128 / 256</a:t>
            </a:r>
          </a:p>
        </p:txBody>
      </p:sp>
      <p:sp>
        <p:nvSpPr>
          <p:cNvPr id="40" name="s9-r3-c1-cell">
            <a:extLst xmlns:a="http://schemas.openxmlformats.org/drawingml/2006/main">
              <a:ext uri="{FF2B5EF4-FFF2-40B4-BE49-F238E27FC236}">
                <a16:creationId xmlns:a16="http://schemas.microsoft.com/office/drawing/2014/main" id="{A57F1D89-59E5-41DD-BCFC-3D19EB017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248150"/>
            <a:ext cx="2190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1" name="s9-r3-c1-text">
            <a:extLst xmlns:a="http://schemas.openxmlformats.org/drawingml/2006/main">
              <a:ext uri="{FF2B5EF4-FFF2-40B4-BE49-F238E27FC236}">
                <a16:creationId xmlns:a16="http://schemas.microsoft.com/office/drawing/2014/main" id="{6EC458EB-0DC4-4FED-BA7F-9A5D90ECB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343400"/>
            <a:ext cx="19621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B7385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73852"/>
                </a:solidFill>
                <a:latin typeface="Arial"/>
                <a:ea typeface="Arial"/>
                <a:cs typeface="Arial"/>
              </a:rPr>
              <a:t>1.6%</a:t>
            </a:r>
          </a:p>
        </p:txBody>
      </p:sp>
      <p:sp>
        <p:nvSpPr>
          <p:cNvPr id="42" name="s9-r3-c2-cell">
            <a:extLst xmlns:a="http://schemas.openxmlformats.org/drawingml/2006/main">
              <a:ext uri="{FF2B5EF4-FFF2-40B4-BE49-F238E27FC236}">
                <a16:creationId xmlns:a16="http://schemas.microsoft.com/office/drawing/2014/main" id="{B0A36CAD-56B4-4245-8817-B278F38EC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248150"/>
            <a:ext cx="2190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3" name="s9-r3-c2-text">
            <a:extLst xmlns:a="http://schemas.openxmlformats.org/drawingml/2006/main">
              <a:ext uri="{FF2B5EF4-FFF2-40B4-BE49-F238E27FC236}">
                <a16:creationId xmlns:a16="http://schemas.microsoft.com/office/drawing/2014/main" id="{D9D61339-AA4A-4505-8C9F-8EAF41166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343400"/>
            <a:ext cx="19621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087A5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87A58"/>
                </a:solidFill>
                <a:latin typeface="Arial"/>
                <a:ea typeface="Arial"/>
                <a:cs typeface="Arial"/>
              </a:rPr>
              <a:t>95.5%</a:t>
            </a:r>
          </a:p>
        </p:txBody>
      </p:sp>
      <p:sp>
        <p:nvSpPr>
          <p:cNvPr id="44" name="s9-r3-c3-cell">
            <a:extLst xmlns:a="http://schemas.openxmlformats.org/drawingml/2006/main">
              <a:ext uri="{FF2B5EF4-FFF2-40B4-BE49-F238E27FC236}">
                <a16:creationId xmlns:a16="http://schemas.microsoft.com/office/drawing/2014/main" id="{76723A41-B860-45A6-9E00-059991349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248150"/>
            <a:ext cx="48958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5" name="s9-r3-c3-text">
            <a:extLst xmlns:a="http://schemas.openxmlformats.org/drawingml/2006/main">
              <a:ext uri="{FF2B5EF4-FFF2-40B4-BE49-F238E27FC236}">
                <a16:creationId xmlns:a16="http://schemas.microsoft.com/office/drawing/2014/main" id="{A861716C-8AF6-48DA-B0AB-9AD596EC8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343400"/>
            <a:ext cx="4667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32238"/>
                </a:solidFill>
                <a:latin typeface="Arial"/>
                <a:ea typeface="Arial"/>
                <a:cs typeface="Arial"/>
              </a:rPr>
              <a:t>Missed 1 of 62 hidden cases and correctly retained 21 of 22 genuine negatives.</a:t>
            </a:r>
          </a:p>
        </p:txBody>
      </p:sp>
      <p:sp>
        <p:nvSpPr>
          <p:cNvPr id="46" name="s9-note">
            <a:extLst xmlns:a="http://schemas.openxmlformats.org/drawingml/2006/main">
              <a:ext uri="{FF2B5EF4-FFF2-40B4-BE49-F238E27FC236}">
                <a16:creationId xmlns:a16="http://schemas.microsoft.com/office/drawing/2014/main" id="{256FFEB2-7D40-41F0-A6A2-E72D373CD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00650"/>
            <a:ext cx="1082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97630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976300"/>
                </a:solidFill>
                <a:latin typeface="Arial"/>
                <a:ea typeface="Arial"/>
                <a:cs typeface="Arial"/>
              </a:rPr>
              <a:t>Hidden-case error means verified capability was missed. Genuine-negative retention means a true below-threshold case was preserved.</a:t>
            </a:r>
          </a:p>
        </p:txBody>
      </p:sp>
      <p:sp>
        <p:nvSpPr>
          <p:cNvPr id="47" name="s9-sources">
            <a:extLst xmlns:a="http://schemas.openxmlformats.org/drawingml/2006/main">
              <a:ext uri="{FF2B5EF4-FFF2-40B4-BE49-F238E27FC236}">
                <a16:creationId xmlns:a16="http://schemas.microsoft.com/office/drawing/2014/main" id="{FFCB2669-668E-4BBB-B7D0-FC0AA5BD4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4355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526173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173"/>
                </a:solidFill>
                <a:latin typeface="Arial"/>
                <a:ea typeface="Arial"/>
                <a:cs typeface="Arial"/>
              </a:rPr>
              <a:t>MODELS: Qwen2.5-1.5B, Phi-3.5-mini, Mistral-7B-Instruct, SmolLM2-1.7B-Instruct, and TinyLlama-1.1B-Chat.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526173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173"/>
                </a:solidFill>
                <a:latin typeface="Arial"/>
                <a:ea typeface="Arial"/>
                <a:cs typeface="Arial"/>
              </a:rPr>
              <a:t>TASKS: MMLU computer security, MMLU college biology, SciQ, HellaSwag, and ARC Challenge. Three random seeds.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526173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173"/>
                </a:solidFill>
                <a:latin typeface="Arial"/>
                <a:ea typeface="Arial"/>
                <a:cs typeface="Arial"/>
              </a:rPr>
              <a:t>PRIMARY ANALYSIS: 60% threshold, 62 verified hidden positives, 22 genuine negatives. LoRA result shown uses 128 / 256 steps.</a:t>
            </a:r>
          </a:p>
        </p:txBody>
      </p:sp>
      <p:sp>
        <p:nvSpPr>
          <p:cNvPr id="49" name="page-number-v6">
            <a:extLst xmlns:a="http://schemas.openxmlformats.org/drawingml/2006/main">
              <a:ext uri="{FF2B5EF4-FFF2-40B4-BE49-F238E27FC236}">
                <a16:creationId xmlns:a16="http://schemas.microsoft.com/office/drawing/2014/main" id="{A2141FD4-F69B-44EF-BB50-899CF8C3A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391275"/>
            <a:ext cx="990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>
                <a:solidFill>
                  <a:srgbClr val="6B7788"/>
                </a:solidFill>
                <a:latin typeface="Arial"/>
                <a:ea typeface="Arial"/>
                <a:cs typeface="Arial"/>
              </a:defRPr>
            </a:pPr>
            <a:r>
              <a:rPr sz="750">
                <a:solidFill>
                  <a:srgbClr val="6B7788"/>
                </a:solidFill>
                <a:latin typeface="Arial"/>
                <a:ea typeface="Arial"/>
                <a:cs typeface="Arial"/>
              </a:rPr>
              <a:t>17 / 18</a:t>
            </a:r>
          </a:p>
        </p:txBody>
      </p:sp>
    </p:spTree>
    <p:extLst>
      <p:ext uri="{BB962C8B-B14F-4D97-AF65-F5344CB8AC3E}">
        <p14:creationId xmlns:p14="http://schemas.microsoft.com/office/powerpoint/2010/main" val="588125453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5F2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eyebrow">
            <a:extLst xmlns:a="http://schemas.openxmlformats.org/drawingml/2006/main">
              <a:ext uri="{FF2B5EF4-FFF2-40B4-BE49-F238E27FC236}">
                <a16:creationId xmlns:a16="http://schemas.microsoft.com/office/drawing/2014/main" id="{13312D0D-10D8-4DFE-B21E-384937222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609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007B76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07B76"/>
                </a:solidFill>
                <a:latin typeface="Arial"/>
                <a:ea typeface="Arial"/>
                <a:cs typeface="Arial"/>
              </a:rPr>
              <a:t>APPENDIX | HOW EVALBRACKET FITS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3613358-81F0-484B-B388-E15AC39BC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75" b="1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132238"/>
                </a:solidFill>
                <a:latin typeface="Arial"/>
                <a:ea typeface="Arial"/>
                <a:cs typeface="Arial"/>
              </a:rPr>
              <a:t>EvalBracket complements capability frameworks and safeguards.</a:t>
            </a:r>
          </a:p>
        </p:txBody>
      </p:sp>
      <p:sp>
        <p:nvSpPr>
          <p:cNvPr id="3" name="footer-mark">
            <a:extLst xmlns:a="http://schemas.openxmlformats.org/drawingml/2006/main">
              <a:ext uri="{FF2B5EF4-FFF2-40B4-BE49-F238E27FC236}">
                <a16:creationId xmlns:a16="http://schemas.microsoft.com/office/drawing/2014/main" id="{BF25A9A8-9207-438C-9587-29085BEAF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29375"/>
            <a:ext cx="66675" cy="6667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008C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label">
            <a:extLst xmlns:a="http://schemas.openxmlformats.org/drawingml/2006/main">
              <a:ext uri="{FF2B5EF4-FFF2-40B4-BE49-F238E27FC236}">
                <a16:creationId xmlns:a16="http://schemas.microsoft.com/office/drawing/2014/main" id="{EA66189D-249B-4E8A-8859-AB423E255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6391275"/>
            <a:ext cx="3143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0">
                <a:solidFill>
                  <a:srgbClr val="007B76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007B76"/>
                </a:solidFill>
                <a:latin typeface="Arial"/>
                <a:ea typeface="Arial"/>
                <a:cs typeface="Arial"/>
              </a:rPr>
              <a:t>EvalBracket • Internal discussion draft</a:t>
            </a:r>
          </a:p>
        </p:txBody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89176AA1-34DB-44BD-B100-AD8821969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91275"/>
            <a:ext cx="723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750" b="0">
                <a:solidFill>
                  <a:srgbClr val="708093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708093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6" name="step-1-circle">
            <a:extLst xmlns:a="http://schemas.openxmlformats.org/drawingml/2006/main">
              <a:ext uri="{FF2B5EF4-FFF2-40B4-BE49-F238E27FC236}">
                <a16:creationId xmlns:a16="http://schemas.microsoft.com/office/drawing/2014/main" id="{05805C8E-5595-481B-AAE3-1FD9DF85A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43050"/>
            <a:ext cx="323850" cy="3238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8C86"/>
            </a:solidFill>
            <a:prstDash val="solid"/>
          </a:ln>
        </p:spPr>
      </p:sp>
      <p:sp>
        <p:nvSpPr>
          <p:cNvPr id="7" name="step-1-num">
            <a:extLst xmlns:a="http://schemas.openxmlformats.org/drawingml/2006/main">
              <a:ext uri="{FF2B5EF4-FFF2-40B4-BE49-F238E27FC236}">
                <a16:creationId xmlns:a16="http://schemas.microsoft.com/office/drawing/2014/main" id="{56BA74A3-319E-4901-889F-C350BC26B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0972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007B7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7B76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" name="step-1-title">
            <a:extLst xmlns:a="http://schemas.openxmlformats.org/drawingml/2006/main">
              <a:ext uri="{FF2B5EF4-FFF2-40B4-BE49-F238E27FC236}">
                <a16:creationId xmlns:a16="http://schemas.microsoft.com/office/drawing/2014/main" id="{AA15BED0-E244-4505-A016-54279F860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524000"/>
            <a:ext cx="2152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32238"/>
                </a:solidFill>
                <a:latin typeface="Arial"/>
                <a:ea typeface="Arial"/>
                <a:cs typeface="Arial"/>
              </a:rPr>
              <a:t>Capability framework</a:t>
            </a:r>
          </a:p>
        </p:txBody>
      </p:sp>
      <p:sp>
        <p:nvSpPr>
          <p:cNvPr id="9" name="step-1-body">
            <a:extLst xmlns:a="http://schemas.openxmlformats.org/drawingml/2006/main">
              <a:ext uri="{FF2B5EF4-FFF2-40B4-BE49-F238E27FC236}">
                <a16:creationId xmlns:a16="http://schemas.microsoft.com/office/drawing/2014/main" id="{09A01F6C-56B7-480A-98F4-AE792F124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924050"/>
            <a:ext cx="21526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52617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173"/>
                </a:solidFill>
                <a:latin typeface="Arial"/>
                <a:ea typeface="Arial"/>
                <a:cs typeface="Arial"/>
              </a:rPr>
              <a:t>Defines levels, thresholds, and actions.</a:t>
            </a:r>
          </a:p>
        </p:txBody>
      </p:sp>
      <p:sp>
        <p:nvSpPr>
          <p:cNvPr id="10" name="step-2-circle">
            <a:extLst xmlns:a="http://schemas.openxmlformats.org/drawingml/2006/main">
              <a:ext uri="{FF2B5EF4-FFF2-40B4-BE49-F238E27FC236}">
                <a16:creationId xmlns:a16="http://schemas.microsoft.com/office/drawing/2014/main" id="{4DDCF783-0BF0-4D85-AB61-94FEF27B1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1543050"/>
            <a:ext cx="323850" cy="3238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8C86"/>
            </a:solidFill>
            <a:prstDash val="solid"/>
          </a:ln>
        </p:spPr>
      </p:sp>
      <p:sp>
        <p:nvSpPr>
          <p:cNvPr id="11" name="step-2-num">
            <a:extLst xmlns:a="http://schemas.openxmlformats.org/drawingml/2006/main">
              <a:ext uri="{FF2B5EF4-FFF2-40B4-BE49-F238E27FC236}">
                <a16:creationId xmlns:a16="http://schemas.microsoft.com/office/drawing/2014/main" id="{7DE6482A-4913-4798-AA31-B36E3F2DE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160972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007B7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7B76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2" name="step-2-title">
            <a:extLst xmlns:a="http://schemas.openxmlformats.org/drawingml/2006/main">
              <a:ext uri="{FF2B5EF4-FFF2-40B4-BE49-F238E27FC236}">
                <a16:creationId xmlns:a16="http://schemas.microsoft.com/office/drawing/2014/main" id="{6B4D57DD-C3B9-4830-B80C-1271D3EC5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1524000"/>
            <a:ext cx="2152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32238"/>
                </a:solidFill>
                <a:latin typeface="Arial"/>
                <a:ea typeface="Arial"/>
                <a:cs typeface="Arial"/>
              </a:rPr>
              <a:t>Capability evaluation</a:t>
            </a:r>
          </a:p>
        </p:txBody>
      </p:sp>
      <p:sp>
        <p:nvSpPr>
          <p:cNvPr id="13" name="step-2-body">
            <a:extLst xmlns:a="http://schemas.openxmlformats.org/drawingml/2006/main">
              <a:ext uri="{FF2B5EF4-FFF2-40B4-BE49-F238E27FC236}">
                <a16:creationId xmlns:a16="http://schemas.microsoft.com/office/drawing/2014/main" id="{0D54750B-3C78-4AE0-A342-B0B21BA10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1924050"/>
            <a:ext cx="21526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52617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173"/>
                </a:solidFill>
                <a:latin typeface="Arial"/>
                <a:ea typeface="Arial"/>
                <a:cs typeface="Arial"/>
              </a:rPr>
              <a:t>Measures the model at a declared access level.</a:t>
            </a:r>
          </a:p>
        </p:txBody>
      </p:sp>
      <p:sp>
        <p:nvSpPr>
          <p:cNvPr id="14" name="step-3-circle">
            <a:extLst xmlns:a="http://schemas.openxmlformats.org/drawingml/2006/main">
              <a:ext uri="{FF2B5EF4-FFF2-40B4-BE49-F238E27FC236}">
                <a16:creationId xmlns:a16="http://schemas.microsoft.com/office/drawing/2014/main" id="{C52F77C6-3FF7-4609-885F-7932BA431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1543050"/>
            <a:ext cx="323850" cy="3238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8C86"/>
            </a:solidFill>
            <a:prstDash val="solid"/>
          </a:ln>
        </p:spPr>
      </p:sp>
      <p:sp>
        <p:nvSpPr>
          <p:cNvPr id="15" name="step-3-num">
            <a:extLst xmlns:a="http://schemas.openxmlformats.org/drawingml/2006/main">
              <a:ext uri="{FF2B5EF4-FFF2-40B4-BE49-F238E27FC236}">
                <a16:creationId xmlns:a16="http://schemas.microsoft.com/office/drawing/2014/main" id="{F8DAC348-5A88-4E86-8D6E-26CDBB83C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160972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007B7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7B76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6" name="step-3-title">
            <a:extLst xmlns:a="http://schemas.openxmlformats.org/drawingml/2006/main">
              <a:ext uri="{FF2B5EF4-FFF2-40B4-BE49-F238E27FC236}">
                <a16:creationId xmlns:a16="http://schemas.microsoft.com/office/drawing/2014/main" id="{D1EA6850-C349-4A22-AB0F-84188C60D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524000"/>
            <a:ext cx="2152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32238"/>
                </a:solidFill>
                <a:latin typeface="Arial"/>
                <a:ea typeface="Arial"/>
                <a:cs typeface="Arial"/>
              </a:rPr>
              <a:t>Elicitation methods</a:t>
            </a:r>
          </a:p>
        </p:txBody>
      </p:sp>
      <p:sp>
        <p:nvSpPr>
          <p:cNvPr id="17" name="step-3-body">
            <a:extLst xmlns:a="http://schemas.openxmlformats.org/drawingml/2006/main">
              <a:ext uri="{FF2B5EF4-FFF2-40B4-BE49-F238E27FC236}">
                <a16:creationId xmlns:a16="http://schemas.microsoft.com/office/drawing/2014/main" id="{672EE414-FBBF-41F3-9A84-978D7CA5E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924050"/>
            <a:ext cx="21526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52617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173"/>
                </a:solidFill>
                <a:latin typeface="Arial"/>
                <a:ea typeface="Arial"/>
                <a:cs typeface="Arial"/>
              </a:rPr>
              <a:t>Prompts, tools, red teaming, and tuning try to expose capability.</a:t>
            </a:r>
          </a:p>
        </p:txBody>
      </p:sp>
      <p:sp>
        <p:nvSpPr>
          <p:cNvPr id="18" name="step-4-circle">
            <a:extLst xmlns:a="http://schemas.openxmlformats.org/drawingml/2006/main">
              <a:ext uri="{FF2B5EF4-FFF2-40B4-BE49-F238E27FC236}">
                <a16:creationId xmlns:a16="http://schemas.microsoft.com/office/drawing/2014/main" id="{F15D6DB3-77F7-4A39-B4AD-F6077082F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543050"/>
            <a:ext cx="323850" cy="3238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8C86"/>
            </a:solidFill>
            <a:prstDash val="solid"/>
          </a:ln>
        </p:spPr>
      </p:sp>
      <p:sp>
        <p:nvSpPr>
          <p:cNvPr id="19" name="step-4-num">
            <a:extLst xmlns:a="http://schemas.openxmlformats.org/drawingml/2006/main">
              <a:ext uri="{FF2B5EF4-FFF2-40B4-BE49-F238E27FC236}">
                <a16:creationId xmlns:a16="http://schemas.microsoft.com/office/drawing/2014/main" id="{3EFCA684-2318-43C5-AEEA-DB48ED114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60972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007B7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7B76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0" name="step-4-title">
            <a:extLst xmlns:a="http://schemas.openxmlformats.org/drawingml/2006/main">
              <a:ext uri="{FF2B5EF4-FFF2-40B4-BE49-F238E27FC236}">
                <a16:creationId xmlns:a16="http://schemas.microsoft.com/office/drawing/2014/main" id="{5737B101-53A6-4AE6-A419-08B6B00BE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524000"/>
            <a:ext cx="2152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32238"/>
                </a:solidFill>
                <a:latin typeface="Arial"/>
                <a:ea typeface="Arial"/>
                <a:cs typeface="Arial"/>
              </a:rPr>
              <a:t>Safeguards</a:t>
            </a:r>
          </a:p>
        </p:txBody>
      </p:sp>
      <p:sp>
        <p:nvSpPr>
          <p:cNvPr id="21" name="step-4-body">
            <a:extLst xmlns:a="http://schemas.openxmlformats.org/drawingml/2006/main">
              <a:ext uri="{FF2B5EF4-FFF2-40B4-BE49-F238E27FC236}">
                <a16:creationId xmlns:a16="http://schemas.microsoft.com/office/drawing/2014/main" id="{3D564C72-1EB2-48D7-BE44-CFB3FD72B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924050"/>
            <a:ext cx="21526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52617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173"/>
                </a:solidFill>
                <a:latin typeface="Arial"/>
                <a:ea typeface="Arial"/>
                <a:cs typeface="Arial"/>
              </a:rPr>
              <a:t>Separately reduce real-world harm.</a:t>
            </a:r>
          </a:p>
        </p:txBody>
      </p:sp>
      <p:sp>
        <p:nvSpPr>
          <p:cNvPr id="22" name="mid-divider">
            <a:extLst xmlns:a="http://schemas.openxmlformats.org/drawingml/2006/main">
              <a:ext uri="{FF2B5EF4-FFF2-40B4-BE49-F238E27FC236}">
                <a16:creationId xmlns:a16="http://schemas.microsoft.com/office/drawing/2014/main" id="{270CE2C2-EAE7-4B14-8880-FF1626B12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28950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3" name="routine-label">
            <a:extLst xmlns:a="http://schemas.openxmlformats.org/drawingml/2006/main">
              <a:ext uri="{FF2B5EF4-FFF2-40B4-BE49-F238E27FC236}">
                <a16:creationId xmlns:a16="http://schemas.microsoft.com/office/drawing/2014/main" id="{2F248B4D-476A-4D9A-A444-CED599CA3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528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97630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976300"/>
                </a:solidFill>
                <a:latin typeface="Arial"/>
                <a:ea typeface="Arial"/>
                <a:cs typeface="Arial"/>
              </a:rPr>
              <a:t>WHAT PROVIDERS DO TODAY</a:t>
            </a:r>
          </a:p>
        </p:txBody>
      </p:sp>
      <p:sp>
        <p:nvSpPr>
          <p:cNvPr id="24" name="routine-question">
            <a:extLst xmlns:a="http://schemas.openxmlformats.org/drawingml/2006/main">
              <a:ext uri="{FF2B5EF4-FFF2-40B4-BE49-F238E27FC236}">
                <a16:creationId xmlns:a16="http://schemas.microsoft.com/office/drawing/2014/main" id="{37FF5AAC-05DF-4382-B93A-C22ED0B42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95700"/>
            <a:ext cx="4762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32238"/>
                </a:solidFill>
                <a:latin typeface="Arial"/>
                <a:ea typeface="Arial"/>
                <a:cs typeface="Arial"/>
              </a:rPr>
              <a:t>Run multiple methods and report what they found.</a:t>
            </a:r>
          </a:p>
        </p:txBody>
      </p:sp>
      <p:sp>
        <p:nvSpPr>
          <p:cNvPr id="25" name="evalbracket-label">
            <a:extLst xmlns:a="http://schemas.openxmlformats.org/drawingml/2006/main">
              <a:ext uri="{FF2B5EF4-FFF2-40B4-BE49-F238E27FC236}">
                <a16:creationId xmlns:a16="http://schemas.microsoft.com/office/drawing/2014/main" id="{8502A089-278C-467A-A7CF-E47980C82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3528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007B7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07B76"/>
                </a:solidFill>
                <a:latin typeface="Arial"/>
                <a:ea typeface="Arial"/>
                <a:cs typeface="Arial"/>
              </a:rPr>
              <a:t>WHAT EVALBRACKET ADDS</a:t>
            </a:r>
          </a:p>
        </p:txBody>
      </p:sp>
      <p:sp>
        <p:nvSpPr>
          <p:cNvPr id="26" name="evalbracket-question">
            <a:extLst xmlns:a="http://schemas.openxmlformats.org/drawingml/2006/main">
              <a:ext uri="{FF2B5EF4-FFF2-40B4-BE49-F238E27FC236}">
                <a16:creationId xmlns:a16="http://schemas.microsoft.com/office/drawing/2014/main" id="{E34FBEED-039D-41B9-9F7D-4226E291B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695700"/>
            <a:ext cx="4953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32238"/>
                </a:solidFill>
                <a:latin typeface="Arial"/>
                <a:ea typeface="Arial"/>
                <a:cs typeface="Arial"/>
              </a:rPr>
              <a:t>Show that those methods can find capability deliberately hidden in controls.</a:t>
            </a:r>
          </a:p>
        </p:txBody>
      </p:sp>
      <p:sp>
        <p:nvSpPr>
          <p:cNvPr id="27" name="control-check-bg">
            <a:extLst xmlns:a="http://schemas.openxmlformats.org/drawingml/2006/main">
              <a:ext uri="{FF2B5EF4-FFF2-40B4-BE49-F238E27FC236}">
                <a16:creationId xmlns:a16="http://schemas.microsoft.com/office/drawing/2014/main" id="{6859B259-C58A-4E47-BA55-FA2C3D4D3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762500"/>
            <a:ext cx="8382000" cy="36195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E1F2EA"/>
          </a:solidFill>
          <a:ln xmlns:a="http://schemas.openxmlformats.org/drawingml/2006/main" w="9525">
            <a:solidFill>
              <a:srgbClr val="9BCDB8"/>
            </a:solidFill>
            <a:prstDash val="solid"/>
          </a:ln>
        </p:spPr>
      </p:sp>
      <p:sp>
        <p:nvSpPr>
          <p:cNvPr id="28" name="control-check-text">
            <a:extLst xmlns:a="http://schemas.openxmlformats.org/drawingml/2006/main">
              <a:ext uri="{FF2B5EF4-FFF2-40B4-BE49-F238E27FC236}">
                <a16:creationId xmlns:a16="http://schemas.microsoft.com/office/drawing/2014/main" id="{5D550861-8759-42E7-A519-A8AD17AA1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4838700"/>
            <a:ext cx="811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087A5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87A58"/>
                </a:solidFill>
                <a:latin typeface="Arial"/>
                <a:ea typeface="Arial"/>
                <a:cs typeface="Arial"/>
              </a:rPr>
              <a:t>EvalBracket qualifies the tests. It does not replace capability frameworks or safeguards.</a:t>
            </a:r>
          </a:p>
        </p:txBody>
      </p:sp>
      <p:sp>
        <p:nvSpPr>
          <p:cNvPr id="30" name="model-x-rule-580">
            <a:extLst xmlns:a="http://schemas.openxmlformats.org/drawingml/2006/main">
              <a:ext uri="{FF2B5EF4-FFF2-40B4-BE49-F238E27FC236}">
                <a16:creationId xmlns:a16="http://schemas.microsoft.com/office/drawing/2014/main" id="{01048040-73D1-4713-8162-4BDAB303B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10200"/>
            <a:ext cx="10744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model-x-label-580">
            <a:extLst xmlns:a="http://schemas.openxmlformats.org/drawingml/2006/main">
              <a:ext uri="{FF2B5EF4-FFF2-40B4-BE49-F238E27FC236}">
                <a16:creationId xmlns:a16="http://schemas.microsoft.com/office/drawing/2014/main" id="{1EB0935D-CE08-470F-B476-D1BF87897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4355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007B76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007B76"/>
                </a:solidFill>
                <a:latin typeface="Arial"/>
                <a:ea typeface="Arial"/>
                <a:cs typeface="Arial"/>
              </a:rPr>
              <a:t>REAL-WORLD EXAMPLE</a:t>
            </a:r>
          </a:p>
        </p:txBody>
      </p:sp>
      <p:sp>
        <p:nvSpPr>
          <p:cNvPr id="32" name="model-x-body-580">
            <a:extLst xmlns:a="http://schemas.openxmlformats.org/drawingml/2006/main">
              <a:ext uri="{FF2B5EF4-FFF2-40B4-BE49-F238E27FC236}">
                <a16:creationId xmlns:a16="http://schemas.microsoft.com/office/drawing/2014/main" id="{5394E3F8-D9F1-4DE0-BE77-5AAFFEEF1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486400"/>
            <a:ext cx="9144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200">
                <a:solidFill>
                  <a:srgbClr val="526173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26173"/>
                </a:solidFill>
                <a:latin typeface="Arial"/>
                <a:ea typeface="Arial"/>
                <a:cs typeface="Arial"/>
              </a:rPr>
              <a:t>A provider may report what prompts, tools, and red-team methods were tried. EvalBracket asks whether those same methods found hidden capability in controls.</a:t>
            </a:r>
          </a:p>
        </p:txBody>
      </p:sp>
      <p:sp>
        <p:nvSpPr>
          <p:cNvPr id="33" name="page-number-v6">
            <a:extLst xmlns:a="http://schemas.openxmlformats.org/drawingml/2006/main">
              <a:ext uri="{FF2B5EF4-FFF2-40B4-BE49-F238E27FC236}">
                <a16:creationId xmlns:a16="http://schemas.microsoft.com/office/drawing/2014/main" id="{9BD2F412-9BD2-413F-BB71-0E324DDCE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391275"/>
            <a:ext cx="990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>
                <a:solidFill>
                  <a:srgbClr val="6B7788"/>
                </a:solidFill>
                <a:latin typeface="Arial"/>
                <a:ea typeface="Arial"/>
                <a:cs typeface="Arial"/>
              </a:defRPr>
            </a:pPr>
            <a:r>
              <a:rPr sz="750">
                <a:solidFill>
                  <a:srgbClr val="6B7788"/>
                </a:solidFill>
                <a:latin typeface="Arial"/>
                <a:ea typeface="Arial"/>
                <a:cs typeface="Arial"/>
              </a:rPr>
              <a:t>18 / 18</a:t>
            </a:r>
          </a:p>
        </p:txBody>
      </p:sp>
    </p:spTree>
    <p:extLst>
      <p:ext uri="{BB962C8B-B14F-4D97-AF65-F5344CB8AC3E}">
        <p14:creationId xmlns:p14="http://schemas.microsoft.com/office/powerpoint/2010/main" val="68755396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2026-07-21T02:53:36.7160000Z</dcterms:created>
  <dcterms:modified xsi:type="dcterms:W3CDTF">2026-07-21T02:53:36.7160000Z</dcterms:modified>
</coreProperties>
</file>